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48" r:id="rId4"/>
    <p:sldMasterId id="2147483660" r:id="rId5"/>
  </p:sldMasterIdLst>
  <p:notesMasterIdLst>
    <p:notesMasterId r:id="rId28"/>
  </p:notesMasterIdLst>
  <p:sldIdLst>
    <p:sldId id="257" r:id="rId6"/>
    <p:sldId id="728" r:id="rId7"/>
    <p:sldId id="718" r:id="rId8"/>
    <p:sldId id="730" r:id="rId9"/>
    <p:sldId id="729" r:id="rId10"/>
    <p:sldId id="736" r:id="rId11"/>
    <p:sldId id="738" r:id="rId12"/>
    <p:sldId id="739" r:id="rId13"/>
    <p:sldId id="719" r:id="rId14"/>
    <p:sldId id="732" r:id="rId15"/>
    <p:sldId id="733" r:id="rId16"/>
    <p:sldId id="734" r:id="rId17"/>
    <p:sldId id="742" r:id="rId18"/>
    <p:sldId id="740" r:id="rId19"/>
    <p:sldId id="741" r:id="rId20"/>
    <p:sldId id="743" r:id="rId21"/>
    <p:sldId id="744" r:id="rId22"/>
    <p:sldId id="745" r:id="rId23"/>
    <p:sldId id="731" r:id="rId24"/>
    <p:sldId id="722" r:id="rId25"/>
    <p:sldId id="724" r:id="rId26"/>
    <p:sldId id="727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43BBA61-FFCB-0343-474E-4D954277E3D3}" name="Yue Gao" initials="YG" userId="S::YuGao@clarku.edu::cc43c5c7-4468-42c7-8843-65f2a76eb518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FF5FB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71F53A-8111-9047-1DA1-D7B4DE38AC47}" v="146" dt="2025-12-01T07:37:09.283"/>
    <p1510:client id="{1E3BD3CE-5A1F-9648-8BEC-6EAEDF707CAD}" v="2" dt="2025-12-01T17:16:55.810"/>
    <p1510:client id="{4BD398B4-3598-5144-B2D4-3B91676E5E08}" v="30" dt="2025-12-01T17:45:00.788"/>
    <p1510:client id="{8C7F0F89-CD8F-F316-5800-EBD400EA036A}" v="353" dt="2025-12-01T18:23:56.878"/>
    <p1510:client id="{A88401D5-1827-F242-7C42-241CC2EE4619}" v="297" dt="2025-12-01T18:57:04.373"/>
    <p1510:client id="{EA91E704-A743-DD24-F299-428AC17B0AB5}" v="4" dt="2025-12-01T16:53:32.022"/>
    <p1510:client id="{F31680FB-2BFB-C041-587E-A400615270AB}" v="339" dt="2025-12-01T18:57:59.35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253"/>
    <p:restoredTop sz="94678"/>
  </p:normalViewPr>
  <p:slideViewPr>
    <p:cSldViewPr snapToGrid="0">
      <p:cViewPr varScale="1">
        <p:scale>
          <a:sx n="109" d="100"/>
          <a:sy n="109" d="100"/>
        </p:scale>
        <p:origin x="51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34" Type="http://schemas.microsoft.com/office/2018/10/relationships/authors" Target="author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viewProps" Target="viewProps.xml"/><Relationship Id="rId8" Type="http://schemas.openxmlformats.org/officeDocument/2006/relationships/slide" Target="slides/slide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4" Type="http://schemas.openxmlformats.org/officeDocument/2006/relationships/image" Target="../media/image16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sv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12" Type="http://schemas.openxmlformats.org/officeDocument/2006/relationships/image" Target="../media/image36.svg"/><Relationship Id="rId2" Type="http://schemas.openxmlformats.org/officeDocument/2006/relationships/image" Target="../media/image26.svg"/><Relationship Id="rId1" Type="http://schemas.openxmlformats.org/officeDocument/2006/relationships/image" Target="../media/image25.png"/><Relationship Id="rId6" Type="http://schemas.openxmlformats.org/officeDocument/2006/relationships/image" Target="../media/image30.svg"/><Relationship Id="rId11" Type="http://schemas.openxmlformats.org/officeDocument/2006/relationships/image" Target="../media/image35.png"/><Relationship Id="rId5" Type="http://schemas.openxmlformats.org/officeDocument/2006/relationships/image" Target="../media/image29.png"/><Relationship Id="rId10" Type="http://schemas.openxmlformats.org/officeDocument/2006/relationships/image" Target="../media/image34.svg"/><Relationship Id="rId4" Type="http://schemas.openxmlformats.org/officeDocument/2006/relationships/image" Target="../media/image28.svg"/><Relationship Id="rId9" Type="http://schemas.openxmlformats.org/officeDocument/2006/relationships/image" Target="../media/image33.png"/></Relationships>
</file>

<file path=ppt/diagrams/_rels/data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56.svg"/><Relationship Id="rId1" Type="http://schemas.openxmlformats.org/officeDocument/2006/relationships/image" Target="../media/image55.png"/><Relationship Id="rId6" Type="http://schemas.openxmlformats.org/officeDocument/2006/relationships/image" Target="../media/image59.svg"/><Relationship Id="rId5" Type="http://schemas.openxmlformats.org/officeDocument/2006/relationships/image" Target="../media/image58.png"/><Relationship Id="rId4" Type="http://schemas.openxmlformats.org/officeDocument/2006/relationships/image" Target="../media/image57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4" Type="http://schemas.openxmlformats.org/officeDocument/2006/relationships/image" Target="../media/image16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sv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12" Type="http://schemas.openxmlformats.org/officeDocument/2006/relationships/image" Target="../media/image36.svg"/><Relationship Id="rId2" Type="http://schemas.openxmlformats.org/officeDocument/2006/relationships/image" Target="../media/image26.svg"/><Relationship Id="rId1" Type="http://schemas.openxmlformats.org/officeDocument/2006/relationships/image" Target="../media/image25.png"/><Relationship Id="rId6" Type="http://schemas.openxmlformats.org/officeDocument/2006/relationships/image" Target="../media/image30.svg"/><Relationship Id="rId11" Type="http://schemas.openxmlformats.org/officeDocument/2006/relationships/image" Target="../media/image35.png"/><Relationship Id="rId5" Type="http://schemas.openxmlformats.org/officeDocument/2006/relationships/image" Target="../media/image29.png"/><Relationship Id="rId10" Type="http://schemas.openxmlformats.org/officeDocument/2006/relationships/image" Target="../media/image34.svg"/><Relationship Id="rId4" Type="http://schemas.openxmlformats.org/officeDocument/2006/relationships/image" Target="../media/image28.svg"/><Relationship Id="rId9" Type="http://schemas.openxmlformats.org/officeDocument/2006/relationships/image" Target="../media/image33.png"/></Relationships>
</file>

<file path=ppt/diagrams/_rels/drawing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56.svg"/><Relationship Id="rId1" Type="http://schemas.openxmlformats.org/officeDocument/2006/relationships/image" Target="../media/image55.png"/><Relationship Id="rId6" Type="http://schemas.openxmlformats.org/officeDocument/2006/relationships/image" Target="../media/image59.svg"/><Relationship Id="rId5" Type="http://schemas.openxmlformats.org/officeDocument/2006/relationships/image" Target="../media/image58.png"/><Relationship Id="rId4" Type="http://schemas.openxmlformats.org/officeDocument/2006/relationships/image" Target="../media/image5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2_3">
  <dgm:title val=""/>
  <dgm:desc val=""/>
  <dgm:catLst>
    <dgm:cat type="accent2" pri="11300"/>
  </dgm:catLst>
  <dgm:styleLbl name="node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>
        <a:shade val="80000"/>
      </a:schemeClr>
      <a:schemeClr val="accent2">
        <a:tint val="7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/>
    <dgm:txEffectClrLst/>
  </dgm:styleLbl>
  <dgm:styleLbl name="ln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shade val="80000"/>
        <a:alpha val="50000"/>
      </a:schemeClr>
      <a:schemeClr val="accent2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/>
    <dgm:txEffectClrLst/>
  </dgm:styleLbl>
  <dgm:styleLbl name="f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9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8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2_5">
  <dgm:title val=""/>
  <dgm:desc val=""/>
  <dgm:catLst>
    <dgm:cat type="accent2" pri="11500"/>
  </dgm:catLst>
  <dgm:styleLbl name="node0">
    <dgm:fillClrLst meth="cycle">
      <a:schemeClr val="accent2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>
        <a:alpha val="90000"/>
      </a:schemeClr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>
        <a:alpha val="90000"/>
      </a:schemeClr>
      <a:schemeClr val="accent2">
        <a:alpha val="5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/>
    <dgm:txEffectClrLst/>
  </dgm:styleLbl>
  <dgm:styleLbl name="lnNode1">
    <dgm:fillClrLst>
      <a:schemeClr val="accent2">
        <a:shade val="90000"/>
      </a:schemeClr>
      <a:schemeClr val="accent2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shade val="80000"/>
        <a:alpha val="50000"/>
      </a:schemeClr>
      <a:schemeClr val="accent2">
        <a:alpha val="2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  <a:alpha val="90000"/>
      </a:schemeClr>
      <a:schemeClr val="accent2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fgSibTrans2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bgSibTrans2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sibTrans1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alpha val="90000"/>
        <a:tint val="40000"/>
      </a:schemeClr>
      <a:schemeClr val="accent2">
        <a:alpha val="5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5F8494E-7DB3-4661-916E-0095683C419F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0D526DE8-87EA-4C10-BF75-749E50A4A594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The U.S. stock market is the </a:t>
          </a:r>
          <a:r>
            <a:rPr lang="en-US" sz="2000" b="1" dirty="0">
              <a:latin typeface="Times New Roman" panose="02020603050405020304" pitchFamily="18" charset="0"/>
              <a:cs typeface="Times New Roman" panose="02020603050405020304" pitchFamily="18" charset="0"/>
            </a:rPr>
            <a:t>largest in the world</a:t>
          </a:r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, representing </a:t>
          </a:r>
          <a:br>
            <a:rPr lang="en-US" sz="2000" b="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n-US" sz="2000" b="1" dirty="0">
              <a:latin typeface="Times New Roman" panose="02020603050405020304" pitchFamily="18" charset="0"/>
              <a:cs typeface="Times New Roman" panose="02020603050405020304" pitchFamily="18" charset="0"/>
            </a:rPr>
            <a:t>~ 46% </a:t>
          </a:r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 of global equity market capitalization.</a:t>
          </a:r>
        </a:p>
      </dgm:t>
    </dgm:pt>
    <dgm:pt modelId="{090F81F3-9B5A-46B0-A1D5-4E0F794BE5CF}" type="parTrans" cxnId="{CC3219F5-9A18-4081-AAA7-B38FAB34D69D}">
      <dgm:prSet/>
      <dgm:spPr/>
      <dgm:t>
        <a:bodyPr/>
        <a:lstStyle/>
        <a:p>
          <a:endParaRPr lang="en-US"/>
        </a:p>
      </dgm:t>
    </dgm:pt>
    <dgm:pt modelId="{978C950A-525B-4021-A7F7-4160116B9F7B}" type="sibTrans" cxnId="{CC3219F5-9A18-4081-AAA7-B38FAB34D69D}">
      <dgm:prSet/>
      <dgm:spPr/>
      <dgm:t>
        <a:bodyPr/>
        <a:lstStyle/>
        <a:p>
          <a:endParaRPr lang="en-US"/>
        </a:p>
      </dgm:t>
    </dgm:pt>
    <dgm:pt modelId="{FA262569-5F65-4876-8153-5CCD616BD12D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Total U.S. market capitalization is approximately </a:t>
          </a:r>
          <a:r>
            <a:rPr lang="en-US" sz="2000" b="1" dirty="0">
              <a:latin typeface="Times New Roman" panose="02020603050405020304" pitchFamily="18" charset="0"/>
              <a:cs typeface="Times New Roman" panose="02020603050405020304" pitchFamily="18" charset="0"/>
            </a:rPr>
            <a:t>$45–50 trillion</a:t>
          </a:r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</a:p>
      </dgm:t>
    </dgm:pt>
    <dgm:pt modelId="{FF08DE00-EBE6-4B32-86E5-889F5CC144B4}" type="parTrans" cxnId="{7F528190-9503-43A0-A14B-E8F98E2CBDC8}">
      <dgm:prSet/>
      <dgm:spPr/>
      <dgm:t>
        <a:bodyPr/>
        <a:lstStyle/>
        <a:p>
          <a:endParaRPr lang="en-US"/>
        </a:p>
      </dgm:t>
    </dgm:pt>
    <dgm:pt modelId="{66F131C3-4448-405C-ADF0-C45E52F19BF7}" type="sibTrans" cxnId="{7F528190-9503-43A0-A14B-E8F98E2CBDC8}">
      <dgm:prSet/>
      <dgm:spPr/>
      <dgm:t>
        <a:bodyPr/>
        <a:lstStyle/>
        <a:p>
          <a:endParaRPr lang="en-US"/>
        </a:p>
      </dgm:t>
    </dgm:pt>
    <dgm:pt modelId="{4D0BF78A-DB64-4DC6-8A98-E1ECCE063764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Major U.S. indices (S&amp;P 500, Dow Jones, Nasdaq) drive global financial sentiment.</a:t>
          </a:r>
        </a:p>
      </dgm:t>
    </dgm:pt>
    <dgm:pt modelId="{E539E8BE-F58E-4A3D-B4E8-FE8F4E0887FB}" type="parTrans" cxnId="{06194E71-BEBA-4892-B281-8699C59D5985}">
      <dgm:prSet/>
      <dgm:spPr/>
      <dgm:t>
        <a:bodyPr/>
        <a:lstStyle/>
        <a:p>
          <a:endParaRPr lang="en-US"/>
        </a:p>
      </dgm:t>
    </dgm:pt>
    <dgm:pt modelId="{FF5F7C10-C9F1-44FA-93CB-0C889E4CA49E}" type="sibTrans" cxnId="{06194E71-BEBA-4892-B281-8699C59D5985}">
      <dgm:prSet/>
      <dgm:spPr/>
      <dgm:t>
        <a:bodyPr/>
        <a:lstStyle/>
        <a:p>
          <a:endParaRPr lang="en-US"/>
        </a:p>
      </dgm:t>
    </dgm:pt>
    <dgm:pt modelId="{48022E7C-0525-401E-9B22-4334DBD9B291}" type="pres">
      <dgm:prSet presAssocID="{05F8494E-7DB3-4661-916E-0095683C419F}" presName="root" presStyleCnt="0">
        <dgm:presLayoutVars>
          <dgm:dir/>
          <dgm:resizeHandles val="exact"/>
        </dgm:presLayoutVars>
      </dgm:prSet>
      <dgm:spPr/>
    </dgm:pt>
    <dgm:pt modelId="{4F9F7390-6F50-4CF3-9F78-749679D461A6}" type="pres">
      <dgm:prSet presAssocID="{0D526DE8-87EA-4C10-BF75-749E50A4A594}" presName="compNode" presStyleCnt="0"/>
      <dgm:spPr/>
    </dgm:pt>
    <dgm:pt modelId="{0AF30702-E8E0-4397-875A-E745BF05C521}" type="pres">
      <dgm:prSet presAssocID="{0D526DE8-87EA-4C10-BF75-749E50A4A594}" presName="bgRect" presStyleLbl="bgShp" presStyleIdx="0" presStyleCnt="3"/>
      <dgm:spPr/>
    </dgm:pt>
    <dgm:pt modelId="{ED908394-EEDE-4EF2-B384-A7D6D555FB37}" type="pres">
      <dgm:prSet presAssocID="{0D526DE8-87EA-4C10-BF75-749E50A4A594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Graph with Upward Trend"/>
        </a:ext>
      </dgm:extLst>
    </dgm:pt>
    <dgm:pt modelId="{F3CE73C2-4362-43D8-AA98-B27470140F08}" type="pres">
      <dgm:prSet presAssocID="{0D526DE8-87EA-4C10-BF75-749E50A4A594}" presName="spaceRect" presStyleCnt="0"/>
      <dgm:spPr/>
    </dgm:pt>
    <dgm:pt modelId="{924B53CC-5F2A-447D-94B3-66946AFCBE1A}" type="pres">
      <dgm:prSet presAssocID="{0D526DE8-87EA-4C10-BF75-749E50A4A594}" presName="parTx" presStyleLbl="revTx" presStyleIdx="0" presStyleCnt="3">
        <dgm:presLayoutVars>
          <dgm:chMax val="0"/>
          <dgm:chPref val="0"/>
        </dgm:presLayoutVars>
      </dgm:prSet>
      <dgm:spPr/>
    </dgm:pt>
    <dgm:pt modelId="{F8775F8E-0EAB-435E-9120-B8D522A07B73}" type="pres">
      <dgm:prSet presAssocID="{978C950A-525B-4021-A7F7-4160116B9F7B}" presName="sibTrans" presStyleCnt="0"/>
      <dgm:spPr/>
    </dgm:pt>
    <dgm:pt modelId="{A4B750B5-345A-40EB-997B-73B022DD9951}" type="pres">
      <dgm:prSet presAssocID="{FA262569-5F65-4876-8153-5CCD616BD12D}" presName="compNode" presStyleCnt="0"/>
      <dgm:spPr/>
    </dgm:pt>
    <dgm:pt modelId="{EA47D272-B92B-4A35-BC57-A076B1C8D13A}" type="pres">
      <dgm:prSet presAssocID="{FA262569-5F65-4876-8153-5CCD616BD12D}" presName="bgRect" presStyleLbl="bgShp" presStyleIdx="1" presStyleCnt="3"/>
      <dgm:spPr/>
    </dgm:pt>
    <dgm:pt modelId="{BAB2171E-2566-4597-8264-A4A1C5E70345}" type="pres">
      <dgm:prSet presAssocID="{FA262569-5F65-4876-8153-5CCD616BD12D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llar"/>
        </a:ext>
      </dgm:extLst>
    </dgm:pt>
    <dgm:pt modelId="{78219483-0DF4-4F4D-90F3-F9EA6587311A}" type="pres">
      <dgm:prSet presAssocID="{FA262569-5F65-4876-8153-5CCD616BD12D}" presName="spaceRect" presStyleCnt="0"/>
      <dgm:spPr/>
    </dgm:pt>
    <dgm:pt modelId="{7893E573-BAE2-4E26-8D94-D1C30F09DB57}" type="pres">
      <dgm:prSet presAssocID="{FA262569-5F65-4876-8153-5CCD616BD12D}" presName="parTx" presStyleLbl="revTx" presStyleIdx="1" presStyleCnt="3">
        <dgm:presLayoutVars>
          <dgm:chMax val="0"/>
          <dgm:chPref val="0"/>
        </dgm:presLayoutVars>
      </dgm:prSet>
      <dgm:spPr/>
    </dgm:pt>
    <dgm:pt modelId="{9ADD6B23-515B-428C-9691-BE2BBEF69422}" type="pres">
      <dgm:prSet presAssocID="{66F131C3-4448-405C-ADF0-C45E52F19BF7}" presName="sibTrans" presStyleCnt="0"/>
      <dgm:spPr/>
    </dgm:pt>
    <dgm:pt modelId="{05CF5A64-DCFD-4F9F-9CE6-E45896BA8CA8}" type="pres">
      <dgm:prSet presAssocID="{4D0BF78A-DB64-4DC6-8A98-E1ECCE063764}" presName="compNode" presStyleCnt="0"/>
      <dgm:spPr/>
    </dgm:pt>
    <dgm:pt modelId="{6DA047D1-4056-4915-A89E-0190AEBE04E8}" type="pres">
      <dgm:prSet presAssocID="{4D0BF78A-DB64-4DC6-8A98-E1ECCE063764}" presName="bgRect" presStyleLbl="bgShp" presStyleIdx="2" presStyleCnt="3"/>
      <dgm:spPr/>
    </dgm:pt>
    <dgm:pt modelId="{F64F0503-F47E-4818-B224-DDA889D2955F}" type="pres">
      <dgm:prSet presAssocID="{4D0BF78A-DB64-4DC6-8A98-E1ECCE063764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2B75C745-F53A-439F-B1E9-848A5F84AC97}" type="pres">
      <dgm:prSet presAssocID="{4D0BF78A-DB64-4DC6-8A98-E1ECCE063764}" presName="spaceRect" presStyleCnt="0"/>
      <dgm:spPr/>
    </dgm:pt>
    <dgm:pt modelId="{27DE6D2C-911C-429D-87E2-DBE2FE158C4A}" type="pres">
      <dgm:prSet presAssocID="{4D0BF78A-DB64-4DC6-8A98-E1ECCE063764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F8259B10-C380-ED40-9DD0-B5C890F31D39}" type="presOf" srcId="{0D526DE8-87EA-4C10-BF75-749E50A4A594}" destId="{924B53CC-5F2A-447D-94B3-66946AFCBE1A}" srcOrd="0" destOrd="0" presId="urn:microsoft.com/office/officeart/2018/2/layout/IconVerticalSolidList"/>
    <dgm:cxn modelId="{06194E71-BEBA-4892-B281-8699C59D5985}" srcId="{05F8494E-7DB3-4661-916E-0095683C419F}" destId="{4D0BF78A-DB64-4DC6-8A98-E1ECCE063764}" srcOrd="2" destOrd="0" parTransId="{E539E8BE-F58E-4A3D-B4E8-FE8F4E0887FB}" sibTransId="{FF5F7C10-C9F1-44FA-93CB-0C889E4CA49E}"/>
    <dgm:cxn modelId="{1C389D7E-D0C6-9C49-9621-B7665468B3CE}" type="presOf" srcId="{4D0BF78A-DB64-4DC6-8A98-E1ECCE063764}" destId="{27DE6D2C-911C-429D-87E2-DBE2FE158C4A}" srcOrd="0" destOrd="0" presId="urn:microsoft.com/office/officeart/2018/2/layout/IconVerticalSolidList"/>
    <dgm:cxn modelId="{7F528190-9503-43A0-A14B-E8F98E2CBDC8}" srcId="{05F8494E-7DB3-4661-916E-0095683C419F}" destId="{FA262569-5F65-4876-8153-5CCD616BD12D}" srcOrd="1" destOrd="0" parTransId="{FF08DE00-EBE6-4B32-86E5-889F5CC144B4}" sibTransId="{66F131C3-4448-405C-ADF0-C45E52F19BF7}"/>
    <dgm:cxn modelId="{5DAF93E2-9AC4-9D42-9324-AFF756A8AA80}" type="presOf" srcId="{05F8494E-7DB3-4661-916E-0095683C419F}" destId="{48022E7C-0525-401E-9B22-4334DBD9B291}" srcOrd="0" destOrd="0" presId="urn:microsoft.com/office/officeart/2018/2/layout/IconVerticalSolidList"/>
    <dgm:cxn modelId="{15235DE8-5C73-3C43-A592-BB7ADB690FBB}" type="presOf" srcId="{FA262569-5F65-4876-8153-5CCD616BD12D}" destId="{7893E573-BAE2-4E26-8D94-D1C30F09DB57}" srcOrd="0" destOrd="0" presId="urn:microsoft.com/office/officeart/2018/2/layout/IconVerticalSolidList"/>
    <dgm:cxn modelId="{CC3219F5-9A18-4081-AAA7-B38FAB34D69D}" srcId="{05F8494E-7DB3-4661-916E-0095683C419F}" destId="{0D526DE8-87EA-4C10-BF75-749E50A4A594}" srcOrd="0" destOrd="0" parTransId="{090F81F3-9B5A-46B0-A1D5-4E0F794BE5CF}" sibTransId="{978C950A-525B-4021-A7F7-4160116B9F7B}"/>
    <dgm:cxn modelId="{026B4BA3-37C8-0C45-A3F3-5E39B61AD100}" type="presParOf" srcId="{48022E7C-0525-401E-9B22-4334DBD9B291}" destId="{4F9F7390-6F50-4CF3-9F78-749679D461A6}" srcOrd="0" destOrd="0" presId="urn:microsoft.com/office/officeart/2018/2/layout/IconVerticalSolidList"/>
    <dgm:cxn modelId="{5BB7EF42-EFC4-2642-8DB4-5E22273B9C73}" type="presParOf" srcId="{4F9F7390-6F50-4CF3-9F78-749679D461A6}" destId="{0AF30702-E8E0-4397-875A-E745BF05C521}" srcOrd="0" destOrd="0" presId="urn:microsoft.com/office/officeart/2018/2/layout/IconVerticalSolidList"/>
    <dgm:cxn modelId="{200C561B-7D16-F44A-B413-06AEA267C839}" type="presParOf" srcId="{4F9F7390-6F50-4CF3-9F78-749679D461A6}" destId="{ED908394-EEDE-4EF2-B384-A7D6D555FB37}" srcOrd="1" destOrd="0" presId="urn:microsoft.com/office/officeart/2018/2/layout/IconVerticalSolidList"/>
    <dgm:cxn modelId="{12EAC92F-4AB4-114F-A2B3-05A827B6B435}" type="presParOf" srcId="{4F9F7390-6F50-4CF3-9F78-749679D461A6}" destId="{F3CE73C2-4362-43D8-AA98-B27470140F08}" srcOrd="2" destOrd="0" presId="urn:microsoft.com/office/officeart/2018/2/layout/IconVerticalSolidList"/>
    <dgm:cxn modelId="{FA65045A-F544-2B4E-A2A8-EA477A96AEBF}" type="presParOf" srcId="{4F9F7390-6F50-4CF3-9F78-749679D461A6}" destId="{924B53CC-5F2A-447D-94B3-66946AFCBE1A}" srcOrd="3" destOrd="0" presId="urn:microsoft.com/office/officeart/2018/2/layout/IconVerticalSolidList"/>
    <dgm:cxn modelId="{FBCECCF6-4745-7B43-92CC-6D0C22A243C8}" type="presParOf" srcId="{48022E7C-0525-401E-9B22-4334DBD9B291}" destId="{F8775F8E-0EAB-435E-9120-B8D522A07B73}" srcOrd="1" destOrd="0" presId="urn:microsoft.com/office/officeart/2018/2/layout/IconVerticalSolidList"/>
    <dgm:cxn modelId="{CE0F559D-B57D-DB43-8742-1900F8B5BBA3}" type="presParOf" srcId="{48022E7C-0525-401E-9B22-4334DBD9B291}" destId="{A4B750B5-345A-40EB-997B-73B022DD9951}" srcOrd="2" destOrd="0" presId="urn:microsoft.com/office/officeart/2018/2/layout/IconVerticalSolidList"/>
    <dgm:cxn modelId="{839274D8-1FF8-4847-A261-B3F9AE78DAFF}" type="presParOf" srcId="{A4B750B5-345A-40EB-997B-73B022DD9951}" destId="{EA47D272-B92B-4A35-BC57-A076B1C8D13A}" srcOrd="0" destOrd="0" presId="urn:microsoft.com/office/officeart/2018/2/layout/IconVerticalSolidList"/>
    <dgm:cxn modelId="{E3B59911-980D-1143-8E14-573DC7328F82}" type="presParOf" srcId="{A4B750B5-345A-40EB-997B-73B022DD9951}" destId="{BAB2171E-2566-4597-8264-A4A1C5E70345}" srcOrd="1" destOrd="0" presId="urn:microsoft.com/office/officeart/2018/2/layout/IconVerticalSolidList"/>
    <dgm:cxn modelId="{BD630AAF-10CD-4442-94F1-602F11690301}" type="presParOf" srcId="{A4B750B5-345A-40EB-997B-73B022DD9951}" destId="{78219483-0DF4-4F4D-90F3-F9EA6587311A}" srcOrd="2" destOrd="0" presId="urn:microsoft.com/office/officeart/2018/2/layout/IconVerticalSolidList"/>
    <dgm:cxn modelId="{7E18EA91-6AD1-3A48-B2EC-4BB73BE6B816}" type="presParOf" srcId="{A4B750B5-345A-40EB-997B-73B022DD9951}" destId="{7893E573-BAE2-4E26-8D94-D1C30F09DB57}" srcOrd="3" destOrd="0" presId="urn:microsoft.com/office/officeart/2018/2/layout/IconVerticalSolidList"/>
    <dgm:cxn modelId="{0A35938F-F8AA-1045-9BAB-7549D71B501E}" type="presParOf" srcId="{48022E7C-0525-401E-9B22-4334DBD9B291}" destId="{9ADD6B23-515B-428C-9691-BE2BBEF69422}" srcOrd="3" destOrd="0" presId="urn:microsoft.com/office/officeart/2018/2/layout/IconVerticalSolidList"/>
    <dgm:cxn modelId="{C133A57C-59C5-494C-877B-FB93C8B6F4FC}" type="presParOf" srcId="{48022E7C-0525-401E-9B22-4334DBD9B291}" destId="{05CF5A64-DCFD-4F9F-9CE6-E45896BA8CA8}" srcOrd="4" destOrd="0" presId="urn:microsoft.com/office/officeart/2018/2/layout/IconVerticalSolidList"/>
    <dgm:cxn modelId="{71246B48-5A74-E84B-8031-127E3E3DE870}" type="presParOf" srcId="{05CF5A64-DCFD-4F9F-9CE6-E45896BA8CA8}" destId="{6DA047D1-4056-4915-A89E-0190AEBE04E8}" srcOrd="0" destOrd="0" presId="urn:microsoft.com/office/officeart/2018/2/layout/IconVerticalSolidList"/>
    <dgm:cxn modelId="{8A374281-D64B-C042-B423-A8F97723F785}" type="presParOf" srcId="{05CF5A64-DCFD-4F9F-9CE6-E45896BA8CA8}" destId="{F64F0503-F47E-4818-B224-DDA889D2955F}" srcOrd="1" destOrd="0" presId="urn:microsoft.com/office/officeart/2018/2/layout/IconVerticalSolidList"/>
    <dgm:cxn modelId="{01EBDFBB-2726-8149-83EA-EC32899469B8}" type="presParOf" srcId="{05CF5A64-DCFD-4F9F-9CE6-E45896BA8CA8}" destId="{2B75C745-F53A-439F-B1E9-848A5F84AC97}" srcOrd="2" destOrd="0" presId="urn:microsoft.com/office/officeart/2018/2/layout/IconVerticalSolidList"/>
    <dgm:cxn modelId="{8F2732C9-C300-9241-B85D-8FF3E778ACFA}" type="presParOf" srcId="{05CF5A64-DCFD-4F9F-9CE6-E45896BA8CA8}" destId="{27DE6D2C-911C-429D-87E2-DBE2FE158C4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24ADF4C-DDF4-49F4-B862-54248D69BF25}" type="doc">
      <dgm:prSet loTypeId="urn:microsoft.com/office/officeart/2018/2/layout/IconLabelDescription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421CE902-F598-47ED-A0D1-B19D328B3EA9}">
      <dgm:prSet custT="1"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sz="2000" b="1" dirty="0">
              <a:latin typeface="Times New Roman" panose="02020603050405020304" pitchFamily="18" charset="0"/>
              <a:cs typeface="Times New Roman" panose="02020603050405020304" pitchFamily="18" charset="0"/>
            </a:rPr>
            <a:t>Why Detect Regimes</a:t>
          </a:r>
          <a:br>
            <a:rPr lang="en-US" sz="2000" b="1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br>
            <a:rPr lang="en-US" sz="2000" b="1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n-US" sz="2000" b="0" dirty="0">
              <a:latin typeface="Times New Roman" panose="02020603050405020304" pitchFamily="18" charset="0"/>
              <a:cs typeface="Times New Roman" panose="02020603050405020304" pitchFamily="18" charset="0"/>
            </a:rPr>
            <a:t>Identifying regime shifts </a:t>
          </a:r>
          <a:r>
            <a:rPr lang="en-US" sz="2000" b="1" dirty="0">
              <a:latin typeface="Times New Roman" panose="02020603050405020304" pitchFamily="18" charset="0"/>
              <a:cs typeface="Times New Roman" panose="02020603050405020304" pitchFamily="18" charset="0"/>
            </a:rPr>
            <a:t>early</a:t>
          </a:r>
          <a:r>
            <a:rPr lang="en-US" sz="2000" b="0" dirty="0">
              <a:latin typeface="Times New Roman" panose="02020603050405020304" pitchFamily="18" charset="0"/>
              <a:cs typeface="Times New Roman" panose="02020603050405020304" pitchFamily="18" charset="0"/>
            </a:rPr>
            <a:t> can prevent large drawdowns.</a:t>
          </a:r>
          <a:br>
            <a:rPr lang="en-US" sz="2000" b="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n-US" sz="2000" b="0" dirty="0">
              <a:latin typeface="Times New Roman" panose="02020603050405020304" pitchFamily="18" charset="0"/>
              <a:cs typeface="Times New Roman" panose="02020603050405020304" pitchFamily="18" charset="0"/>
            </a:rPr>
            <a:t>Traditional methods struggle with sudden market reversals.</a:t>
          </a:r>
        </a:p>
      </dgm:t>
    </dgm:pt>
    <dgm:pt modelId="{E4C62A7C-3181-4CD0-B2A2-3CAE1ADE29D1}" type="parTrans" cxnId="{0D21D747-83BC-4F05-B63C-671E1F011B25}">
      <dgm:prSet/>
      <dgm:spPr/>
      <dgm:t>
        <a:bodyPr/>
        <a:lstStyle/>
        <a:p>
          <a:endParaRPr lang="en-US"/>
        </a:p>
      </dgm:t>
    </dgm:pt>
    <dgm:pt modelId="{67D5F036-50C3-401B-B146-E98961F146D4}" type="sibTrans" cxnId="{0D21D747-83BC-4F05-B63C-671E1F011B25}">
      <dgm:prSet/>
      <dgm:spPr/>
      <dgm:t>
        <a:bodyPr/>
        <a:lstStyle/>
        <a:p>
          <a:endParaRPr lang="en-US"/>
        </a:p>
      </dgm:t>
    </dgm:pt>
    <dgm:pt modelId="{A699ABFB-8C50-4A37-A1E1-5C4264C5F926}">
      <dgm:prSet custT="1"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sz="2000" b="1" dirty="0">
              <a:latin typeface="Times New Roman" panose="02020603050405020304" pitchFamily="18" charset="0"/>
              <a:cs typeface="Times New Roman" panose="02020603050405020304" pitchFamily="18" charset="0"/>
            </a:rPr>
            <a:t>Role of Machine Learning</a:t>
          </a:r>
          <a:br>
            <a:rPr lang="en-US" sz="2000" b="1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br>
            <a:rPr lang="en-US" sz="2000" b="1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n-US" sz="2000" b="0" dirty="0">
              <a:latin typeface="Times New Roman" panose="02020603050405020304" pitchFamily="18" charset="0"/>
              <a:cs typeface="Times New Roman" panose="02020603050405020304" pitchFamily="18" charset="0"/>
            </a:rPr>
            <a:t>Processes multiple indicators simultaneously (e.g., volatility, yield curve, bond-equity ratios)</a:t>
          </a:r>
          <a:br>
            <a:rPr lang="en-US" sz="2000" b="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n-US" sz="2000" b="0" dirty="0">
              <a:latin typeface="Times New Roman" panose="02020603050405020304" pitchFamily="18" charset="0"/>
              <a:cs typeface="Times New Roman" panose="02020603050405020304" pitchFamily="18" charset="0"/>
            </a:rPr>
            <a:t>Learns historical transition patterns between market regimes</a:t>
          </a:r>
          <a:br>
            <a:rPr lang="en-US" sz="2000" b="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endParaRPr lang="en-US" sz="2000" b="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8660453-E59C-434F-ABF3-8701DDF1B7BB}" type="parTrans" cxnId="{A4F572E4-FB8C-4D56-AE7C-0B1C70DBCB9E}">
      <dgm:prSet/>
      <dgm:spPr/>
      <dgm:t>
        <a:bodyPr/>
        <a:lstStyle/>
        <a:p>
          <a:endParaRPr lang="en-US"/>
        </a:p>
      </dgm:t>
    </dgm:pt>
    <dgm:pt modelId="{B0FA3E4C-8DB4-4397-95D1-168E1CA1B3B9}" type="sibTrans" cxnId="{A4F572E4-FB8C-4D56-AE7C-0B1C70DBCB9E}">
      <dgm:prSet/>
      <dgm:spPr/>
      <dgm:t>
        <a:bodyPr/>
        <a:lstStyle/>
        <a:p>
          <a:endParaRPr lang="en-US"/>
        </a:p>
      </dgm:t>
    </dgm:pt>
    <dgm:pt modelId="{748EDA66-F820-4D3E-B6DC-1BE87D05B2DF}" type="pres">
      <dgm:prSet presAssocID="{F24ADF4C-DDF4-49F4-B862-54248D69BF25}" presName="root" presStyleCnt="0">
        <dgm:presLayoutVars>
          <dgm:dir/>
          <dgm:resizeHandles val="exact"/>
        </dgm:presLayoutVars>
      </dgm:prSet>
      <dgm:spPr/>
    </dgm:pt>
    <dgm:pt modelId="{73E5AFCA-2F11-4601-8E83-47F9E48120DF}" type="pres">
      <dgm:prSet presAssocID="{421CE902-F598-47ED-A0D1-B19D328B3EA9}" presName="compNode" presStyleCnt="0"/>
      <dgm:spPr/>
    </dgm:pt>
    <dgm:pt modelId="{E270567E-B3A5-4C2A-A784-BD5313E87B12}" type="pres">
      <dgm:prSet presAssocID="{421CE902-F598-47ED-A0D1-B19D328B3EA9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 with solid fill"/>
        </a:ext>
      </dgm:extLst>
    </dgm:pt>
    <dgm:pt modelId="{F21E71F2-99E8-4EF4-9196-B10E7CA1E4B3}" type="pres">
      <dgm:prSet presAssocID="{421CE902-F598-47ED-A0D1-B19D328B3EA9}" presName="iconSpace" presStyleCnt="0"/>
      <dgm:spPr/>
    </dgm:pt>
    <dgm:pt modelId="{CB0E936C-4EDA-4A8E-A56F-FB316BAC88C4}" type="pres">
      <dgm:prSet presAssocID="{421CE902-F598-47ED-A0D1-B19D328B3EA9}" presName="parTx" presStyleLbl="revTx" presStyleIdx="0" presStyleCnt="4">
        <dgm:presLayoutVars>
          <dgm:chMax val="0"/>
          <dgm:chPref val="0"/>
        </dgm:presLayoutVars>
      </dgm:prSet>
      <dgm:spPr/>
    </dgm:pt>
    <dgm:pt modelId="{95977E5A-DEC3-4584-87B1-641B1A81F908}" type="pres">
      <dgm:prSet presAssocID="{421CE902-F598-47ED-A0D1-B19D328B3EA9}" presName="txSpace" presStyleCnt="0"/>
      <dgm:spPr/>
    </dgm:pt>
    <dgm:pt modelId="{1934245F-0814-4ECC-B470-41CCD43C671D}" type="pres">
      <dgm:prSet presAssocID="{421CE902-F598-47ED-A0D1-B19D328B3EA9}" presName="desTx" presStyleLbl="revTx" presStyleIdx="1" presStyleCnt="4">
        <dgm:presLayoutVars/>
      </dgm:prSet>
      <dgm:spPr/>
    </dgm:pt>
    <dgm:pt modelId="{3F51F798-A712-4ABF-9E2E-9129305CF205}" type="pres">
      <dgm:prSet presAssocID="{67D5F036-50C3-401B-B146-E98961F146D4}" presName="sibTrans" presStyleCnt="0"/>
      <dgm:spPr/>
    </dgm:pt>
    <dgm:pt modelId="{FDAC2D49-919E-49F8-A64D-4059E44C8381}" type="pres">
      <dgm:prSet presAssocID="{A699ABFB-8C50-4A37-A1E1-5C4264C5F926}" presName="compNode" presStyleCnt="0"/>
      <dgm:spPr/>
    </dgm:pt>
    <dgm:pt modelId="{B356D00B-EBC3-4D38-BB42-1EC0AF665C6B}" type="pres">
      <dgm:prSet presAssocID="{A699ABFB-8C50-4A37-A1E1-5C4264C5F926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rtificial Intelligence with solid fill"/>
        </a:ext>
      </dgm:extLst>
    </dgm:pt>
    <dgm:pt modelId="{40394B33-265A-4BA5-B165-40C6061990D5}" type="pres">
      <dgm:prSet presAssocID="{A699ABFB-8C50-4A37-A1E1-5C4264C5F926}" presName="iconSpace" presStyleCnt="0"/>
      <dgm:spPr/>
    </dgm:pt>
    <dgm:pt modelId="{CF243EEF-42DF-4F90-BCBD-92B709ECE488}" type="pres">
      <dgm:prSet presAssocID="{A699ABFB-8C50-4A37-A1E1-5C4264C5F926}" presName="parTx" presStyleLbl="revTx" presStyleIdx="2" presStyleCnt="4">
        <dgm:presLayoutVars>
          <dgm:chMax val="0"/>
          <dgm:chPref val="0"/>
        </dgm:presLayoutVars>
      </dgm:prSet>
      <dgm:spPr/>
    </dgm:pt>
    <dgm:pt modelId="{40B19FE1-3D2A-4119-8878-475BBB2861A9}" type="pres">
      <dgm:prSet presAssocID="{A699ABFB-8C50-4A37-A1E1-5C4264C5F926}" presName="txSpace" presStyleCnt="0"/>
      <dgm:spPr/>
    </dgm:pt>
    <dgm:pt modelId="{D969A623-6226-40E4-B680-328F55CABBD5}" type="pres">
      <dgm:prSet presAssocID="{A699ABFB-8C50-4A37-A1E1-5C4264C5F926}" presName="desTx" presStyleLbl="revTx" presStyleIdx="3" presStyleCnt="4">
        <dgm:presLayoutVars/>
      </dgm:prSet>
      <dgm:spPr/>
    </dgm:pt>
  </dgm:ptLst>
  <dgm:cxnLst>
    <dgm:cxn modelId="{C977D503-6E0E-1643-863F-6C3C7AFCE246}" type="presOf" srcId="{F24ADF4C-DDF4-49F4-B862-54248D69BF25}" destId="{748EDA66-F820-4D3E-B6DC-1BE87D05B2DF}" srcOrd="0" destOrd="0" presId="urn:microsoft.com/office/officeart/2018/2/layout/IconLabelDescriptionList"/>
    <dgm:cxn modelId="{D5D56242-1281-D94B-9F7F-60F386D2BF35}" type="presOf" srcId="{A699ABFB-8C50-4A37-A1E1-5C4264C5F926}" destId="{CF243EEF-42DF-4F90-BCBD-92B709ECE488}" srcOrd="0" destOrd="0" presId="urn:microsoft.com/office/officeart/2018/2/layout/IconLabelDescriptionList"/>
    <dgm:cxn modelId="{0D21D747-83BC-4F05-B63C-671E1F011B25}" srcId="{F24ADF4C-DDF4-49F4-B862-54248D69BF25}" destId="{421CE902-F598-47ED-A0D1-B19D328B3EA9}" srcOrd="0" destOrd="0" parTransId="{E4C62A7C-3181-4CD0-B2A2-3CAE1ADE29D1}" sibTransId="{67D5F036-50C3-401B-B146-E98961F146D4}"/>
    <dgm:cxn modelId="{E21C3EB0-0EAA-3048-8D61-A07A2018BF89}" type="presOf" srcId="{421CE902-F598-47ED-A0D1-B19D328B3EA9}" destId="{CB0E936C-4EDA-4A8E-A56F-FB316BAC88C4}" srcOrd="0" destOrd="0" presId="urn:microsoft.com/office/officeart/2018/2/layout/IconLabelDescriptionList"/>
    <dgm:cxn modelId="{A4F572E4-FB8C-4D56-AE7C-0B1C70DBCB9E}" srcId="{F24ADF4C-DDF4-49F4-B862-54248D69BF25}" destId="{A699ABFB-8C50-4A37-A1E1-5C4264C5F926}" srcOrd="1" destOrd="0" parTransId="{D8660453-E59C-434F-ABF3-8701DDF1B7BB}" sibTransId="{B0FA3E4C-8DB4-4397-95D1-168E1CA1B3B9}"/>
    <dgm:cxn modelId="{9DC75DB3-EF33-7642-BBBC-70D69EF180DE}" type="presParOf" srcId="{748EDA66-F820-4D3E-B6DC-1BE87D05B2DF}" destId="{73E5AFCA-2F11-4601-8E83-47F9E48120DF}" srcOrd="0" destOrd="0" presId="urn:microsoft.com/office/officeart/2018/2/layout/IconLabelDescriptionList"/>
    <dgm:cxn modelId="{E118561F-BD69-434D-BC22-9DD0428D3483}" type="presParOf" srcId="{73E5AFCA-2F11-4601-8E83-47F9E48120DF}" destId="{E270567E-B3A5-4C2A-A784-BD5313E87B12}" srcOrd="0" destOrd="0" presId="urn:microsoft.com/office/officeart/2018/2/layout/IconLabelDescriptionList"/>
    <dgm:cxn modelId="{334B3A85-431A-A843-8CD6-A9D87C73A445}" type="presParOf" srcId="{73E5AFCA-2F11-4601-8E83-47F9E48120DF}" destId="{F21E71F2-99E8-4EF4-9196-B10E7CA1E4B3}" srcOrd="1" destOrd="0" presId="urn:microsoft.com/office/officeart/2018/2/layout/IconLabelDescriptionList"/>
    <dgm:cxn modelId="{C166A9A3-E2B6-7B40-AE90-83A76C7C2739}" type="presParOf" srcId="{73E5AFCA-2F11-4601-8E83-47F9E48120DF}" destId="{CB0E936C-4EDA-4A8E-A56F-FB316BAC88C4}" srcOrd="2" destOrd="0" presId="urn:microsoft.com/office/officeart/2018/2/layout/IconLabelDescriptionList"/>
    <dgm:cxn modelId="{1601F893-B191-2942-99F5-93769839469A}" type="presParOf" srcId="{73E5AFCA-2F11-4601-8E83-47F9E48120DF}" destId="{95977E5A-DEC3-4584-87B1-641B1A81F908}" srcOrd="3" destOrd="0" presId="urn:microsoft.com/office/officeart/2018/2/layout/IconLabelDescriptionList"/>
    <dgm:cxn modelId="{8CB037F3-E4CE-F540-83E3-209B207D2ED4}" type="presParOf" srcId="{73E5AFCA-2F11-4601-8E83-47F9E48120DF}" destId="{1934245F-0814-4ECC-B470-41CCD43C671D}" srcOrd="4" destOrd="0" presId="urn:microsoft.com/office/officeart/2018/2/layout/IconLabelDescriptionList"/>
    <dgm:cxn modelId="{EBFC0880-4325-3646-A05C-B346D4ED1AAF}" type="presParOf" srcId="{748EDA66-F820-4D3E-B6DC-1BE87D05B2DF}" destId="{3F51F798-A712-4ABF-9E2E-9129305CF205}" srcOrd="1" destOrd="0" presId="urn:microsoft.com/office/officeart/2018/2/layout/IconLabelDescriptionList"/>
    <dgm:cxn modelId="{BD149CFF-467F-BD46-A522-F57B3D704E0F}" type="presParOf" srcId="{748EDA66-F820-4D3E-B6DC-1BE87D05B2DF}" destId="{FDAC2D49-919E-49F8-A64D-4059E44C8381}" srcOrd="2" destOrd="0" presId="urn:microsoft.com/office/officeart/2018/2/layout/IconLabelDescriptionList"/>
    <dgm:cxn modelId="{28F39550-BC26-8444-A586-587AA7695AB5}" type="presParOf" srcId="{FDAC2D49-919E-49F8-A64D-4059E44C8381}" destId="{B356D00B-EBC3-4D38-BB42-1EC0AF665C6B}" srcOrd="0" destOrd="0" presId="urn:microsoft.com/office/officeart/2018/2/layout/IconLabelDescriptionList"/>
    <dgm:cxn modelId="{35AE88F3-A4BE-5641-88CB-ED114362F09B}" type="presParOf" srcId="{FDAC2D49-919E-49F8-A64D-4059E44C8381}" destId="{40394B33-265A-4BA5-B165-40C6061990D5}" srcOrd="1" destOrd="0" presId="urn:microsoft.com/office/officeart/2018/2/layout/IconLabelDescriptionList"/>
    <dgm:cxn modelId="{9408191C-C588-9440-8531-570E1F08BA4F}" type="presParOf" srcId="{FDAC2D49-919E-49F8-A64D-4059E44C8381}" destId="{CF243EEF-42DF-4F90-BCBD-92B709ECE488}" srcOrd="2" destOrd="0" presId="urn:microsoft.com/office/officeart/2018/2/layout/IconLabelDescriptionList"/>
    <dgm:cxn modelId="{0AD8C319-48F5-4C44-A755-40A4F9C13642}" type="presParOf" srcId="{FDAC2D49-919E-49F8-A64D-4059E44C8381}" destId="{40B19FE1-3D2A-4119-8878-475BBB2861A9}" srcOrd="3" destOrd="0" presId="urn:microsoft.com/office/officeart/2018/2/layout/IconLabelDescriptionList"/>
    <dgm:cxn modelId="{972CE338-3971-4047-A73B-5C2D17253DA3}" type="presParOf" srcId="{FDAC2D49-919E-49F8-A64D-4059E44C8381}" destId="{D969A623-6226-40E4-B680-328F55CABBD5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3340131-F5B1-498A-B504-831722430CAF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A525CCE6-922E-4EE7-B245-596B3278B902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Can supervised ML models accurately classify bull vs bear market regimes using pre-market indicators?</a:t>
          </a:r>
        </a:p>
      </dgm:t>
    </dgm:pt>
    <dgm:pt modelId="{DB1C7930-9209-4BB7-ACEB-104D27EEBCD6}" type="parTrans" cxnId="{F68BA60A-F99F-4A82-AC8B-2182FD6A36EA}">
      <dgm:prSet/>
      <dgm:spPr/>
      <dgm:t>
        <a:bodyPr/>
        <a:lstStyle/>
        <a:p>
          <a:endParaRPr lang="en-US"/>
        </a:p>
      </dgm:t>
    </dgm:pt>
    <dgm:pt modelId="{254B14CA-58EC-4157-99F6-F47281016ABF}" type="sibTrans" cxnId="{F68BA60A-F99F-4A82-AC8B-2182FD6A36EA}">
      <dgm:prSet/>
      <dgm:spPr/>
      <dgm:t>
        <a:bodyPr/>
        <a:lstStyle/>
        <a:p>
          <a:endParaRPr lang="en-US"/>
        </a:p>
      </dgm:t>
    </dgm:pt>
    <dgm:pt modelId="{EBCF304A-0933-4D28-916B-E170A9568990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Which financial features (VIX, yield curve, TLT/SPY ratio) are most predictive of market regimes?</a:t>
          </a:r>
        </a:p>
      </dgm:t>
    </dgm:pt>
    <dgm:pt modelId="{67DBD72B-EBF9-40F6-A364-CAA43FB789A3}" type="parTrans" cxnId="{34C25C9F-16A5-4DA4-B195-5F45F4CAF0DD}">
      <dgm:prSet/>
      <dgm:spPr/>
      <dgm:t>
        <a:bodyPr/>
        <a:lstStyle/>
        <a:p>
          <a:endParaRPr lang="en-US"/>
        </a:p>
      </dgm:t>
    </dgm:pt>
    <dgm:pt modelId="{2923C532-ACD3-4104-A8F2-36BEF8A7AB59}" type="sibTrans" cxnId="{34C25C9F-16A5-4DA4-B195-5F45F4CAF0DD}">
      <dgm:prSet/>
      <dgm:spPr/>
      <dgm:t>
        <a:bodyPr/>
        <a:lstStyle/>
        <a:p>
          <a:endParaRPr lang="en-US"/>
        </a:p>
      </dgm:t>
    </dgm:pt>
    <dgm:pt modelId="{53FC9668-0573-4A7F-91FB-A65E46333905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How can regime classification improve risk-aware decision-making strategies for investors</a:t>
          </a:r>
        </a:p>
      </dgm:t>
    </dgm:pt>
    <dgm:pt modelId="{3CB7AA86-5BF9-4D0A-8B9C-55D3BF71CCAA}" type="parTrans" cxnId="{758AC2DB-2539-4752-9DCC-23DED694EE54}">
      <dgm:prSet/>
      <dgm:spPr/>
      <dgm:t>
        <a:bodyPr/>
        <a:lstStyle/>
        <a:p>
          <a:endParaRPr lang="en-US"/>
        </a:p>
      </dgm:t>
    </dgm:pt>
    <dgm:pt modelId="{5F626DA1-0E17-4061-A171-3CC4694A2881}" type="sibTrans" cxnId="{758AC2DB-2539-4752-9DCC-23DED694EE54}">
      <dgm:prSet/>
      <dgm:spPr/>
      <dgm:t>
        <a:bodyPr/>
        <a:lstStyle/>
        <a:p>
          <a:endParaRPr lang="en-US"/>
        </a:p>
      </dgm:t>
    </dgm:pt>
    <dgm:pt modelId="{9E752B7C-76CF-4BF9-8374-ABC0124C7E0F}" type="pres">
      <dgm:prSet presAssocID="{E3340131-F5B1-498A-B504-831722430CAF}" presName="root" presStyleCnt="0">
        <dgm:presLayoutVars>
          <dgm:dir/>
          <dgm:resizeHandles val="exact"/>
        </dgm:presLayoutVars>
      </dgm:prSet>
      <dgm:spPr/>
    </dgm:pt>
    <dgm:pt modelId="{CF5374A9-D265-42E8-A8B4-38ABC417DC06}" type="pres">
      <dgm:prSet presAssocID="{A525CCE6-922E-4EE7-B245-596B3278B902}" presName="compNode" presStyleCnt="0"/>
      <dgm:spPr/>
    </dgm:pt>
    <dgm:pt modelId="{0FB1BA8A-8CD5-427C-B7B5-0066ECEBB4F5}" type="pres">
      <dgm:prSet presAssocID="{A525CCE6-922E-4EE7-B245-596B3278B902}" presName="bgRect" presStyleLbl="bgShp" presStyleIdx="0" presStyleCnt="3"/>
      <dgm:spPr/>
    </dgm:pt>
    <dgm:pt modelId="{7FC91C80-6377-4938-A2F5-DF36B7F819A1}" type="pres">
      <dgm:prSet presAssocID="{A525CCE6-922E-4EE7-B245-596B3278B902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ating with solid fill"/>
        </a:ext>
      </dgm:extLst>
    </dgm:pt>
    <dgm:pt modelId="{6CD94A69-4B4E-40B4-BBD5-4270263251DA}" type="pres">
      <dgm:prSet presAssocID="{A525CCE6-922E-4EE7-B245-596B3278B902}" presName="spaceRect" presStyleCnt="0"/>
      <dgm:spPr/>
    </dgm:pt>
    <dgm:pt modelId="{38380384-9044-495B-99F9-4C737546AB5F}" type="pres">
      <dgm:prSet presAssocID="{A525CCE6-922E-4EE7-B245-596B3278B902}" presName="parTx" presStyleLbl="revTx" presStyleIdx="0" presStyleCnt="3">
        <dgm:presLayoutVars>
          <dgm:chMax val="0"/>
          <dgm:chPref val="0"/>
        </dgm:presLayoutVars>
      </dgm:prSet>
      <dgm:spPr/>
    </dgm:pt>
    <dgm:pt modelId="{3E559448-E74E-4F74-A40A-AB4B05C418F4}" type="pres">
      <dgm:prSet presAssocID="{254B14CA-58EC-4157-99F6-F47281016ABF}" presName="sibTrans" presStyleCnt="0"/>
      <dgm:spPr/>
    </dgm:pt>
    <dgm:pt modelId="{2438D559-15DD-4DCB-B736-80DF28F5783A}" type="pres">
      <dgm:prSet presAssocID="{EBCF304A-0933-4D28-916B-E170A9568990}" presName="compNode" presStyleCnt="0"/>
      <dgm:spPr/>
    </dgm:pt>
    <dgm:pt modelId="{A6240B42-1A4F-4815-AB84-B89C57C84E44}" type="pres">
      <dgm:prSet presAssocID="{EBCF304A-0933-4D28-916B-E170A9568990}" presName="bgRect" presStyleLbl="bgShp" presStyleIdx="1" presStyleCnt="3"/>
      <dgm:spPr/>
    </dgm:pt>
    <dgm:pt modelId="{9F767217-0C9E-4904-A1A5-4C0ED944D5E6}" type="pres">
      <dgm:prSet presAssocID="{EBCF304A-0933-4D28-916B-E170A9568990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 with solid fill"/>
        </a:ext>
      </dgm:extLst>
    </dgm:pt>
    <dgm:pt modelId="{19161396-539E-4389-8E0F-83D9EBF9F415}" type="pres">
      <dgm:prSet presAssocID="{EBCF304A-0933-4D28-916B-E170A9568990}" presName="spaceRect" presStyleCnt="0"/>
      <dgm:spPr/>
    </dgm:pt>
    <dgm:pt modelId="{1641EF18-0DE2-4D73-B4DD-F816C0B0910F}" type="pres">
      <dgm:prSet presAssocID="{EBCF304A-0933-4D28-916B-E170A9568990}" presName="parTx" presStyleLbl="revTx" presStyleIdx="1" presStyleCnt="3">
        <dgm:presLayoutVars>
          <dgm:chMax val="0"/>
          <dgm:chPref val="0"/>
        </dgm:presLayoutVars>
      </dgm:prSet>
      <dgm:spPr/>
    </dgm:pt>
    <dgm:pt modelId="{9657E7E0-2C52-4B4C-AF5F-0DF60BA28B38}" type="pres">
      <dgm:prSet presAssocID="{2923C532-ACD3-4104-A8F2-36BEF8A7AB59}" presName="sibTrans" presStyleCnt="0"/>
      <dgm:spPr/>
    </dgm:pt>
    <dgm:pt modelId="{5D50A58B-DCBB-4DA6-8303-21CCCCF59E17}" type="pres">
      <dgm:prSet presAssocID="{53FC9668-0573-4A7F-91FB-A65E46333905}" presName="compNode" presStyleCnt="0"/>
      <dgm:spPr/>
    </dgm:pt>
    <dgm:pt modelId="{302FC6AD-A4E3-4132-B8E1-BB95627F07B3}" type="pres">
      <dgm:prSet presAssocID="{53FC9668-0573-4A7F-91FB-A65E46333905}" presName="bgRect" presStyleLbl="bgShp" presStyleIdx="2" presStyleCnt="3"/>
      <dgm:spPr/>
    </dgm:pt>
    <dgm:pt modelId="{C3A6BB8F-820C-4CFD-BE24-C3206B82B191}" type="pres">
      <dgm:prSet presAssocID="{53FC9668-0573-4A7F-91FB-A65E46333905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Judge female with solid fill"/>
        </a:ext>
      </dgm:extLst>
    </dgm:pt>
    <dgm:pt modelId="{CD93F44F-7017-4781-A86F-4A742C6BA4D4}" type="pres">
      <dgm:prSet presAssocID="{53FC9668-0573-4A7F-91FB-A65E46333905}" presName="spaceRect" presStyleCnt="0"/>
      <dgm:spPr/>
    </dgm:pt>
    <dgm:pt modelId="{34250826-F3DF-406D-81C9-036500A78FA7}" type="pres">
      <dgm:prSet presAssocID="{53FC9668-0573-4A7F-91FB-A65E46333905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F68BA60A-F99F-4A82-AC8B-2182FD6A36EA}" srcId="{E3340131-F5B1-498A-B504-831722430CAF}" destId="{A525CCE6-922E-4EE7-B245-596B3278B902}" srcOrd="0" destOrd="0" parTransId="{DB1C7930-9209-4BB7-ACEB-104D27EEBCD6}" sibTransId="{254B14CA-58EC-4157-99F6-F47281016ABF}"/>
    <dgm:cxn modelId="{EC1BF31F-6932-4283-BD57-FE3FF976579B}" type="presOf" srcId="{E3340131-F5B1-498A-B504-831722430CAF}" destId="{9E752B7C-76CF-4BF9-8374-ABC0124C7E0F}" srcOrd="0" destOrd="0" presId="urn:microsoft.com/office/officeart/2018/2/layout/IconVerticalSolidList"/>
    <dgm:cxn modelId="{09D81840-2EA9-4DD4-BD14-EB2C5E0BF5CC}" type="presOf" srcId="{53FC9668-0573-4A7F-91FB-A65E46333905}" destId="{34250826-F3DF-406D-81C9-036500A78FA7}" srcOrd="0" destOrd="0" presId="urn:microsoft.com/office/officeart/2018/2/layout/IconVerticalSolidList"/>
    <dgm:cxn modelId="{34C25C9F-16A5-4DA4-B195-5F45F4CAF0DD}" srcId="{E3340131-F5B1-498A-B504-831722430CAF}" destId="{EBCF304A-0933-4D28-916B-E170A9568990}" srcOrd="1" destOrd="0" parTransId="{67DBD72B-EBF9-40F6-A364-CAA43FB789A3}" sibTransId="{2923C532-ACD3-4104-A8F2-36BEF8A7AB59}"/>
    <dgm:cxn modelId="{267FA3DB-43C3-40D0-8EE8-5446AD5439BE}" type="presOf" srcId="{EBCF304A-0933-4D28-916B-E170A9568990}" destId="{1641EF18-0DE2-4D73-B4DD-F816C0B0910F}" srcOrd="0" destOrd="0" presId="urn:microsoft.com/office/officeart/2018/2/layout/IconVerticalSolidList"/>
    <dgm:cxn modelId="{758AC2DB-2539-4752-9DCC-23DED694EE54}" srcId="{E3340131-F5B1-498A-B504-831722430CAF}" destId="{53FC9668-0573-4A7F-91FB-A65E46333905}" srcOrd="2" destOrd="0" parTransId="{3CB7AA86-5BF9-4D0A-8B9C-55D3BF71CCAA}" sibTransId="{5F626DA1-0E17-4061-A171-3CC4694A2881}"/>
    <dgm:cxn modelId="{C4D4A8F9-0EAC-4839-A5AB-FC0898F348A7}" type="presOf" srcId="{A525CCE6-922E-4EE7-B245-596B3278B902}" destId="{38380384-9044-495B-99F9-4C737546AB5F}" srcOrd="0" destOrd="0" presId="urn:microsoft.com/office/officeart/2018/2/layout/IconVerticalSolidList"/>
    <dgm:cxn modelId="{18E120D8-85C9-4EE7-A246-37AAB6EE3E98}" type="presParOf" srcId="{9E752B7C-76CF-4BF9-8374-ABC0124C7E0F}" destId="{CF5374A9-D265-42E8-A8B4-38ABC417DC06}" srcOrd="0" destOrd="0" presId="urn:microsoft.com/office/officeart/2018/2/layout/IconVerticalSolidList"/>
    <dgm:cxn modelId="{5704FFFC-88B7-408C-93AC-88C981AFE7F9}" type="presParOf" srcId="{CF5374A9-D265-42E8-A8B4-38ABC417DC06}" destId="{0FB1BA8A-8CD5-427C-B7B5-0066ECEBB4F5}" srcOrd="0" destOrd="0" presId="urn:microsoft.com/office/officeart/2018/2/layout/IconVerticalSolidList"/>
    <dgm:cxn modelId="{BF027BAA-BE89-4585-AD3D-AB3E72F0A4A9}" type="presParOf" srcId="{CF5374A9-D265-42E8-A8B4-38ABC417DC06}" destId="{7FC91C80-6377-4938-A2F5-DF36B7F819A1}" srcOrd="1" destOrd="0" presId="urn:microsoft.com/office/officeart/2018/2/layout/IconVerticalSolidList"/>
    <dgm:cxn modelId="{167BC792-1124-4BD5-9633-569D1829437B}" type="presParOf" srcId="{CF5374A9-D265-42E8-A8B4-38ABC417DC06}" destId="{6CD94A69-4B4E-40B4-BBD5-4270263251DA}" srcOrd="2" destOrd="0" presId="urn:microsoft.com/office/officeart/2018/2/layout/IconVerticalSolidList"/>
    <dgm:cxn modelId="{ADD2E8ED-17BD-4EB8-A3C4-EB66868DF6BD}" type="presParOf" srcId="{CF5374A9-D265-42E8-A8B4-38ABC417DC06}" destId="{38380384-9044-495B-99F9-4C737546AB5F}" srcOrd="3" destOrd="0" presId="urn:microsoft.com/office/officeart/2018/2/layout/IconVerticalSolidList"/>
    <dgm:cxn modelId="{CFE5FF20-AF94-47B4-8ABE-BB9996A8C56D}" type="presParOf" srcId="{9E752B7C-76CF-4BF9-8374-ABC0124C7E0F}" destId="{3E559448-E74E-4F74-A40A-AB4B05C418F4}" srcOrd="1" destOrd="0" presId="urn:microsoft.com/office/officeart/2018/2/layout/IconVerticalSolidList"/>
    <dgm:cxn modelId="{29DAE7FB-D409-4783-B356-64FE12DF80D9}" type="presParOf" srcId="{9E752B7C-76CF-4BF9-8374-ABC0124C7E0F}" destId="{2438D559-15DD-4DCB-B736-80DF28F5783A}" srcOrd="2" destOrd="0" presId="urn:microsoft.com/office/officeart/2018/2/layout/IconVerticalSolidList"/>
    <dgm:cxn modelId="{492F9475-BAE5-497C-903E-8A8364E5A7BD}" type="presParOf" srcId="{2438D559-15DD-4DCB-B736-80DF28F5783A}" destId="{A6240B42-1A4F-4815-AB84-B89C57C84E44}" srcOrd="0" destOrd="0" presId="urn:microsoft.com/office/officeart/2018/2/layout/IconVerticalSolidList"/>
    <dgm:cxn modelId="{5A2BABD9-49CD-428C-B5F1-5119D722C6BB}" type="presParOf" srcId="{2438D559-15DD-4DCB-B736-80DF28F5783A}" destId="{9F767217-0C9E-4904-A1A5-4C0ED944D5E6}" srcOrd="1" destOrd="0" presId="urn:microsoft.com/office/officeart/2018/2/layout/IconVerticalSolidList"/>
    <dgm:cxn modelId="{76005FE8-F247-4C59-8B75-6350CB9E01E0}" type="presParOf" srcId="{2438D559-15DD-4DCB-B736-80DF28F5783A}" destId="{19161396-539E-4389-8E0F-83D9EBF9F415}" srcOrd="2" destOrd="0" presId="urn:microsoft.com/office/officeart/2018/2/layout/IconVerticalSolidList"/>
    <dgm:cxn modelId="{DF4AC500-2335-4A4C-BB37-03D2E7EF5D30}" type="presParOf" srcId="{2438D559-15DD-4DCB-B736-80DF28F5783A}" destId="{1641EF18-0DE2-4D73-B4DD-F816C0B0910F}" srcOrd="3" destOrd="0" presId="urn:microsoft.com/office/officeart/2018/2/layout/IconVerticalSolidList"/>
    <dgm:cxn modelId="{6CB5F263-1F31-495A-AABC-53BE4C8048B8}" type="presParOf" srcId="{9E752B7C-76CF-4BF9-8374-ABC0124C7E0F}" destId="{9657E7E0-2C52-4B4C-AF5F-0DF60BA28B38}" srcOrd="3" destOrd="0" presId="urn:microsoft.com/office/officeart/2018/2/layout/IconVerticalSolidList"/>
    <dgm:cxn modelId="{2F254CB6-B625-4E7D-AA9F-2EF8670FAFB6}" type="presParOf" srcId="{9E752B7C-76CF-4BF9-8374-ABC0124C7E0F}" destId="{5D50A58B-DCBB-4DA6-8303-21CCCCF59E17}" srcOrd="4" destOrd="0" presId="urn:microsoft.com/office/officeart/2018/2/layout/IconVerticalSolidList"/>
    <dgm:cxn modelId="{C86CE8EF-45B5-4844-A5BA-1F8BE4D0F88C}" type="presParOf" srcId="{5D50A58B-DCBB-4DA6-8303-21CCCCF59E17}" destId="{302FC6AD-A4E3-4132-B8E1-BB95627F07B3}" srcOrd="0" destOrd="0" presId="urn:microsoft.com/office/officeart/2018/2/layout/IconVerticalSolidList"/>
    <dgm:cxn modelId="{3889598E-F1DB-4B8A-B2AD-73D75F743AC7}" type="presParOf" srcId="{5D50A58B-DCBB-4DA6-8303-21CCCCF59E17}" destId="{C3A6BB8F-820C-4CFD-BE24-C3206B82B191}" srcOrd="1" destOrd="0" presId="urn:microsoft.com/office/officeart/2018/2/layout/IconVerticalSolidList"/>
    <dgm:cxn modelId="{AE5CC7F0-19A2-4FDC-AE6F-2F6DE68B0528}" type="presParOf" srcId="{5D50A58B-DCBB-4DA6-8303-21CCCCF59E17}" destId="{CD93F44F-7017-4781-A86F-4A742C6BA4D4}" srcOrd="2" destOrd="0" presId="urn:microsoft.com/office/officeart/2018/2/layout/IconVerticalSolidList"/>
    <dgm:cxn modelId="{5A9BD89E-F616-4C7B-8D31-728D3CEC8EEB}" type="presParOf" srcId="{5D50A58B-DCBB-4DA6-8303-21CCCCF59E17}" destId="{34250826-F3DF-406D-81C9-036500A78FA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7AB7A09-AAAB-47F4-B7F5-2F8168748F0C}" type="doc">
      <dgm:prSet loTypeId="urn:microsoft.com/office/officeart/2005/8/layout/default" loCatId="list" qsTypeId="urn:microsoft.com/office/officeart/2005/8/quickstyle/simple5" qsCatId="simple" csTypeId="urn:microsoft.com/office/officeart/2005/8/colors/accent2_3" csCatId="accent2" phldr="1"/>
      <dgm:spPr/>
      <dgm:t>
        <a:bodyPr/>
        <a:lstStyle/>
        <a:p>
          <a:endParaRPr lang="en-US"/>
        </a:p>
      </dgm:t>
    </dgm:pt>
    <dgm:pt modelId="{F29408F6-6913-49D6-BC1C-BB24EB93C2EB}">
      <dgm:prSet custT="1"/>
      <dgm:spPr/>
      <dgm:t>
        <a:bodyPr/>
        <a:lstStyle/>
        <a:p>
          <a:pPr rtl="0"/>
          <a:r>
            <a:rPr lang="en-US" sz="2000" b="0" i="0" baseline="0" dirty="0">
              <a:solidFill>
                <a:schemeClr val="bg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rPr>
            <a:t>Data Sources </a:t>
          </a:r>
          <a:br>
            <a:rPr lang="en-US" sz="2000" b="0" i="0" baseline="0" dirty="0">
              <a:solidFill>
                <a:schemeClr val="bg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rPr>
          </a:br>
          <a:r>
            <a:rPr lang="en-US" sz="2000" b="0" i="0" baseline="0" dirty="0">
              <a:solidFill>
                <a:schemeClr val="bg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rPr>
            <a:t>Yahoo Finance: SPY, VIX, TLT </a:t>
          </a:r>
          <a:br>
            <a:rPr lang="en-US" sz="2000" b="0" i="0" baseline="0" dirty="0">
              <a:solidFill>
                <a:schemeClr val="bg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rPr>
          </a:br>
          <a:r>
            <a:rPr lang="en-US" sz="2000" b="0" i="0" baseline="0" dirty="0">
              <a:solidFill>
                <a:schemeClr val="bg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rPr>
            <a:t>FRED: 10Y–3M Treasury spread</a:t>
          </a:r>
        </a:p>
      </dgm:t>
    </dgm:pt>
    <dgm:pt modelId="{628EE65C-EDF5-4913-B1E5-004130FA227F}" type="parTrans" cxnId="{50D07716-B9DF-45A1-AF39-E80FF7459F05}">
      <dgm:prSet/>
      <dgm:spPr/>
      <dgm:t>
        <a:bodyPr/>
        <a:lstStyle/>
        <a:p>
          <a:endParaRPr lang="en-US"/>
        </a:p>
      </dgm:t>
    </dgm:pt>
    <dgm:pt modelId="{EB6690F1-027C-4AF3-BBEF-EA29AB0539C4}" type="sibTrans" cxnId="{50D07716-B9DF-45A1-AF39-E80FF7459F05}">
      <dgm:prSet/>
      <dgm:spPr/>
      <dgm:t>
        <a:bodyPr/>
        <a:lstStyle/>
        <a:p>
          <a:endParaRPr lang="en-US"/>
        </a:p>
      </dgm:t>
    </dgm:pt>
    <dgm:pt modelId="{E0222746-D65D-43D3-9D43-6D70A2432320}">
      <dgm:prSet custT="1"/>
      <dgm:spPr/>
      <dgm:t>
        <a:bodyPr/>
        <a:lstStyle/>
        <a:p>
          <a:r>
            <a:rPr lang="en-US" sz="2000" b="1" i="0" baseline="0">
              <a:latin typeface="Times New Roman" panose="02020603050405020304" pitchFamily="18" charset="0"/>
              <a:cs typeface="Times New Roman" panose="02020603050405020304" pitchFamily="18" charset="0"/>
            </a:rPr>
            <a:t>VIX Index:</a:t>
          </a:r>
          <a:r>
            <a:rPr lang="en-US" sz="2000" b="0" i="0" baseline="0">
              <a:latin typeface="Times New Roman" panose="02020603050405020304" pitchFamily="18" charset="0"/>
              <a:cs typeface="Times New Roman" panose="02020603050405020304" pitchFamily="18" charset="0"/>
            </a:rPr>
            <a:t> Captures market fear and volatility</a:t>
          </a:r>
          <a:endParaRPr lang="en-US" sz="2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B867267-78DA-45CB-9249-3BF763CD0E6A}" type="parTrans" cxnId="{CF976C7D-AD45-42A8-B2B9-4F3F6F6A287A}">
      <dgm:prSet/>
      <dgm:spPr/>
      <dgm:t>
        <a:bodyPr/>
        <a:lstStyle/>
        <a:p>
          <a:endParaRPr lang="en-US"/>
        </a:p>
      </dgm:t>
    </dgm:pt>
    <dgm:pt modelId="{0A91A7CB-F3D5-480D-9EAB-33D3B5C6CD3D}" type="sibTrans" cxnId="{CF976C7D-AD45-42A8-B2B9-4F3F6F6A287A}">
      <dgm:prSet/>
      <dgm:spPr/>
      <dgm:t>
        <a:bodyPr/>
        <a:lstStyle/>
        <a:p>
          <a:endParaRPr lang="en-US"/>
        </a:p>
      </dgm:t>
    </dgm:pt>
    <dgm:pt modelId="{7C7F3FCC-DAE4-4296-88BC-B01B203410A5}">
      <dgm:prSet custT="1"/>
      <dgm:spPr/>
      <dgm:t>
        <a:bodyPr/>
        <a:lstStyle/>
        <a:p>
          <a:r>
            <a:rPr lang="en-US" sz="2000" b="1" i="0" baseline="0">
              <a:latin typeface="Times New Roman" panose="02020603050405020304" pitchFamily="18" charset="0"/>
              <a:cs typeface="Times New Roman" panose="02020603050405020304" pitchFamily="18" charset="0"/>
            </a:rPr>
            <a:t>TLT ETF:</a:t>
          </a:r>
          <a:r>
            <a:rPr lang="en-US" sz="2000" b="0" i="0" baseline="0">
              <a:latin typeface="Times New Roman" panose="02020603050405020304" pitchFamily="18" charset="0"/>
              <a:cs typeface="Times New Roman" panose="02020603050405020304" pitchFamily="18" charset="0"/>
            </a:rPr>
            <a:t> Represents Treasury bond performance and risk-off behavior</a:t>
          </a:r>
          <a:endParaRPr lang="en-US" sz="2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1A98494-C480-4F0F-9449-E0892FF88391}" type="parTrans" cxnId="{52E78F15-37F0-46EA-838F-8134FFBBEDEE}">
      <dgm:prSet/>
      <dgm:spPr/>
      <dgm:t>
        <a:bodyPr/>
        <a:lstStyle/>
        <a:p>
          <a:endParaRPr lang="en-US"/>
        </a:p>
      </dgm:t>
    </dgm:pt>
    <dgm:pt modelId="{F849B2FC-FBF6-4929-9A92-E2B383033F76}" type="sibTrans" cxnId="{52E78F15-37F0-46EA-838F-8134FFBBEDEE}">
      <dgm:prSet/>
      <dgm:spPr/>
      <dgm:t>
        <a:bodyPr/>
        <a:lstStyle/>
        <a:p>
          <a:endParaRPr lang="en-US"/>
        </a:p>
      </dgm:t>
    </dgm:pt>
    <dgm:pt modelId="{335940CB-4C84-4EF8-98CE-BAD8BB9334F3}">
      <dgm:prSet custT="1"/>
      <dgm:spPr/>
      <dgm:t>
        <a:bodyPr/>
        <a:lstStyle/>
        <a:p>
          <a:r>
            <a:rPr lang="en-US" sz="2000" b="1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Yield Curve (10Y–3M spread):</a:t>
          </a:r>
          <a:r>
            <a:rPr lang="en-US" sz="2000" b="0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 Indicates macroeconomic conditions</a:t>
          </a:r>
          <a:endParaRPr lang="en-US" sz="2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5A65DBE-C8BA-422F-AFAD-9F73B62C8E13}" type="parTrans" cxnId="{1CE6C17E-B757-40D6-8105-F0ABC26920D3}">
      <dgm:prSet/>
      <dgm:spPr/>
      <dgm:t>
        <a:bodyPr/>
        <a:lstStyle/>
        <a:p>
          <a:endParaRPr lang="en-US"/>
        </a:p>
      </dgm:t>
    </dgm:pt>
    <dgm:pt modelId="{C9445ED8-CE41-417B-9B32-A3DEDF7A4D46}" type="sibTrans" cxnId="{1CE6C17E-B757-40D6-8105-F0ABC26920D3}">
      <dgm:prSet/>
      <dgm:spPr/>
      <dgm:t>
        <a:bodyPr/>
        <a:lstStyle/>
        <a:p>
          <a:endParaRPr lang="en-US"/>
        </a:p>
      </dgm:t>
    </dgm:pt>
    <dgm:pt modelId="{04DC503D-0A21-4E0E-AA1D-BB890886B8AA}">
      <dgm:prSet phldr="0" custT="1"/>
      <dgm:spPr/>
      <dgm:t>
        <a:bodyPr/>
        <a:lstStyle/>
        <a:p>
          <a:pPr rtl="0"/>
          <a:r>
            <a:rPr lang="en-US" sz="2000" b="0" i="0" baseline="0" dirty="0">
              <a:solidFill>
                <a:schemeClr val="bg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rPr>
            <a:t>Merged Dataset: ~5,800 trading days from </a:t>
          </a:r>
          <a:r>
            <a:rPr lang="en-US" sz="2000" b="1" i="0" baseline="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2000–2023</a:t>
          </a:r>
        </a:p>
      </dgm:t>
    </dgm:pt>
    <dgm:pt modelId="{C131DA41-B386-44C6-8DA9-7AF3A7EB1BF7}" type="parTrans" cxnId="{91EFB30A-CC70-45D6-8971-6CA673954AC6}">
      <dgm:prSet/>
      <dgm:spPr/>
      <dgm:t>
        <a:bodyPr/>
        <a:lstStyle/>
        <a:p>
          <a:endParaRPr lang="en-US"/>
        </a:p>
      </dgm:t>
    </dgm:pt>
    <dgm:pt modelId="{284E204C-26F8-41DA-A3E6-B63FFA7CF516}" type="sibTrans" cxnId="{91EFB30A-CC70-45D6-8971-6CA673954AC6}">
      <dgm:prSet/>
      <dgm:spPr/>
      <dgm:t>
        <a:bodyPr/>
        <a:lstStyle/>
        <a:p>
          <a:endParaRPr lang="en-US"/>
        </a:p>
      </dgm:t>
    </dgm:pt>
    <dgm:pt modelId="{94CB39C7-5038-4B59-A131-6CFFB94B0716}">
      <dgm:prSet phldr="0" custT="1"/>
      <dgm:spPr/>
      <dgm:t>
        <a:bodyPr/>
        <a:lstStyle/>
        <a:p>
          <a:r>
            <a:rPr lang="en-US" sz="2000" b="1" i="0" baseline="0">
              <a:latin typeface="Times New Roman" panose="02020603050405020304" pitchFamily="18" charset="0"/>
              <a:cs typeface="Times New Roman" panose="02020603050405020304" pitchFamily="18" charset="0"/>
            </a:rPr>
            <a:t>SPY ETF:</a:t>
          </a:r>
          <a:r>
            <a:rPr lang="en-US" sz="2000" b="0" i="0" baseline="0">
              <a:latin typeface="Times New Roman" panose="02020603050405020304" pitchFamily="18" charset="0"/>
              <a:cs typeface="Times New Roman" panose="02020603050405020304" pitchFamily="18" charset="0"/>
            </a:rPr>
            <a:t> Used to label bull vs bear regimes via 200-day moving average</a:t>
          </a:r>
          <a:endParaRPr lang="en-US" sz="2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35EB37A-5D12-430C-9A1B-AD3FD69C6629}" type="parTrans" cxnId="{C38FA6DD-E8B2-4BD0-ADD4-0F0536B6C733}">
      <dgm:prSet/>
      <dgm:spPr/>
      <dgm:t>
        <a:bodyPr/>
        <a:lstStyle/>
        <a:p>
          <a:endParaRPr lang="en-US"/>
        </a:p>
      </dgm:t>
    </dgm:pt>
    <dgm:pt modelId="{4DA959B8-B24E-4B04-8B12-0D3AE4BEABB1}" type="sibTrans" cxnId="{C38FA6DD-E8B2-4BD0-ADD4-0F0536B6C733}">
      <dgm:prSet/>
      <dgm:spPr/>
      <dgm:t>
        <a:bodyPr/>
        <a:lstStyle/>
        <a:p>
          <a:endParaRPr lang="en-US"/>
        </a:p>
      </dgm:t>
    </dgm:pt>
    <dgm:pt modelId="{81184C5E-0FF5-4A7F-82AD-1038C6FDB4B7}" type="pres">
      <dgm:prSet presAssocID="{A7AB7A09-AAAB-47F4-B7F5-2F8168748F0C}" presName="diagram" presStyleCnt="0">
        <dgm:presLayoutVars>
          <dgm:dir/>
          <dgm:resizeHandles val="exact"/>
        </dgm:presLayoutVars>
      </dgm:prSet>
      <dgm:spPr/>
    </dgm:pt>
    <dgm:pt modelId="{38D55357-43DB-4452-8316-305A400B272F}" type="pres">
      <dgm:prSet presAssocID="{F29408F6-6913-49D6-BC1C-BB24EB93C2EB}" presName="node" presStyleLbl="node1" presStyleIdx="0" presStyleCnt="6">
        <dgm:presLayoutVars>
          <dgm:bulletEnabled val="1"/>
        </dgm:presLayoutVars>
      </dgm:prSet>
      <dgm:spPr/>
    </dgm:pt>
    <dgm:pt modelId="{3C0CDCB8-520C-48B0-AADC-8E69C853BC2A}" type="pres">
      <dgm:prSet presAssocID="{EB6690F1-027C-4AF3-BBEF-EA29AB0539C4}" presName="sibTrans" presStyleCnt="0"/>
      <dgm:spPr/>
    </dgm:pt>
    <dgm:pt modelId="{D401619B-C45B-4F5B-A154-78612646CD65}" type="pres">
      <dgm:prSet presAssocID="{04DC503D-0A21-4E0E-AA1D-BB890886B8AA}" presName="node" presStyleLbl="node1" presStyleIdx="1" presStyleCnt="6">
        <dgm:presLayoutVars>
          <dgm:bulletEnabled val="1"/>
        </dgm:presLayoutVars>
      </dgm:prSet>
      <dgm:spPr/>
    </dgm:pt>
    <dgm:pt modelId="{45598DB3-ED46-4E5F-B61D-DF821407A9DF}" type="pres">
      <dgm:prSet presAssocID="{284E204C-26F8-41DA-A3E6-B63FFA7CF516}" presName="sibTrans" presStyleCnt="0"/>
      <dgm:spPr/>
    </dgm:pt>
    <dgm:pt modelId="{660ECBAA-972D-4978-89A2-3B73B648A28F}" type="pres">
      <dgm:prSet presAssocID="{94CB39C7-5038-4B59-A131-6CFFB94B0716}" presName="node" presStyleLbl="node1" presStyleIdx="2" presStyleCnt="6">
        <dgm:presLayoutVars>
          <dgm:bulletEnabled val="1"/>
        </dgm:presLayoutVars>
      </dgm:prSet>
      <dgm:spPr/>
    </dgm:pt>
    <dgm:pt modelId="{0F2A1032-2FE7-496B-92AE-5F747C6338C1}" type="pres">
      <dgm:prSet presAssocID="{4DA959B8-B24E-4B04-8B12-0D3AE4BEABB1}" presName="sibTrans" presStyleCnt="0"/>
      <dgm:spPr/>
    </dgm:pt>
    <dgm:pt modelId="{3EF5A290-C3A5-454C-B199-93BDD71C2654}" type="pres">
      <dgm:prSet presAssocID="{E0222746-D65D-43D3-9D43-6D70A2432320}" presName="node" presStyleLbl="node1" presStyleIdx="3" presStyleCnt="6">
        <dgm:presLayoutVars>
          <dgm:bulletEnabled val="1"/>
        </dgm:presLayoutVars>
      </dgm:prSet>
      <dgm:spPr/>
    </dgm:pt>
    <dgm:pt modelId="{6F4BC0B1-8610-4703-8F0C-63C861443BFD}" type="pres">
      <dgm:prSet presAssocID="{0A91A7CB-F3D5-480D-9EAB-33D3B5C6CD3D}" presName="sibTrans" presStyleCnt="0"/>
      <dgm:spPr/>
    </dgm:pt>
    <dgm:pt modelId="{55C123F8-93D5-4609-87C0-87205C7488BA}" type="pres">
      <dgm:prSet presAssocID="{7C7F3FCC-DAE4-4296-88BC-B01B203410A5}" presName="node" presStyleLbl="node1" presStyleIdx="4" presStyleCnt="6">
        <dgm:presLayoutVars>
          <dgm:bulletEnabled val="1"/>
        </dgm:presLayoutVars>
      </dgm:prSet>
      <dgm:spPr/>
    </dgm:pt>
    <dgm:pt modelId="{57181394-2B97-4035-A4CF-ABAA5FE196CE}" type="pres">
      <dgm:prSet presAssocID="{F849B2FC-FBF6-4929-9A92-E2B383033F76}" presName="sibTrans" presStyleCnt="0"/>
      <dgm:spPr/>
    </dgm:pt>
    <dgm:pt modelId="{2F056E9B-D265-464B-B52E-FFEEB1255927}" type="pres">
      <dgm:prSet presAssocID="{335940CB-4C84-4EF8-98CE-BAD8BB9334F3}" presName="node" presStyleLbl="node1" presStyleIdx="5" presStyleCnt="6">
        <dgm:presLayoutVars>
          <dgm:bulletEnabled val="1"/>
        </dgm:presLayoutVars>
      </dgm:prSet>
      <dgm:spPr/>
    </dgm:pt>
  </dgm:ptLst>
  <dgm:cxnLst>
    <dgm:cxn modelId="{91EFB30A-CC70-45D6-8971-6CA673954AC6}" srcId="{A7AB7A09-AAAB-47F4-B7F5-2F8168748F0C}" destId="{04DC503D-0A21-4E0E-AA1D-BB890886B8AA}" srcOrd="1" destOrd="0" parTransId="{C131DA41-B386-44C6-8DA9-7AF3A7EB1BF7}" sibTransId="{284E204C-26F8-41DA-A3E6-B63FFA7CF516}"/>
    <dgm:cxn modelId="{52E78F15-37F0-46EA-838F-8134FFBBEDEE}" srcId="{A7AB7A09-AAAB-47F4-B7F5-2F8168748F0C}" destId="{7C7F3FCC-DAE4-4296-88BC-B01B203410A5}" srcOrd="4" destOrd="0" parTransId="{11A98494-C480-4F0F-9449-E0892FF88391}" sibTransId="{F849B2FC-FBF6-4929-9A92-E2B383033F76}"/>
    <dgm:cxn modelId="{50D07716-B9DF-45A1-AF39-E80FF7459F05}" srcId="{A7AB7A09-AAAB-47F4-B7F5-2F8168748F0C}" destId="{F29408F6-6913-49D6-BC1C-BB24EB93C2EB}" srcOrd="0" destOrd="0" parTransId="{628EE65C-EDF5-4913-B1E5-004130FA227F}" sibTransId="{EB6690F1-027C-4AF3-BBEF-EA29AB0539C4}"/>
    <dgm:cxn modelId="{D9EDF956-0434-46F9-AB49-3958AC195119}" type="presOf" srcId="{E0222746-D65D-43D3-9D43-6D70A2432320}" destId="{3EF5A290-C3A5-454C-B199-93BDD71C2654}" srcOrd="0" destOrd="0" presId="urn:microsoft.com/office/officeart/2005/8/layout/default"/>
    <dgm:cxn modelId="{CF976C7D-AD45-42A8-B2B9-4F3F6F6A287A}" srcId="{A7AB7A09-AAAB-47F4-B7F5-2F8168748F0C}" destId="{E0222746-D65D-43D3-9D43-6D70A2432320}" srcOrd="3" destOrd="0" parTransId="{DB867267-78DA-45CB-9249-3BF763CD0E6A}" sibTransId="{0A91A7CB-F3D5-480D-9EAB-33D3B5C6CD3D}"/>
    <dgm:cxn modelId="{1CE6C17E-B757-40D6-8105-F0ABC26920D3}" srcId="{A7AB7A09-AAAB-47F4-B7F5-2F8168748F0C}" destId="{335940CB-4C84-4EF8-98CE-BAD8BB9334F3}" srcOrd="5" destOrd="0" parTransId="{D5A65DBE-C8BA-422F-AFAD-9F73B62C8E13}" sibTransId="{C9445ED8-CE41-417B-9B32-A3DEDF7A4D46}"/>
    <dgm:cxn modelId="{16C53085-5246-4E85-9B60-0B6342740F4D}" type="presOf" srcId="{F29408F6-6913-49D6-BC1C-BB24EB93C2EB}" destId="{38D55357-43DB-4452-8316-305A400B272F}" srcOrd="0" destOrd="0" presId="urn:microsoft.com/office/officeart/2005/8/layout/default"/>
    <dgm:cxn modelId="{78DA748B-40E3-4AEA-A2CE-E8D4B68AE007}" type="presOf" srcId="{94CB39C7-5038-4B59-A131-6CFFB94B0716}" destId="{660ECBAA-972D-4978-89A2-3B73B648A28F}" srcOrd="0" destOrd="0" presId="urn:microsoft.com/office/officeart/2005/8/layout/default"/>
    <dgm:cxn modelId="{6521FB96-3026-48BB-89F9-4A70CD209A84}" type="presOf" srcId="{A7AB7A09-AAAB-47F4-B7F5-2F8168748F0C}" destId="{81184C5E-0FF5-4A7F-82AD-1038C6FDB4B7}" srcOrd="0" destOrd="0" presId="urn:microsoft.com/office/officeart/2005/8/layout/default"/>
    <dgm:cxn modelId="{80702B9D-3077-4A39-BF64-529FFDC937B3}" type="presOf" srcId="{7C7F3FCC-DAE4-4296-88BC-B01B203410A5}" destId="{55C123F8-93D5-4609-87C0-87205C7488BA}" srcOrd="0" destOrd="0" presId="urn:microsoft.com/office/officeart/2005/8/layout/default"/>
    <dgm:cxn modelId="{AD461FB7-D3E8-4766-8B72-4D627DB4B852}" type="presOf" srcId="{04DC503D-0A21-4E0E-AA1D-BB890886B8AA}" destId="{D401619B-C45B-4F5B-A154-78612646CD65}" srcOrd="0" destOrd="0" presId="urn:microsoft.com/office/officeart/2005/8/layout/default"/>
    <dgm:cxn modelId="{C38FA6DD-E8B2-4BD0-ADD4-0F0536B6C733}" srcId="{A7AB7A09-AAAB-47F4-B7F5-2F8168748F0C}" destId="{94CB39C7-5038-4B59-A131-6CFFB94B0716}" srcOrd="2" destOrd="0" parTransId="{635EB37A-5D12-430C-9A1B-AD3FD69C6629}" sibTransId="{4DA959B8-B24E-4B04-8B12-0D3AE4BEABB1}"/>
    <dgm:cxn modelId="{D99843DE-2803-42A8-AB31-82E4263AAB27}" type="presOf" srcId="{335940CB-4C84-4EF8-98CE-BAD8BB9334F3}" destId="{2F056E9B-D265-464B-B52E-FFEEB1255927}" srcOrd="0" destOrd="0" presId="urn:microsoft.com/office/officeart/2005/8/layout/default"/>
    <dgm:cxn modelId="{BBFBB14B-50BD-4765-82BC-5F5E20421695}" type="presParOf" srcId="{81184C5E-0FF5-4A7F-82AD-1038C6FDB4B7}" destId="{38D55357-43DB-4452-8316-305A400B272F}" srcOrd="0" destOrd="0" presId="urn:microsoft.com/office/officeart/2005/8/layout/default"/>
    <dgm:cxn modelId="{C07C23D0-529E-4904-A5E5-B36A461198CB}" type="presParOf" srcId="{81184C5E-0FF5-4A7F-82AD-1038C6FDB4B7}" destId="{3C0CDCB8-520C-48B0-AADC-8E69C853BC2A}" srcOrd="1" destOrd="0" presId="urn:microsoft.com/office/officeart/2005/8/layout/default"/>
    <dgm:cxn modelId="{0C22CA7A-E459-4778-8764-13596432FDF7}" type="presParOf" srcId="{81184C5E-0FF5-4A7F-82AD-1038C6FDB4B7}" destId="{D401619B-C45B-4F5B-A154-78612646CD65}" srcOrd="2" destOrd="0" presId="urn:microsoft.com/office/officeart/2005/8/layout/default"/>
    <dgm:cxn modelId="{6FF965F8-B9B6-4284-AE00-6A0718BC786A}" type="presParOf" srcId="{81184C5E-0FF5-4A7F-82AD-1038C6FDB4B7}" destId="{45598DB3-ED46-4E5F-B61D-DF821407A9DF}" srcOrd="3" destOrd="0" presId="urn:microsoft.com/office/officeart/2005/8/layout/default"/>
    <dgm:cxn modelId="{3E1BFD99-667C-41DA-A25E-B14B9AFC953F}" type="presParOf" srcId="{81184C5E-0FF5-4A7F-82AD-1038C6FDB4B7}" destId="{660ECBAA-972D-4978-89A2-3B73B648A28F}" srcOrd="4" destOrd="0" presId="urn:microsoft.com/office/officeart/2005/8/layout/default"/>
    <dgm:cxn modelId="{59E9E5DC-9DEA-4F0D-B279-FA946C3A34A0}" type="presParOf" srcId="{81184C5E-0FF5-4A7F-82AD-1038C6FDB4B7}" destId="{0F2A1032-2FE7-496B-92AE-5F747C6338C1}" srcOrd="5" destOrd="0" presId="urn:microsoft.com/office/officeart/2005/8/layout/default"/>
    <dgm:cxn modelId="{297E73B9-DA04-41EA-A486-E967D1A228B7}" type="presParOf" srcId="{81184C5E-0FF5-4A7F-82AD-1038C6FDB4B7}" destId="{3EF5A290-C3A5-454C-B199-93BDD71C2654}" srcOrd="6" destOrd="0" presId="urn:microsoft.com/office/officeart/2005/8/layout/default"/>
    <dgm:cxn modelId="{756852CF-BC72-482E-B7DA-D317D5869B85}" type="presParOf" srcId="{81184C5E-0FF5-4A7F-82AD-1038C6FDB4B7}" destId="{6F4BC0B1-8610-4703-8F0C-63C861443BFD}" srcOrd="7" destOrd="0" presId="urn:microsoft.com/office/officeart/2005/8/layout/default"/>
    <dgm:cxn modelId="{5C48CDD8-3312-472C-92BF-0EB8293848F6}" type="presParOf" srcId="{81184C5E-0FF5-4A7F-82AD-1038C6FDB4B7}" destId="{55C123F8-93D5-4609-87C0-87205C7488BA}" srcOrd="8" destOrd="0" presId="urn:microsoft.com/office/officeart/2005/8/layout/default"/>
    <dgm:cxn modelId="{63E4CBB2-6CBA-4566-B528-B7A8561A0780}" type="presParOf" srcId="{81184C5E-0FF5-4A7F-82AD-1038C6FDB4B7}" destId="{57181394-2B97-4035-A4CF-ABAA5FE196CE}" srcOrd="9" destOrd="0" presId="urn:microsoft.com/office/officeart/2005/8/layout/default"/>
    <dgm:cxn modelId="{D251FDA8-B9AE-4B52-9D00-9F046E799E1A}" type="presParOf" srcId="{81184C5E-0FF5-4A7F-82AD-1038C6FDB4B7}" destId="{2F056E9B-D265-464B-B52E-FFEEB1255927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135500F8-F74E-4469-87CA-44227779430C}" type="doc">
      <dgm:prSet loTypeId="urn:microsoft.com/office/officeart/2018/2/layout/IconCircle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AFEB20B9-4915-49BB-825D-1987F403492E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900" dirty="0">
              <a:latin typeface="Times New Roman" panose="02020603050405020304" pitchFamily="18" charset="0"/>
              <a:cs typeface="Times New Roman" panose="02020603050405020304" pitchFamily="18" charset="0"/>
            </a:rPr>
            <a:t>Built dataset from SPY, VIX, TLT, and yield curve data.</a:t>
          </a:r>
        </a:p>
      </dgm:t>
    </dgm:pt>
    <dgm:pt modelId="{90A5B77E-DEF8-457F-9582-8ABB44AF101C}" type="parTrans" cxnId="{7C887664-BEBF-4F85-B527-D27BFFF9E954}">
      <dgm:prSet/>
      <dgm:spPr/>
      <dgm:t>
        <a:bodyPr/>
        <a:lstStyle/>
        <a:p>
          <a:endParaRPr lang="en-US"/>
        </a:p>
      </dgm:t>
    </dgm:pt>
    <dgm:pt modelId="{F6400710-56E7-46CA-9B56-0A9DCCA61BB4}" type="sibTrans" cxnId="{7C887664-BEBF-4F85-B527-D27BFFF9E954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DE97090A-3C3F-4EAA-A4AD-9339C937D403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900" dirty="0">
              <a:latin typeface="Times New Roman" panose="02020603050405020304" pitchFamily="18" charset="0"/>
              <a:cs typeface="Times New Roman" panose="02020603050405020304" pitchFamily="18" charset="0"/>
            </a:rPr>
            <a:t>Created </a:t>
          </a:r>
          <a:r>
            <a:rPr lang="en-US" sz="1900" b="0" dirty="0">
              <a:latin typeface="Times New Roman" panose="02020603050405020304" pitchFamily="18" charset="0"/>
              <a:cs typeface="Times New Roman" panose="02020603050405020304" pitchFamily="18" charset="0"/>
            </a:rPr>
            <a:t>target variable y = Market Regime (0 = Bear, 1 = Bull)</a:t>
          </a:r>
          <a:endParaRPr lang="en-US" sz="19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820B59F-564F-4423-ADF5-E2830F517BCF}" type="parTrans" cxnId="{7BFD25FC-347E-4D41-8A7B-091900D211DD}">
      <dgm:prSet/>
      <dgm:spPr/>
      <dgm:t>
        <a:bodyPr/>
        <a:lstStyle/>
        <a:p>
          <a:endParaRPr lang="en-US"/>
        </a:p>
      </dgm:t>
    </dgm:pt>
    <dgm:pt modelId="{02B9E8EE-DC8F-4A76-8DFD-95E7F36F6595}" type="sibTrans" cxnId="{7BFD25FC-347E-4D41-8A7B-091900D211DD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A194564A-D83D-47A8-BA84-98403EDEEDC2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900" b="1" dirty="0">
              <a:latin typeface="Times New Roman" panose="02020603050405020304" pitchFamily="18" charset="0"/>
              <a:cs typeface="Times New Roman" panose="02020603050405020304" pitchFamily="18" charset="0"/>
            </a:rPr>
            <a:t>Trained ML models</a:t>
          </a:r>
          <a:r>
            <a:rPr lang="en-US" sz="1900" dirty="0">
              <a:latin typeface="Times New Roman" panose="02020603050405020304" pitchFamily="18" charset="0"/>
              <a:cs typeface="Times New Roman" panose="02020603050405020304" pitchFamily="18" charset="0"/>
            </a:rPr>
            <a:t>:</a:t>
          </a:r>
          <a:br>
            <a:rPr lang="en-US" sz="190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n-US" sz="1900" b="0" dirty="0">
              <a:latin typeface="Times New Roman" panose="02020603050405020304" pitchFamily="18" charset="0"/>
              <a:cs typeface="Times New Roman" panose="02020603050405020304" pitchFamily="18" charset="0"/>
            </a:rPr>
            <a:t>Logistic, Lasso Logistic, Decision Tree, Random Forest, </a:t>
          </a:r>
          <a:r>
            <a:rPr lang="en-US" sz="1900" b="0" dirty="0" err="1">
              <a:latin typeface="Times New Roman" panose="02020603050405020304" pitchFamily="18" charset="0"/>
              <a:cs typeface="Times New Roman" panose="02020603050405020304" pitchFamily="18" charset="0"/>
            </a:rPr>
            <a:t>XGBoost</a:t>
          </a:r>
          <a:endParaRPr lang="en-US" sz="1900" b="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8F1D59D-699C-48CA-A734-04E607679BE1}" type="parTrans" cxnId="{CD1CA60B-C9FF-435A-A947-2AB9FE07D79B}">
      <dgm:prSet/>
      <dgm:spPr/>
      <dgm:t>
        <a:bodyPr/>
        <a:lstStyle/>
        <a:p>
          <a:endParaRPr lang="en-US"/>
        </a:p>
      </dgm:t>
    </dgm:pt>
    <dgm:pt modelId="{CDD21020-859E-42BA-807A-F9CF51818D9C}" type="sibTrans" cxnId="{CD1CA60B-C9FF-435A-A947-2AB9FE07D79B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40EBFEE3-2AC9-4CC7-8EBD-F6AE10CB44CA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900" dirty="0">
              <a:latin typeface="Times New Roman" panose="02020603050405020304" pitchFamily="18" charset="0"/>
              <a:cs typeface="Times New Roman" panose="02020603050405020304" pitchFamily="18" charset="0"/>
            </a:rPr>
            <a:t>Evaluated performance</a:t>
          </a:r>
          <a:r>
            <a:rPr lang="en-US" sz="1900" b="0" dirty="0">
              <a:latin typeface="Times New Roman" panose="02020603050405020304" pitchFamily="18" charset="0"/>
              <a:cs typeface="Times New Roman" panose="02020603050405020304" pitchFamily="18" charset="0"/>
            </a:rPr>
            <a:t> using accuracy, precision, recall, F1-score, and ROC-AUC.</a:t>
          </a:r>
        </a:p>
      </dgm:t>
    </dgm:pt>
    <dgm:pt modelId="{107F1388-DE38-4851-9B0B-4E815B629C1C}" type="parTrans" cxnId="{43E9B183-B08E-43AB-B15E-D812A80A3B0B}">
      <dgm:prSet/>
      <dgm:spPr/>
      <dgm:t>
        <a:bodyPr/>
        <a:lstStyle/>
        <a:p>
          <a:endParaRPr lang="en-US"/>
        </a:p>
      </dgm:t>
    </dgm:pt>
    <dgm:pt modelId="{FFBE5196-A647-4526-92D7-302DBAB3C47F}" type="sibTrans" cxnId="{43E9B183-B08E-43AB-B15E-D812A80A3B0B}">
      <dgm:prSet/>
      <dgm:spPr/>
      <dgm:t>
        <a:bodyPr/>
        <a:lstStyle/>
        <a:p>
          <a:endParaRPr lang="en-US"/>
        </a:p>
      </dgm:t>
    </dgm:pt>
    <dgm:pt modelId="{670224AC-7A4E-4957-80AC-3801CF1B3AE9}">
      <dgm:prSet phldr="0" custT="1"/>
      <dgm:spPr/>
      <dgm:t>
        <a:bodyPr/>
        <a:lstStyle/>
        <a:p>
          <a:pPr>
            <a:lnSpc>
              <a:spcPct val="100000"/>
            </a:lnSpc>
          </a:pPr>
          <a:r>
            <a:rPr lang="en-US" sz="1900" b="1" dirty="0">
              <a:latin typeface="Times New Roman" panose="02020603050405020304" pitchFamily="18" charset="0"/>
              <a:cs typeface="Times New Roman" panose="02020603050405020304" pitchFamily="18" charset="0"/>
            </a:rPr>
            <a:t>Split dataset</a:t>
          </a:r>
          <a:r>
            <a:rPr lang="en-US" sz="1900" b="0" dirty="0">
              <a:latin typeface="Times New Roman" panose="02020603050405020304" pitchFamily="18" charset="0"/>
              <a:cs typeface="Times New Roman" panose="02020603050405020304" pitchFamily="18" charset="0"/>
            </a:rPr>
            <a:t> into training and testing and validation ( Train [2002–2018]: 60 ; Test[2019–2021]: 20 ; Validation [2022–2025] : 20 ).</a:t>
          </a:r>
        </a:p>
      </dgm:t>
    </dgm:pt>
    <dgm:pt modelId="{BE382558-DCDC-40D3-86D0-4A65799A935F}" type="parTrans" cxnId="{61467C02-E6F1-4F9F-A396-557CB83D44CC}">
      <dgm:prSet/>
      <dgm:spPr/>
      <dgm:t>
        <a:bodyPr/>
        <a:lstStyle/>
        <a:p>
          <a:endParaRPr lang="en-US"/>
        </a:p>
      </dgm:t>
    </dgm:pt>
    <dgm:pt modelId="{EED7DC64-B83B-4557-888D-E2E37F3A5DA7}" type="sibTrans" cxnId="{61467C02-E6F1-4F9F-A396-557CB83D44CC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37DEEA8B-1D2C-446D-81EB-C19F52EA55D4}">
      <dgm:prSet phldr="0" custT="1"/>
      <dgm:spPr/>
      <dgm:t>
        <a:bodyPr/>
        <a:lstStyle/>
        <a:p>
          <a:pPr>
            <a:lnSpc>
              <a:spcPct val="100000"/>
            </a:lnSpc>
          </a:pPr>
          <a:r>
            <a:rPr lang="en-US" sz="1900" b="1" dirty="0">
              <a:latin typeface="Times New Roman" panose="02020603050405020304" pitchFamily="18" charset="0"/>
              <a:cs typeface="Times New Roman" panose="02020603050405020304" pitchFamily="18" charset="0"/>
            </a:rPr>
            <a:t>Handled class imbalance</a:t>
          </a:r>
          <a:r>
            <a:rPr lang="en-US" sz="1900" b="0" dirty="0">
              <a:latin typeface="Times New Roman" panose="02020603050405020304" pitchFamily="18" charset="0"/>
              <a:cs typeface="Times New Roman" panose="02020603050405020304" pitchFamily="18" charset="0"/>
            </a:rPr>
            <a:t> in the training data using </a:t>
          </a:r>
          <a:r>
            <a:rPr lang="en-US" sz="1900" b="1" dirty="0" err="1">
              <a:latin typeface="Times New Roman" panose="02020603050405020304" pitchFamily="18" charset="0"/>
              <a:cs typeface="Times New Roman" panose="02020603050405020304" pitchFamily="18" charset="0"/>
            </a:rPr>
            <a:t>SMOTETomek</a:t>
          </a:r>
          <a:r>
            <a:rPr lang="en-US" sz="1900" b="0" dirty="0"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  <a:endParaRPr lang="en-US" sz="19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B7BAD32-2D70-4FF1-BC01-0E889C7A49A8}" type="parTrans" cxnId="{0439DCAC-771F-4E3B-B934-6C679E08BA58}">
      <dgm:prSet/>
      <dgm:spPr/>
      <dgm:t>
        <a:bodyPr/>
        <a:lstStyle/>
        <a:p>
          <a:endParaRPr lang="en-US"/>
        </a:p>
      </dgm:t>
    </dgm:pt>
    <dgm:pt modelId="{42C5386E-25C3-4766-AE26-D2F08F188EF0}" type="sibTrans" cxnId="{0439DCAC-771F-4E3B-B934-6C679E08BA58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9A43F914-845B-4772-BA99-AC5BEC537A68}" type="pres">
      <dgm:prSet presAssocID="{135500F8-F74E-4469-87CA-44227779430C}" presName="root" presStyleCnt="0">
        <dgm:presLayoutVars>
          <dgm:dir/>
          <dgm:resizeHandles val="exact"/>
        </dgm:presLayoutVars>
      </dgm:prSet>
      <dgm:spPr/>
    </dgm:pt>
    <dgm:pt modelId="{CB258D52-3990-419C-91FB-83F9593960AF}" type="pres">
      <dgm:prSet presAssocID="{135500F8-F74E-4469-87CA-44227779430C}" presName="container" presStyleCnt="0">
        <dgm:presLayoutVars>
          <dgm:dir/>
          <dgm:resizeHandles val="exact"/>
        </dgm:presLayoutVars>
      </dgm:prSet>
      <dgm:spPr/>
    </dgm:pt>
    <dgm:pt modelId="{749A6A46-E579-4EA8-B45F-5E65A79170D9}" type="pres">
      <dgm:prSet presAssocID="{AFEB20B9-4915-49BB-825D-1987F403492E}" presName="compNode" presStyleCnt="0"/>
      <dgm:spPr/>
    </dgm:pt>
    <dgm:pt modelId="{F08663AF-3C65-429A-A4DC-DD2B9DA8EEF9}" type="pres">
      <dgm:prSet presAssocID="{AFEB20B9-4915-49BB-825D-1987F403492E}" presName="iconBgRect" presStyleLbl="bgShp" presStyleIdx="0" presStyleCnt="6" custLinFactNeighborX="-50510" custLinFactNeighborY="168"/>
      <dgm:spPr/>
    </dgm:pt>
    <dgm:pt modelId="{5B6F4924-2043-4C61-B349-A12EF0DDA7ED}" type="pres">
      <dgm:prSet presAssocID="{AFEB20B9-4915-49BB-825D-1987F403492E}" presName="iconRect" presStyleLbl="node1" presStyleIdx="0" presStyleCnt="6" custLinFactNeighborX="-85318" custLinFactNeighborY="6268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6BF63FD2-60C9-4A1E-A309-E5C06043EF17}" type="pres">
      <dgm:prSet presAssocID="{AFEB20B9-4915-49BB-825D-1987F403492E}" presName="spaceRect" presStyleCnt="0"/>
      <dgm:spPr/>
    </dgm:pt>
    <dgm:pt modelId="{979E47D8-E150-4A49-955A-53078F982A7C}" type="pres">
      <dgm:prSet presAssocID="{AFEB20B9-4915-49BB-825D-1987F403492E}" presName="textRect" presStyleLbl="revTx" presStyleIdx="0" presStyleCnt="6" custLinFactNeighborX="-20624" custLinFactNeighborY="11842">
        <dgm:presLayoutVars>
          <dgm:chMax val="1"/>
          <dgm:chPref val="1"/>
        </dgm:presLayoutVars>
      </dgm:prSet>
      <dgm:spPr/>
    </dgm:pt>
    <dgm:pt modelId="{E23C0BDF-C40A-4992-A7DA-3FB917B5E22F}" type="pres">
      <dgm:prSet presAssocID="{F6400710-56E7-46CA-9B56-0A9DCCA61BB4}" presName="sibTrans" presStyleLbl="sibTrans2D1" presStyleIdx="0" presStyleCnt="0"/>
      <dgm:spPr/>
    </dgm:pt>
    <dgm:pt modelId="{8661E1BF-61BC-4AEF-89DB-DDE8BBB47CF8}" type="pres">
      <dgm:prSet presAssocID="{DE97090A-3C3F-4EAA-A4AD-9339C937D403}" presName="compNode" presStyleCnt="0"/>
      <dgm:spPr/>
    </dgm:pt>
    <dgm:pt modelId="{09F5F0F4-9303-49E7-BB2F-C6CE88C2BF55}" type="pres">
      <dgm:prSet presAssocID="{DE97090A-3C3F-4EAA-A4AD-9339C937D403}" presName="iconBgRect" presStyleLbl="bgShp" presStyleIdx="1" presStyleCnt="6" custLinFactX="94257" custLinFactNeighborX="100000" custLinFactNeighborY="168"/>
      <dgm:spPr/>
    </dgm:pt>
    <dgm:pt modelId="{AE2118EF-2FB7-4B37-9323-89D0571304BA}" type="pres">
      <dgm:prSet presAssocID="{DE97090A-3C3F-4EAA-A4AD-9339C937D403}" presName="iconRect" presStyleLbl="node1" presStyleIdx="1" presStyleCnt="6" custLinFactX="132957" custLinFactNeighborX="200000" custLinFactNeighborY="141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g under Magnifying Glass"/>
        </a:ext>
      </dgm:extLst>
    </dgm:pt>
    <dgm:pt modelId="{158BBCF2-0B1A-43EE-95E0-6ACE509D4F0E}" type="pres">
      <dgm:prSet presAssocID="{DE97090A-3C3F-4EAA-A4AD-9339C937D403}" presName="spaceRect" presStyleCnt="0"/>
      <dgm:spPr/>
    </dgm:pt>
    <dgm:pt modelId="{776B3307-B974-4593-AEBF-C67FD93C4A08}" type="pres">
      <dgm:prSet presAssocID="{DE97090A-3C3F-4EAA-A4AD-9339C937D403}" presName="textRect" presStyleLbl="revTx" presStyleIdx="1" presStyleCnt="6" custLinFactNeighborX="79524" custLinFactNeighborY="168">
        <dgm:presLayoutVars>
          <dgm:chMax val="1"/>
          <dgm:chPref val="1"/>
        </dgm:presLayoutVars>
      </dgm:prSet>
      <dgm:spPr/>
    </dgm:pt>
    <dgm:pt modelId="{AC1D3240-BA4A-43EC-A7BA-C4CA09ABF74F}" type="pres">
      <dgm:prSet presAssocID="{02B9E8EE-DC8F-4A76-8DFD-95E7F36F6595}" presName="sibTrans" presStyleLbl="sibTrans2D1" presStyleIdx="0" presStyleCnt="0"/>
      <dgm:spPr/>
    </dgm:pt>
    <dgm:pt modelId="{BCA43406-725E-4DF1-8FB9-33D92750B258}" type="pres">
      <dgm:prSet presAssocID="{670224AC-7A4E-4957-80AC-3801CF1B3AE9}" presName="compNode" presStyleCnt="0"/>
      <dgm:spPr/>
    </dgm:pt>
    <dgm:pt modelId="{7E64835E-7129-4785-827C-03289F997967}" type="pres">
      <dgm:prSet presAssocID="{670224AC-7A4E-4957-80AC-3801CF1B3AE9}" presName="iconBgRect" presStyleLbl="bgShp" presStyleIdx="2" presStyleCnt="6" custLinFactNeighborX="-50510" custLinFactNeighborY="-5987"/>
      <dgm:spPr/>
    </dgm:pt>
    <dgm:pt modelId="{1B0A7DA3-7AE3-40FC-9D61-8AA73C8E245C}" type="pres">
      <dgm:prSet presAssocID="{670224AC-7A4E-4957-80AC-3801CF1B3AE9}" presName="iconRect" presStyleLbl="node1" presStyleIdx="2" presStyleCnt="6" custLinFactNeighborX="-94023" custLinFactNeighborY="-1482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eciduous tree"/>
        </a:ext>
      </dgm:extLst>
    </dgm:pt>
    <dgm:pt modelId="{3A715AAF-154B-4080-8004-DA5713BA75B1}" type="pres">
      <dgm:prSet presAssocID="{670224AC-7A4E-4957-80AC-3801CF1B3AE9}" presName="spaceRect" presStyleCnt="0"/>
      <dgm:spPr/>
    </dgm:pt>
    <dgm:pt modelId="{3BAB0FB9-8EB7-4B8D-9F90-FDC85E038991}" type="pres">
      <dgm:prSet presAssocID="{670224AC-7A4E-4957-80AC-3801CF1B3AE9}" presName="textRect" presStyleLbl="revTx" presStyleIdx="2" presStyleCnt="6" custScaleX="159952" custLinFactNeighborX="7756" custLinFactNeighborY="-5987">
        <dgm:presLayoutVars>
          <dgm:chMax val="1"/>
          <dgm:chPref val="1"/>
        </dgm:presLayoutVars>
      </dgm:prSet>
      <dgm:spPr/>
    </dgm:pt>
    <dgm:pt modelId="{B928692E-B380-4938-90CA-8CD8BE7F69E4}" type="pres">
      <dgm:prSet presAssocID="{EED7DC64-B83B-4557-888D-E2E37F3A5DA7}" presName="sibTrans" presStyleLbl="sibTrans2D1" presStyleIdx="0" presStyleCnt="0"/>
      <dgm:spPr/>
    </dgm:pt>
    <dgm:pt modelId="{F9D8CF64-97E7-404F-A1C8-C6BC97255672}" type="pres">
      <dgm:prSet presAssocID="{37DEEA8B-1D2C-446D-81EB-C19F52EA55D4}" presName="compNode" presStyleCnt="0"/>
      <dgm:spPr/>
    </dgm:pt>
    <dgm:pt modelId="{22E2A02A-691D-4D6B-9BE1-0F176F398F03}" type="pres">
      <dgm:prSet presAssocID="{37DEEA8B-1D2C-446D-81EB-C19F52EA55D4}" presName="iconBgRect" presStyleLbl="bgShp" presStyleIdx="3" presStyleCnt="6" custLinFactX="24553" custLinFactNeighborX="100000" custLinFactNeighborY="-10548"/>
      <dgm:spPr/>
    </dgm:pt>
    <dgm:pt modelId="{B3FEFBF5-DAD2-48E5-91C6-AF8AE1398F09}" type="pres">
      <dgm:prSet presAssocID="{37DEEA8B-1D2C-446D-81EB-C19F52EA55D4}" presName="iconRect" presStyleLbl="node1" presStyleIdx="3" presStyleCnt="6" custLinFactX="100000" custLinFactNeighborX="108836" custLinFactNeighborY="-1482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rget"/>
        </a:ext>
      </dgm:extLst>
    </dgm:pt>
    <dgm:pt modelId="{172F4949-59AF-42EF-903C-054061BEA751}" type="pres">
      <dgm:prSet presAssocID="{37DEEA8B-1D2C-446D-81EB-C19F52EA55D4}" presName="spaceRect" presStyleCnt="0"/>
      <dgm:spPr/>
    </dgm:pt>
    <dgm:pt modelId="{12B15BAE-9617-4902-B968-96157AAD8B98}" type="pres">
      <dgm:prSet presAssocID="{37DEEA8B-1D2C-446D-81EB-C19F52EA55D4}" presName="textRect" presStyleLbl="revTx" presStyleIdx="3" presStyleCnt="6" custLinFactNeighborX="57689" custLinFactNeighborY="-16548">
        <dgm:presLayoutVars>
          <dgm:chMax val="1"/>
          <dgm:chPref val="1"/>
        </dgm:presLayoutVars>
      </dgm:prSet>
      <dgm:spPr/>
    </dgm:pt>
    <dgm:pt modelId="{20BED399-0B85-40A1-BF02-8A93CA3BEE91}" type="pres">
      <dgm:prSet presAssocID="{42C5386E-25C3-4766-AE26-D2F08F188EF0}" presName="sibTrans" presStyleLbl="sibTrans2D1" presStyleIdx="0" presStyleCnt="0"/>
      <dgm:spPr/>
    </dgm:pt>
    <dgm:pt modelId="{03C03E61-7BD0-4A5A-90A0-6372F4B22F6C}" type="pres">
      <dgm:prSet presAssocID="{A194564A-D83D-47A8-BA84-98403EDEEDC2}" presName="compNode" presStyleCnt="0"/>
      <dgm:spPr/>
    </dgm:pt>
    <dgm:pt modelId="{67FCF2C8-E2F4-45E2-9CFC-96D9FFDA04D9}" type="pres">
      <dgm:prSet presAssocID="{A194564A-D83D-47A8-BA84-98403EDEEDC2}" presName="iconBgRect" presStyleLbl="bgShp" presStyleIdx="4" presStyleCnt="6" custLinFactNeighborX="-39818" custLinFactNeighborY="-6143"/>
      <dgm:spPr/>
    </dgm:pt>
    <dgm:pt modelId="{FDF3AEB9-EBF0-4A16-941C-E4C1B3B893EA}" type="pres">
      <dgm:prSet presAssocID="{A194564A-D83D-47A8-BA84-98403EDEEDC2}" presName="iconRect" presStyleLbl="node1" presStyleIdx="4" presStyleCnt="6" custLinFactNeighborX="-78500" custLinFactNeighborY="-11821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062A454D-D169-4E82-96A8-A0087BB48ECF}" type="pres">
      <dgm:prSet presAssocID="{A194564A-D83D-47A8-BA84-98403EDEEDC2}" presName="spaceRect" presStyleCnt="0"/>
      <dgm:spPr/>
    </dgm:pt>
    <dgm:pt modelId="{911317DB-00FC-4ED5-8856-D801AFE029F0}" type="pres">
      <dgm:prSet presAssocID="{A194564A-D83D-47A8-BA84-98403EDEEDC2}" presName="textRect" presStyleLbl="revTx" presStyleIdx="4" presStyleCnt="6" custScaleX="146297" custLinFactNeighborX="970" custLinFactNeighborY="1943">
        <dgm:presLayoutVars>
          <dgm:chMax val="1"/>
          <dgm:chPref val="1"/>
        </dgm:presLayoutVars>
      </dgm:prSet>
      <dgm:spPr/>
    </dgm:pt>
    <dgm:pt modelId="{22874E94-4EAE-4A1C-9202-0FB636A01533}" type="pres">
      <dgm:prSet presAssocID="{CDD21020-859E-42BA-807A-F9CF51818D9C}" presName="sibTrans" presStyleLbl="sibTrans2D1" presStyleIdx="0" presStyleCnt="0"/>
      <dgm:spPr/>
    </dgm:pt>
    <dgm:pt modelId="{2F46112D-ACC9-4092-AB30-801FBA3A560C}" type="pres">
      <dgm:prSet presAssocID="{40EBFEE3-2AC9-4CC7-8EBD-F6AE10CB44CA}" presName="compNode" presStyleCnt="0"/>
      <dgm:spPr/>
    </dgm:pt>
    <dgm:pt modelId="{FE4598C7-140B-431E-B79A-25DA8CA69015}" type="pres">
      <dgm:prSet presAssocID="{40EBFEE3-2AC9-4CC7-8EBD-F6AE10CB44CA}" presName="iconBgRect" presStyleLbl="bgShp" presStyleIdx="5" presStyleCnt="6" custLinFactX="44030" custLinFactNeighborX="100000" custLinFactNeighborY="-28567"/>
      <dgm:spPr/>
    </dgm:pt>
    <dgm:pt modelId="{3EC51472-C4DB-4F2F-8AF2-4ED38E116A2E}" type="pres">
      <dgm:prSet presAssocID="{40EBFEE3-2AC9-4CC7-8EBD-F6AE10CB44CA}" presName="iconRect" presStyleLbl="node1" presStyleIdx="5" presStyleCnt="6" custLinFactX="100000" custLinFactNeighborX="152180" custLinFactNeighborY="-55165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ye dropper"/>
        </a:ext>
      </dgm:extLst>
    </dgm:pt>
    <dgm:pt modelId="{1C01C275-CF98-4F8A-820C-1BC2E5922FBF}" type="pres">
      <dgm:prSet presAssocID="{40EBFEE3-2AC9-4CC7-8EBD-F6AE10CB44CA}" presName="spaceRect" presStyleCnt="0"/>
      <dgm:spPr/>
    </dgm:pt>
    <dgm:pt modelId="{4FFB782F-AEEF-4B3D-9603-8F4AC1F8CA2C}" type="pres">
      <dgm:prSet presAssocID="{40EBFEE3-2AC9-4CC7-8EBD-F6AE10CB44CA}" presName="textRect" presStyleLbl="revTx" presStyleIdx="5" presStyleCnt="6" custLinFactNeighborX="63095" custLinFactNeighborY="-25139">
        <dgm:presLayoutVars>
          <dgm:chMax val="1"/>
          <dgm:chPref val="1"/>
        </dgm:presLayoutVars>
      </dgm:prSet>
      <dgm:spPr/>
    </dgm:pt>
  </dgm:ptLst>
  <dgm:cxnLst>
    <dgm:cxn modelId="{61467C02-E6F1-4F9F-A396-557CB83D44CC}" srcId="{135500F8-F74E-4469-87CA-44227779430C}" destId="{670224AC-7A4E-4957-80AC-3801CF1B3AE9}" srcOrd="2" destOrd="0" parTransId="{BE382558-DCDC-40D3-86D0-4A65799A935F}" sibTransId="{EED7DC64-B83B-4557-888D-E2E37F3A5DA7}"/>
    <dgm:cxn modelId="{CD1CA60B-C9FF-435A-A947-2AB9FE07D79B}" srcId="{135500F8-F74E-4469-87CA-44227779430C}" destId="{A194564A-D83D-47A8-BA84-98403EDEEDC2}" srcOrd="4" destOrd="0" parTransId="{48F1D59D-699C-48CA-A734-04E607679BE1}" sibTransId="{CDD21020-859E-42BA-807A-F9CF51818D9C}"/>
    <dgm:cxn modelId="{CE30D60E-B7C7-B645-93FA-4FED2BE8315E}" type="presOf" srcId="{F6400710-56E7-46CA-9B56-0A9DCCA61BB4}" destId="{E23C0BDF-C40A-4992-A7DA-3FB917B5E22F}" srcOrd="0" destOrd="0" presId="urn:microsoft.com/office/officeart/2018/2/layout/IconCircleList"/>
    <dgm:cxn modelId="{3D8EDE22-EE0F-2C47-BF94-C95F4EDCA5B8}" type="presOf" srcId="{AFEB20B9-4915-49BB-825D-1987F403492E}" destId="{979E47D8-E150-4A49-955A-53078F982A7C}" srcOrd="0" destOrd="0" presId="urn:microsoft.com/office/officeart/2018/2/layout/IconCircleList"/>
    <dgm:cxn modelId="{F76B7953-87E8-8D49-8C38-454ABC714F5E}" type="presOf" srcId="{37DEEA8B-1D2C-446D-81EB-C19F52EA55D4}" destId="{12B15BAE-9617-4902-B968-96157AAD8B98}" srcOrd="0" destOrd="0" presId="urn:microsoft.com/office/officeart/2018/2/layout/IconCircleList"/>
    <dgm:cxn modelId="{7C887664-BEBF-4F85-B527-D27BFFF9E954}" srcId="{135500F8-F74E-4469-87CA-44227779430C}" destId="{AFEB20B9-4915-49BB-825D-1987F403492E}" srcOrd="0" destOrd="0" parTransId="{90A5B77E-DEF8-457F-9582-8ABB44AF101C}" sibTransId="{F6400710-56E7-46CA-9B56-0A9DCCA61BB4}"/>
    <dgm:cxn modelId="{43E9B183-B08E-43AB-B15E-D812A80A3B0B}" srcId="{135500F8-F74E-4469-87CA-44227779430C}" destId="{40EBFEE3-2AC9-4CC7-8EBD-F6AE10CB44CA}" srcOrd="5" destOrd="0" parTransId="{107F1388-DE38-4851-9B0B-4E815B629C1C}" sibTransId="{FFBE5196-A647-4526-92D7-302DBAB3C47F}"/>
    <dgm:cxn modelId="{EC0A1C86-01A1-584F-B9FA-71BEEA97E589}" type="presOf" srcId="{670224AC-7A4E-4957-80AC-3801CF1B3AE9}" destId="{3BAB0FB9-8EB7-4B8D-9F90-FDC85E038991}" srcOrd="0" destOrd="0" presId="urn:microsoft.com/office/officeart/2018/2/layout/IconCircleList"/>
    <dgm:cxn modelId="{37F22798-3A1D-D64B-9525-0F9657DFE969}" type="presOf" srcId="{40EBFEE3-2AC9-4CC7-8EBD-F6AE10CB44CA}" destId="{4FFB782F-AEEF-4B3D-9603-8F4AC1F8CA2C}" srcOrd="0" destOrd="0" presId="urn:microsoft.com/office/officeart/2018/2/layout/IconCircleList"/>
    <dgm:cxn modelId="{4B1F679A-3941-FA41-A017-0542E0FEC4C7}" type="presOf" srcId="{EED7DC64-B83B-4557-888D-E2E37F3A5DA7}" destId="{B928692E-B380-4938-90CA-8CD8BE7F69E4}" srcOrd="0" destOrd="0" presId="urn:microsoft.com/office/officeart/2018/2/layout/IconCircleList"/>
    <dgm:cxn modelId="{0439DCAC-771F-4E3B-B934-6C679E08BA58}" srcId="{135500F8-F74E-4469-87CA-44227779430C}" destId="{37DEEA8B-1D2C-446D-81EB-C19F52EA55D4}" srcOrd="3" destOrd="0" parTransId="{3B7BAD32-2D70-4FF1-BC01-0E889C7A49A8}" sibTransId="{42C5386E-25C3-4766-AE26-D2F08F188EF0}"/>
    <dgm:cxn modelId="{606F5BB3-E871-8F4B-B4D3-931B4CB8A221}" type="presOf" srcId="{CDD21020-859E-42BA-807A-F9CF51818D9C}" destId="{22874E94-4EAE-4A1C-9202-0FB636A01533}" srcOrd="0" destOrd="0" presId="urn:microsoft.com/office/officeart/2018/2/layout/IconCircleList"/>
    <dgm:cxn modelId="{E15F10C3-FE0E-2B41-8D90-FE0ADAC5302E}" type="presOf" srcId="{A194564A-D83D-47A8-BA84-98403EDEEDC2}" destId="{911317DB-00FC-4ED5-8856-D801AFE029F0}" srcOrd="0" destOrd="0" presId="urn:microsoft.com/office/officeart/2018/2/layout/IconCircleList"/>
    <dgm:cxn modelId="{9436A4CE-19AF-C54C-B651-C5F1288A235D}" type="presOf" srcId="{DE97090A-3C3F-4EAA-A4AD-9339C937D403}" destId="{776B3307-B974-4593-AEBF-C67FD93C4A08}" srcOrd="0" destOrd="0" presId="urn:microsoft.com/office/officeart/2018/2/layout/IconCircleList"/>
    <dgm:cxn modelId="{CE365BCF-A4EC-3549-BC41-7852D9A1FD7D}" type="presOf" srcId="{42C5386E-25C3-4766-AE26-D2F08F188EF0}" destId="{20BED399-0B85-40A1-BF02-8A93CA3BEE91}" srcOrd="0" destOrd="0" presId="urn:microsoft.com/office/officeart/2018/2/layout/IconCircleList"/>
    <dgm:cxn modelId="{86974EE4-C302-FD4C-90DA-A4701E83498F}" type="presOf" srcId="{135500F8-F74E-4469-87CA-44227779430C}" destId="{9A43F914-845B-4772-BA99-AC5BEC537A68}" srcOrd="0" destOrd="0" presId="urn:microsoft.com/office/officeart/2018/2/layout/IconCircleList"/>
    <dgm:cxn modelId="{0AA769E4-6D1A-B84D-B4C6-E4D8A2D29AAC}" type="presOf" srcId="{02B9E8EE-DC8F-4A76-8DFD-95E7F36F6595}" destId="{AC1D3240-BA4A-43EC-A7BA-C4CA09ABF74F}" srcOrd="0" destOrd="0" presId="urn:microsoft.com/office/officeart/2018/2/layout/IconCircleList"/>
    <dgm:cxn modelId="{7BFD25FC-347E-4D41-8A7B-091900D211DD}" srcId="{135500F8-F74E-4469-87CA-44227779430C}" destId="{DE97090A-3C3F-4EAA-A4AD-9339C937D403}" srcOrd="1" destOrd="0" parTransId="{1820B59F-564F-4423-ADF5-E2830F517BCF}" sibTransId="{02B9E8EE-DC8F-4A76-8DFD-95E7F36F6595}"/>
    <dgm:cxn modelId="{8194D434-87EF-D549-AE5A-5D558C3F9FC7}" type="presParOf" srcId="{9A43F914-845B-4772-BA99-AC5BEC537A68}" destId="{CB258D52-3990-419C-91FB-83F9593960AF}" srcOrd="0" destOrd="0" presId="urn:microsoft.com/office/officeart/2018/2/layout/IconCircleList"/>
    <dgm:cxn modelId="{00D3D9C0-348D-5640-8F40-1AF11698FE12}" type="presParOf" srcId="{CB258D52-3990-419C-91FB-83F9593960AF}" destId="{749A6A46-E579-4EA8-B45F-5E65A79170D9}" srcOrd="0" destOrd="0" presId="urn:microsoft.com/office/officeart/2018/2/layout/IconCircleList"/>
    <dgm:cxn modelId="{EFAB4010-0423-CE40-8411-D7CF573DA52B}" type="presParOf" srcId="{749A6A46-E579-4EA8-B45F-5E65A79170D9}" destId="{F08663AF-3C65-429A-A4DC-DD2B9DA8EEF9}" srcOrd="0" destOrd="0" presId="urn:microsoft.com/office/officeart/2018/2/layout/IconCircleList"/>
    <dgm:cxn modelId="{5BA96C5C-A248-0743-9120-159CC1C5E84B}" type="presParOf" srcId="{749A6A46-E579-4EA8-B45F-5E65A79170D9}" destId="{5B6F4924-2043-4C61-B349-A12EF0DDA7ED}" srcOrd="1" destOrd="0" presId="urn:microsoft.com/office/officeart/2018/2/layout/IconCircleList"/>
    <dgm:cxn modelId="{CA2D35A4-F7FD-964D-900B-AA82A56501EA}" type="presParOf" srcId="{749A6A46-E579-4EA8-B45F-5E65A79170D9}" destId="{6BF63FD2-60C9-4A1E-A309-E5C06043EF17}" srcOrd="2" destOrd="0" presId="urn:microsoft.com/office/officeart/2018/2/layout/IconCircleList"/>
    <dgm:cxn modelId="{32DAC6B3-CA4F-F645-A688-4CD68748006C}" type="presParOf" srcId="{749A6A46-E579-4EA8-B45F-5E65A79170D9}" destId="{979E47D8-E150-4A49-955A-53078F982A7C}" srcOrd="3" destOrd="0" presId="urn:microsoft.com/office/officeart/2018/2/layout/IconCircleList"/>
    <dgm:cxn modelId="{854C6585-E1ED-2C43-84A1-96069D653F84}" type="presParOf" srcId="{CB258D52-3990-419C-91FB-83F9593960AF}" destId="{E23C0BDF-C40A-4992-A7DA-3FB917B5E22F}" srcOrd="1" destOrd="0" presId="urn:microsoft.com/office/officeart/2018/2/layout/IconCircleList"/>
    <dgm:cxn modelId="{B9FE61F5-517F-034D-8540-1B295EE7B183}" type="presParOf" srcId="{CB258D52-3990-419C-91FB-83F9593960AF}" destId="{8661E1BF-61BC-4AEF-89DB-DDE8BBB47CF8}" srcOrd="2" destOrd="0" presId="urn:microsoft.com/office/officeart/2018/2/layout/IconCircleList"/>
    <dgm:cxn modelId="{38B94730-582A-1942-8013-73B9DECA8A4D}" type="presParOf" srcId="{8661E1BF-61BC-4AEF-89DB-DDE8BBB47CF8}" destId="{09F5F0F4-9303-49E7-BB2F-C6CE88C2BF55}" srcOrd="0" destOrd="0" presId="urn:microsoft.com/office/officeart/2018/2/layout/IconCircleList"/>
    <dgm:cxn modelId="{17B77283-B6FC-A747-B386-48AE2A18C9B2}" type="presParOf" srcId="{8661E1BF-61BC-4AEF-89DB-DDE8BBB47CF8}" destId="{AE2118EF-2FB7-4B37-9323-89D0571304BA}" srcOrd="1" destOrd="0" presId="urn:microsoft.com/office/officeart/2018/2/layout/IconCircleList"/>
    <dgm:cxn modelId="{E5C16A99-F024-B54F-9E1A-5D3D15971C98}" type="presParOf" srcId="{8661E1BF-61BC-4AEF-89DB-DDE8BBB47CF8}" destId="{158BBCF2-0B1A-43EE-95E0-6ACE509D4F0E}" srcOrd="2" destOrd="0" presId="urn:microsoft.com/office/officeart/2018/2/layout/IconCircleList"/>
    <dgm:cxn modelId="{B64D083A-9D44-0A45-A834-AD1F0F3DA158}" type="presParOf" srcId="{8661E1BF-61BC-4AEF-89DB-DDE8BBB47CF8}" destId="{776B3307-B974-4593-AEBF-C67FD93C4A08}" srcOrd="3" destOrd="0" presId="urn:microsoft.com/office/officeart/2018/2/layout/IconCircleList"/>
    <dgm:cxn modelId="{927698C1-15E7-984C-9035-EE674CDDDD85}" type="presParOf" srcId="{CB258D52-3990-419C-91FB-83F9593960AF}" destId="{AC1D3240-BA4A-43EC-A7BA-C4CA09ABF74F}" srcOrd="3" destOrd="0" presId="urn:microsoft.com/office/officeart/2018/2/layout/IconCircleList"/>
    <dgm:cxn modelId="{3FF0FADC-7DE3-9C45-BD03-FDED0F3DFD65}" type="presParOf" srcId="{CB258D52-3990-419C-91FB-83F9593960AF}" destId="{BCA43406-725E-4DF1-8FB9-33D92750B258}" srcOrd="4" destOrd="0" presId="urn:microsoft.com/office/officeart/2018/2/layout/IconCircleList"/>
    <dgm:cxn modelId="{133618B1-AD1F-464F-A893-EF238BFF3325}" type="presParOf" srcId="{BCA43406-725E-4DF1-8FB9-33D92750B258}" destId="{7E64835E-7129-4785-827C-03289F997967}" srcOrd="0" destOrd="0" presId="urn:microsoft.com/office/officeart/2018/2/layout/IconCircleList"/>
    <dgm:cxn modelId="{90E39179-D8AF-A246-A7E8-DF3C7F1DAA5B}" type="presParOf" srcId="{BCA43406-725E-4DF1-8FB9-33D92750B258}" destId="{1B0A7DA3-7AE3-40FC-9D61-8AA73C8E245C}" srcOrd="1" destOrd="0" presId="urn:microsoft.com/office/officeart/2018/2/layout/IconCircleList"/>
    <dgm:cxn modelId="{238CCC0B-5FDC-8B4C-AAF1-9B92BD242532}" type="presParOf" srcId="{BCA43406-725E-4DF1-8FB9-33D92750B258}" destId="{3A715AAF-154B-4080-8004-DA5713BA75B1}" srcOrd="2" destOrd="0" presId="urn:microsoft.com/office/officeart/2018/2/layout/IconCircleList"/>
    <dgm:cxn modelId="{75035C33-4F9E-654E-864D-32A7531D9518}" type="presParOf" srcId="{BCA43406-725E-4DF1-8FB9-33D92750B258}" destId="{3BAB0FB9-8EB7-4B8D-9F90-FDC85E038991}" srcOrd="3" destOrd="0" presId="urn:microsoft.com/office/officeart/2018/2/layout/IconCircleList"/>
    <dgm:cxn modelId="{D0AB0194-9F77-6F4A-98CF-1FA7224A3AB1}" type="presParOf" srcId="{CB258D52-3990-419C-91FB-83F9593960AF}" destId="{B928692E-B380-4938-90CA-8CD8BE7F69E4}" srcOrd="5" destOrd="0" presId="urn:microsoft.com/office/officeart/2018/2/layout/IconCircleList"/>
    <dgm:cxn modelId="{80FCFA10-9120-7241-85C3-45D29169A546}" type="presParOf" srcId="{CB258D52-3990-419C-91FB-83F9593960AF}" destId="{F9D8CF64-97E7-404F-A1C8-C6BC97255672}" srcOrd="6" destOrd="0" presId="urn:microsoft.com/office/officeart/2018/2/layout/IconCircleList"/>
    <dgm:cxn modelId="{9C96C4D7-5F4A-8744-8A2F-3713A854C59C}" type="presParOf" srcId="{F9D8CF64-97E7-404F-A1C8-C6BC97255672}" destId="{22E2A02A-691D-4D6B-9BE1-0F176F398F03}" srcOrd="0" destOrd="0" presId="urn:microsoft.com/office/officeart/2018/2/layout/IconCircleList"/>
    <dgm:cxn modelId="{1481591C-D5A8-B141-9032-AEC5BE42A21F}" type="presParOf" srcId="{F9D8CF64-97E7-404F-A1C8-C6BC97255672}" destId="{B3FEFBF5-DAD2-48E5-91C6-AF8AE1398F09}" srcOrd="1" destOrd="0" presId="urn:microsoft.com/office/officeart/2018/2/layout/IconCircleList"/>
    <dgm:cxn modelId="{CF1201D7-77F9-134B-B6E4-C8ECD5C8463F}" type="presParOf" srcId="{F9D8CF64-97E7-404F-A1C8-C6BC97255672}" destId="{172F4949-59AF-42EF-903C-054061BEA751}" srcOrd="2" destOrd="0" presId="urn:microsoft.com/office/officeart/2018/2/layout/IconCircleList"/>
    <dgm:cxn modelId="{2062C9D6-6FA8-6E42-85F0-F09D61FB2ACD}" type="presParOf" srcId="{F9D8CF64-97E7-404F-A1C8-C6BC97255672}" destId="{12B15BAE-9617-4902-B968-96157AAD8B98}" srcOrd="3" destOrd="0" presId="urn:microsoft.com/office/officeart/2018/2/layout/IconCircleList"/>
    <dgm:cxn modelId="{423A933B-5BEE-EE45-990B-C69C0910A60B}" type="presParOf" srcId="{CB258D52-3990-419C-91FB-83F9593960AF}" destId="{20BED399-0B85-40A1-BF02-8A93CA3BEE91}" srcOrd="7" destOrd="0" presId="urn:microsoft.com/office/officeart/2018/2/layout/IconCircleList"/>
    <dgm:cxn modelId="{7E953248-CBE9-E840-AD66-FF8EBECA1133}" type="presParOf" srcId="{CB258D52-3990-419C-91FB-83F9593960AF}" destId="{03C03E61-7BD0-4A5A-90A0-6372F4B22F6C}" srcOrd="8" destOrd="0" presId="urn:microsoft.com/office/officeart/2018/2/layout/IconCircleList"/>
    <dgm:cxn modelId="{41CDE04F-BED4-2041-B2E0-0F7EF5D8E1F4}" type="presParOf" srcId="{03C03E61-7BD0-4A5A-90A0-6372F4B22F6C}" destId="{67FCF2C8-E2F4-45E2-9CFC-96D9FFDA04D9}" srcOrd="0" destOrd="0" presId="urn:microsoft.com/office/officeart/2018/2/layout/IconCircleList"/>
    <dgm:cxn modelId="{08D839C5-526B-4D4B-9C4B-454EE3BA7BE7}" type="presParOf" srcId="{03C03E61-7BD0-4A5A-90A0-6372F4B22F6C}" destId="{FDF3AEB9-EBF0-4A16-941C-E4C1B3B893EA}" srcOrd="1" destOrd="0" presId="urn:microsoft.com/office/officeart/2018/2/layout/IconCircleList"/>
    <dgm:cxn modelId="{29F64237-1DE8-3841-895C-17A573322C17}" type="presParOf" srcId="{03C03E61-7BD0-4A5A-90A0-6372F4B22F6C}" destId="{062A454D-D169-4E82-96A8-A0087BB48ECF}" srcOrd="2" destOrd="0" presId="urn:microsoft.com/office/officeart/2018/2/layout/IconCircleList"/>
    <dgm:cxn modelId="{82BADC49-398E-1C4D-9A5A-E4BE3AC6C3C5}" type="presParOf" srcId="{03C03E61-7BD0-4A5A-90A0-6372F4B22F6C}" destId="{911317DB-00FC-4ED5-8856-D801AFE029F0}" srcOrd="3" destOrd="0" presId="urn:microsoft.com/office/officeart/2018/2/layout/IconCircleList"/>
    <dgm:cxn modelId="{686D1AED-AD2E-A440-BE3C-E40A6695E0D9}" type="presParOf" srcId="{CB258D52-3990-419C-91FB-83F9593960AF}" destId="{22874E94-4EAE-4A1C-9202-0FB636A01533}" srcOrd="9" destOrd="0" presId="urn:microsoft.com/office/officeart/2018/2/layout/IconCircleList"/>
    <dgm:cxn modelId="{DBF48994-A94E-C646-86C0-A73CB4B8EF9A}" type="presParOf" srcId="{CB258D52-3990-419C-91FB-83F9593960AF}" destId="{2F46112D-ACC9-4092-AB30-801FBA3A560C}" srcOrd="10" destOrd="0" presId="urn:microsoft.com/office/officeart/2018/2/layout/IconCircleList"/>
    <dgm:cxn modelId="{08B42B62-31EE-0D43-93C3-A19BD243F461}" type="presParOf" srcId="{2F46112D-ACC9-4092-AB30-801FBA3A560C}" destId="{FE4598C7-140B-431E-B79A-25DA8CA69015}" srcOrd="0" destOrd="0" presId="urn:microsoft.com/office/officeart/2018/2/layout/IconCircleList"/>
    <dgm:cxn modelId="{867AFB38-206B-0E48-ABA0-9A3C55762487}" type="presParOf" srcId="{2F46112D-ACC9-4092-AB30-801FBA3A560C}" destId="{3EC51472-C4DB-4F2F-8AF2-4ED38E116A2E}" srcOrd="1" destOrd="0" presId="urn:microsoft.com/office/officeart/2018/2/layout/IconCircleList"/>
    <dgm:cxn modelId="{A06D6654-8F6D-A44B-AEDB-EE80637684B7}" type="presParOf" srcId="{2F46112D-ACC9-4092-AB30-801FBA3A560C}" destId="{1C01C275-CF98-4F8A-820C-1BC2E5922FBF}" srcOrd="2" destOrd="0" presId="urn:microsoft.com/office/officeart/2018/2/layout/IconCircleList"/>
    <dgm:cxn modelId="{D45CF19C-E5DE-0D4B-8480-69BD10BA9404}" type="presParOf" srcId="{2F46112D-ACC9-4092-AB30-801FBA3A560C}" destId="{4FFB782F-AEEF-4B3D-9603-8F4AC1F8CA2C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A0250482-A4F0-4D67-8716-859BCAF3B40E}" type="doc">
      <dgm:prSet loTypeId="urn:microsoft.com/office/officeart/2005/8/layout/vProcess5" loCatId="process" qsTypeId="urn:microsoft.com/office/officeart/2005/8/quickstyle/simple2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63C85AF4-5694-4077-A1D0-62DE05F554B9}">
      <dgm:prSet custT="1"/>
      <dgm:spPr/>
      <dgm:t>
        <a:bodyPr/>
        <a:lstStyle/>
        <a:p>
          <a:r>
            <a:rPr lang="en-US" sz="2200" b="0" dirty="0">
              <a:latin typeface="Times New Roman" panose="02020603050405020304" pitchFamily="18" charset="0"/>
              <a:cs typeface="Times New Roman" panose="02020603050405020304" pitchFamily="18" charset="0"/>
            </a:rPr>
            <a:t>VIX and TLT/SPY emerged as the strongest predictors.</a:t>
          </a:r>
        </a:p>
      </dgm:t>
    </dgm:pt>
    <dgm:pt modelId="{F5F9977F-A203-439D-88A7-181808A4200E}" type="parTrans" cxnId="{13017198-5BF8-40C9-B022-5F52136C6766}">
      <dgm:prSet/>
      <dgm:spPr/>
      <dgm:t>
        <a:bodyPr/>
        <a:lstStyle/>
        <a:p>
          <a:endParaRPr lang="en-US"/>
        </a:p>
      </dgm:t>
    </dgm:pt>
    <dgm:pt modelId="{D0824BC3-DD5E-4840-8EB7-9518353B0872}" type="sibTrans" cxnId="{13017198-5BF8-40C9-B022-5F52136C6766}">
      <dgm:prSet/>
      <dgm:spPr/>
      <dgm:t>
        <a:bodyPr/>
        <a:lstStyle/>
        <a:p>
          <a:endParaRPr lang="en-US"/>
        </a:p>
      </dgm:t>
    </dgm:pt>
    <dgm:pt modelId="{1F87F2EF-79EB-441D-A6F4-7A27E279B6ED}">
      <dgm:prSet custT="1"/>
      <dgm:spPr/>
      <dgm:t>
        <a:bodyPr/>
        <a:lstStyle/>
        <a:p>
          <a:r>
            <a:rPr lang="en-US" sz="2200" b="0">
              <a:latin typeface="Times New Roman" panose="02020603050405020304" pitchFamily="18" charset="0"/>
              <a:cs typeface="Times New Roman" panose="02020603050405020304" pitchFamily="18" charset="0"/>
            </a:rPr>
            <a:t>Yield curve added a slow-moving recession signal.</a:t>
          </a:r>
        </a:p>
      </dgm:t>
    </dgm:pt>
    <dgm:pt modelId="{A4B71E05-6E73-4F55-986B-6E1EB6D98A99}" type="parTrans" cxnId="{E5355EA2-5B40-496C-851A-19F105E70537}">
      <dgm:prSet/>
      <dgm:spPr/>
      <dgm:t>
        <a:bodyPr/>
        <a:lstStyle/>
        <a:p>
          <a:endParaRPr lang="en-US"/>
        </a:p>
      </dgm:t>
    </dgm:pt>
    <dgm:pt modelId="{F071F9C9-120A-41EE-835F-9CE3A0CF9069}" type="sibTrans" cxnId="{E5355EA2-5B40-496C-851A-19F105E70537}">
      <dgm:prSet/>
      <dgm:spPr/>
      <dgm:t>
        <a:bodyPr/>
        <a:lstStyle/>
        <a:p>
          <a:endParaRPr lang="en-US"/>
        </a:p>
      </dgm:t>
    </dgm:pt>
    <dgm:pt modelId="{56F2D615-05D6-4A9D-BF13-65ABDB1FEDBA}">
      <dgm:prSet custT="1"/>
      <dgm:spPr/>
      <dgm:t>
        <a:bodyPr/>
        <a:lstStyle/>
        <a:p>
          <a:r>
            <a:rPr lang="en-US" sz="2200" b="0" dirty="0">
              <a:latin typeface="Times New Roman" panose="02020603050405020304" pitchFamily="18" charset="0"/>
              <a:cs typeface="Times New Roman" panose="02020603050405020304" pitchFamily="18" charset="0"/>
            </a:rPr>
            <a:t>Models struggled with rare bear periods due to class imbalance.</a:t>
          </a:r>
        </a:p>
      </dgm:t>
    </dgm:pt>
    <dgm:pt modelId="{C2331A2D-A9CB-4781-A57A-6938233487E2}" type="parTrans" cxnId="{6DC22C19-4674-4A72-9234-9C8B3E86DC43}">
      <dgm:prSet/>
      <dgm:spPr/>
      <dgm:t>
        <a:bodyPr/>
        <a:lstStyle/>
        <a:p>
          <a:endParaRPr lang="en-US"/>
        </a:p>
      </dgm:t>
    </dgm:pt>
    <dgm:pt modelId="{523019E1-70A0-4415-A01F-C0003EEAC6DF}" type="sibTrans" cxnId="{6DC22C19-4674-4A72-9234-9C8B3E86DC43}">
      <dgm:prSet/>
      <dgm:spPr/>
      <dgm:t>
        <a:bodyPr/>
        <a:lstStyle/>
        <a:p>
          <a:endParaRPr lang="en-US"/>
        </a:p>
      </dgm:t>
    </dgm:pt>
    <dgm:pt modelId="{99F8FCF8-5422-4D2E-B3F5-E6AD5920F8EA}">
      <dgm:prSet custT="1"/>
      <dgm:spPr/>
      <dgm:t>
        <a:bodyPr/>
        <a:lstStyle/>
        <a:p>
          <a:r>
            <a:rPr lang="en-US" sz="2200" b="0" dirty="0">
              <a:latin typeface="Times New Roman" panose="02020603050405020304" pitchFamily="18" charset="0"/>
              <a:cs typeface="Times New Roman" panose="02020603050405020304" pitchFamily="18" charset="0"/>
            </a:rPr>
            <a:t>Out-of-sample testing (2020–2025) confirmed model stability in volatile markets</a:t>
          </a:r>
        </a:p>
      </dgm:t>
    </dgm:pt>
    <dgm:pt modelId="{84D33AB9-4A8E-4337-B2BB-327EEAE06019}" type="parTrans" cxnId="{0D17F0AB-EB16-4EF8-8001-E0891F3A7A95}">
      <dgm:prSet/>
      <dgm:spPr/>
      <dgm:t>
        <a:bodyPr/>
        <a:lstStyle/>
        <a:p>
          <a:endParaRPr lang="en-US"/>
        </a:p>
      </dgm:t>
    </dgm:pt>
    <dgm:pt modelId="{83F4836F-F436-4C16-B49A-E0C60CB4380E}" type="sibTrans" cxnId="{0D17F0AB-EB16-4EF8-8001-E0891F3A7A95}">
      <dgm:prSet/>
      <dgm:spPr/>
      <dgm:t>
        <a:bodyPr/>
        <a:lstStyle/>
        <a:p>
          <a:endParaRPr lang="en-US"/>
        </a:p>
      </dgm:t>
    </dgm:pt>
    <dgm:pt modelId="{D4CE68E7-9D2A-E349-A41B-B6CC4BCA2EB1}" type="pres">
      <dgm:prSet presAssocID="{A0250482-A4F0-4D67-8716-859BCAF3B40E}" presName="outerComposite" presStyleCnt="0">
        <dgm:presLayoutVars>
          <dgm:chMax val="5"/>
          <dgm:dir/>
          <dgm:resizeHandles val="exact"/>
        </dgm:presLayoutVars>
      </dgm:prSet>
      <dgm:spPr/>
    </dgm:pt>
    <dgm:pt modelId="{06E3C522-7459-6B4A-AE9B-8BAA55CA7BC9}" type="pres">
      <dgm:prSet presAssocID="{A0250482-A4F0-4D67-8716-859BCAF3B40E}" presName="dummyMaxCanvas" presStyleCnt="0">
        <dgm:presLayoutVars/>
      </dgm:prSet>
      <dgm:spPr/>
    </dgm:pt>
    <dgm:pt modelId="{A86153FC-8777-2E4F-914B-A98ED8B3BF2A}" type="pres">
      <dgm:prSet presAssocID="{A0250482-A4F0-4D67-8716-859BCAF3B40E}" presName="FourNodes_1" presStyleLbl="node1" presStyleIdx="0" presStyleCnt="4">
        <dgm:presLayoutVars>
          <dgm:bulletEnabled val="1"/>
        </dgm:presLayoutVars>
      </dgm:prSet>
      <dgm:spPr/>
    </dgm:pt>
    <dgm:pt modelId="{045F8AD3-6007-0349-8080-95AE37A4787E}" type="pres">
      <dgm:prSet presAssocID="{A0250482-A4F0-4D67-8716-859BCAF3B40E}" presName="FourNodes_2" presStyleLbl="node1" presStyleIdx="1" presStyleCnt="4">
        <dgm:presLayoutVars>
          <dgm:bulletEnabled val="1"/>
        </dgm:presLayoutVars>
      </dgm:prSet>
      <dgm:spPr/>
    </dgm:pt>
    <dgm:pt modelId="{CA4C45B0-5E56-E44B-B4E4-AD02C72DE7AC}" type="pres">
      <dgm:prSet presAssocID="{A0250482-A4F0-4D67-8716-859BCAF3B40E}" presName="FourNodes_3" presStyleLbl="node1" presStyleIdx="2" presStyleCnt="4">
        <dgm:presLayoutVars>
          <dgm:bulletEnabled val="1"/>
        </dgm:presLayoutVars>
      </dgm:prSet>
      <dgm:spPr/>
    </dgm:pt>
    <dgm:pt modelId="{9F4A786E-1DE0-2948-97B7-BB8019C0A880}" type="pres">
      <dgm:prSet presAssocID="{A0250482-A4F0-4D67-8716-859BCAF3B40E}" presName="FourNodes_4" presStyleLbl="node1" presStyleIdx="3" presStyleCnt="4">
        <dgm:presLayoutVars>
          <dgm:bulletEnabled val="1"/>
        </dgm:presLayoutVars>
      </dgm:prSet>
      <dgm:spPr/>
    </dgm:pt>
    <dgm:pt modelId="{4F8EC8A3-3F0C-7546-8E0A-33C93AF6164F}" type="pres">
      <dgm:prSet presAssocID="{A0250482-A4F0-4D67-8716-859BCAF3B40E}" presName="FourConn_1-2" presStyleLbl="fgAccFollowNode1" presStyleIdx="0" presStyleCnt="3">
        <dgm:presLayoutVars>
          <dgm:bulletEnabled val="1"/>
        </dgm:presLayoutVars>
      </dgm:prSet>
      <dgm:spPr/>
    </dgm:pt>
    <dgm:pt modelId="{8658564D-4098-3B47-BFE0-530A6A3B296E}" type="pres">
      <dgm:prSet presAssocID="{A0250482-A4F0-4D67-8716-859BCAF3B40E}" presName="FourConn_2-3" presStyleLbl="fgAccFollowNode1" presStyleIdx="1" presStyleCnt="3">
        <dgm:presLayoutVars>
          <dgm:bulletEnabled val="1"/>
        </dgm:presLayoutVars>
      </dgm:prSet>
      <dgm:spPr/>
    </dgm:pt>
    <dgm:pt modelId="{05BBA013-351C-4344-BA9B-B979061F0A80}" type="pres">
      <dgm:prSet presAssocID="{A0250482-A4F0-4D67-8716-859BCAF3B40E}" presName="FourConn_3-4" presStyleLbl="fgAccFollowNode1" presStyleIdx="2" presStyleCnt="3">
        <dgm:presLayoutVars>
          <dgm:bulletEnabled val="1"/>
        </dgm:presLayoutVars>
      </dgm:prSet>
      <dgm:spPr/>
    </dgm:pt>
    <dgm:pt modelId="{06A5F5D3-A4BE-0F44-939E-6CD59975023E}" type="pres">
      <dgm:prSet presAssocID="{A0250482-A4F0-4D67-8716-859BCAF3B40E}" presName="FourNodes_1_text" presStyleLbl="node1" presStyleIdx="3" presStyleCnt="4">
        <dgm:presLayoutVars>
          <dgm:bulletEnabled val="1"/>
        </dgm:presLayoutVars>
      </dgm:prSet>
      <dgm:spPr/>
    </dgm:pt>
    <dgm:pt modelId="{BEE1B5D8-D18E-874E-BD07-7B178A03A070}" type="pres">
      <dgm:prSet presAssocID="{A0250482-A4F0-4D67-8716-859BCAF3B40E}" presName="FourNodes_2_text" presStyleLbl="node1" presStyleIdx="3" presStyleCnt="4">
        <dgm:presLayoutVars>
          <dgm:bulletEnabled val="1"/>
        </dgm:presLayoutVars>
      </dgm:prSet>
      <dgm:spPr/>
    </dgm:pt>
    <dgm:pt modelId="{4A348D97-9C15-0F4E-8616-EC5903886A0D}" type="pres">
      <dgm:prSet presAssocID="{A0250482-A4F0-4D67-8716-859BCAF3B40E}" presName="FourNodes_3_text" presStyleLbl="node1" presStyleIdx="3" presStyleCnt="4">
        <dgm:presLayoutVars>
          <dgm:bulletEnabled val="1"/>
        </dgm:presLayoutVars>
      </dgm:prSet>
      <dgm:spPr/>
    </dgm:pt>
    <dgm:pt modelId="{49628E3B-75C2-934D-9C0D-78A0ECA05C03}" type="pres">
      <dgm:prSet presAssocID="{A0250482-A4F0-4D67-8716-859BCAF3B40E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E0A81004-A931-D843-8912-9C11453B83D6}" type="presOf" srcId="{99F8FCF8-5422-4D2E-B3F5-E6AD5920F8EA}" destId="{49628E3B-75C2-934D-9C0D-78A0ECA05C03}" srcOrd="1" destOrd="0" presId="urn:microsoft.com/office/officeart/2005/8/layout/vProcess5"/>
    <dgm:cxn modelId="{6A941209-AE53-FD49-8DDF-842E91903938}" type="presOf" srcId="{63C85AF4-5694-4077-A1D0-62DE05F554B9}" destId="{06A5F5D3-A4BE-0F44-939E-6CD59975023E}" srcOrd="1" destOrd="0" presId="urn:microsoft.com/office/officeart/2005/8/layout/vProcess5"/>
    <dgm:cxn modelId="{9DC2C70E-B002-634D-AF25-25BD07539ADE}" type="presOf" srcId="{A0250482-A4F0-4D67-8716-859BCAF3B40E}" destId="{D4CE68E7-9D2A-E349-A41B-B6CC4BCA2EB1}" srcOrd="0" destOrd="0" presId="urn:microsoft.com/office/officeart/2005/8/layout/vProcess5"/>
    <dgm:cxn modelId="{6DC22C19-4674-4A72-9234-9C8B3E86DC43}" srcId="{A0250482-A4F0-4D67-8716-859BCAF3B40E}" destId="{56F2D615-05D6-4A9D-BF13-65ABDB1FEDBA}" srcOrd="2" destOrd="0" parTransId="{C2331A2D-A9CB-4781-A57A-6938233487E2}" sibTransId="{523019E1-70A0-4415-A01F-C0003EEAC6DF}"/>
    <dgm:cxn modelId="{559CFD19-31B3-124C-B3B5-EC5CC56164BD}" type="presOf" srcId="{F071F9C9-120A-41EE-835F-9CE3A0CF9069}" destId="{8658564D-4098-3B47-BFE0-530A6A3B296E}" srcOrd="0" destOrd="0" presId="urn:microsoft.com/office/officeart/2005/8/layout/vProcess5"/>
    <dgm:cxn modelId="{C9C87820-3845-4345-B5BE-682FF655AB00}" type="presOf" srcId="{D0824BC3-DD5E-4840-8EB7-9518353B0872}" destId="{4F8EC8A3-3F0C-7546-8E0A-33C93AF6164F}" srcOrd="0" destOrd="0" presId="urn:microsoft.com/office/officeart/2005/8/layout/vProcess5"/>
    <dgm:cxn modelId="{73F58323-4646-EA45-A392-974F06AF35A8}" type="presOf" srcId="{63C85AF4-5694-4077-A1D0-62DE05F554B9}" destId="{A86153FC-8777-2E4F-914B-A98ED8B3BF2A}" srcOrd="0" destOrd="0" presId="urn:microsoft.com/office/officeart/2005/8/layout/vProcess5"/>
    <dgm:cxn modelId="{43A16B36-F0C4-3E4B-8A28-407076B21FCE}" type="presOf" srcId="{56F2D615-05D6-4A9D-BF13-65ABDB1FEDBA}" destId="{4A348D97-9C15-0F4E-8616-EC5903886A0D}" srcOrd="1" destOrd="0" presId="urn:microsoft.com/office/officeart/2005/8/layout/vProcess5"/>
    <dgm:cxn modelId="{4306BB4A-A547-D442-A6D5-12E7B69BC3AA}" type="presOf" srcId="{56F2D615-05D6-4A9D-BF13-65ABDB1FEDBA}" destId="{CA4C45B0-5E56-E44B-B4E4-AD02C72DE7AC}" srcOrd="0" destOrd="0" presId="urn:microsoft.com/office/officeart/2005/8/layout/vProcess5"/>
    <dgm:cxn modelId="{C313CA82-5989-AF44-BF52-C71C89113EFA}" type="presOf" srcId="{523019E1-70A0-4415-A01F-C0003EEAC6DF}" destId="{05BBA013-351C-4344-BA9B-B979061F0A80}" srcOrd="0" destOrd="0" presId="urn:microsoft.com/office/officeart/2005/8/layout/vProcess5"/>
    <dgm:cxn modelId="{64278890-97D0-AD45-B12F-B9E09C263C2D}" type="presOf" srcId="{1F87F2EF-79EB-441D-A6F4-7A27E279B6ED}" destId="{BEE1B5D8-D18E-874E-BD07-7B178A03A070}" srcOrd="1" destOrd="0" presId="urn:microsoft.com/office/officeart/2005/8/layout/vProcess5"/>
    <dgm:cxn modelId="{13017198-5BF8-40C9-B022-5F52136C6766}" srcId="{A0250482-A4F0-4D67-8716-859BCAF3B40E}" destId="{63C85AF4-5694-4077-A1D0-62DE05F554B9}" srcOrd="0" destOrd="0" parTransId="{F5F9977F-A203-439D-88A7-181808A4200E}" sibTransId="{D0824BC3-DD5E-4840-8EB7-9518353B0872}"/>
    <dgm:cxn modelId="{E5355EA2-5B40-496C-851A-19F105E70537}" srcId="{A0250482-A4F0-4D67-8716-859BCAF3B40E}" destId="{1F87F2EF-79EB-441D-A6F4-7A27E279B6ED}" srcOrd="1" destOrd="0" parTransId="{A4B71E05-6E73-4F55-986B-6E1EB6D98A99}" sibTransId="{F071F9C9-120A-41EE-835F-9CE3A0CF9069}"/>
    <dgm:cxn modelId="{0D17F0AB-EB16-4EF8-8001-E0891F3A7A95}" srcId="{A0250482-A4F0-4D67-8716-859BCAF3B40E}" destId="{99F8FCF8-5422-4D2E-B3F5-E6AD5920F8EA}" srcOrd="3" destOrd="0" parTransId="{84D33AB9-4A8E-4337-B2BB-327EEAE06019}" sibTransId="{83F4836F-F436-4C16-B49A-E0C60CB4380E}"/>
    <dgm:cxn modelId="{8FC5ECB0-3BAE-5245-ADD4-3944C7E0F687}" type="presOf" srcId="{99F8FCF8-5422-4D2E-B3F5-E6AD5920F8EA}" destId="{9F4A786E-1DE0-2948-97B7-BB8019C0A880}" srcOrd="0" destOrd="0" presId="urn:microsoft.com/office/officeart/2005/8/layout/vProcess5"/>
    <dgm:cxn modelId="{99C6A3CF-02D7-A44A-86B1-78D23D4964CE}" type="presOf" srcId="{1F87F2EF-79EB-441D-A6F4-7A27E279B6ED}" destId="{045F8AD3-6007-0349-8080-95AE37A4787E}" srcOrd="0" destOrd="0" presId="urn:microsoft.com/office/officeart/2005/8/layout/vProcess5"/>
    <dgm:cxn modelId="{894A6A64-486E-E946-8867-A51513B33FF1}" type="presParOf" srcId="{D4CE68E7-9D2A-E349-A41B-B6CC4BCA2EB1}" destId="{06E3C522-7459-6B4A-AE9B-8BAA55CA7BC9}" srcOrd="0" destOrd="0" presId="urn:microsoft.com/office/officeart/2005/8/layout/vProcess5"/>
    <dgm:cxn modelId="{DB25661E-6E9E-0846-81BD-4F9563349F1C}" type="presParOf" srcId="{D4CE68E7-9D2A-E349-A41B-B6CC4BCA2EB1}" destId="{A86153FC-8777-2E4F-914B-A98ED8B3BF2A}" srcOrd="1" destOrd="0" presId="urn:microsoft.com/office/officeart/2005/8/layout/vProcess5"/>
    <dgm:cxn modelId="{4F41D5C5-12E9-4148-882E-A79E26DF4E6F}" type="presParOf" srcId="{D4CE68E7-9D2A-E349-A41B-B6CC4BCA2EB1}" destId="{045F8AD3-6007-0349-8080-95AE37A4787E}" srcOrd="2" destOrd="0" presId="urn:microsoft.com/office/officeart/2005/8/layout/vProcess5"/>
    <dgm:cxn modelId="{E5210E85-413B-E44B-AE6C-4414D261CF26}" type="presParOf" srcId="{D4CE68E7-9D2A-E349-A41B-B6CC4BCA2EB1}" destId="{CA4C45B0-5E56-E44B-B4E4-AD02C72DE7AC}" srcOrd="3" destOrd="0" presId="urn:microsoft.com/office/officeart/2005/8/layout/vProcess5"/>
    <dgm:cxn modelId="{E6D003E8-40CE-2846-AD01-A26304FDA4A1}" type="presParOf" srcId="{D4CE68E7-9D2A-E349-A41B-B6CC4BCA2EB1}" destId="{9F4A786E-1DE0-2948-97B7-BB8019C0A880}" srcOrd="4" destOrd="0" presId="urn:microsoft.com/office/officeart/2005/8/layout/vProcess5"/>
    <dgm:cxn modelId="{B178CE4F-99BD-9C4E-9920-D30647CCCB65}" type="presParOf" srcId="{D4CE68E7-9D2A-E349-A41B-B6CC4BCA2EB1}" destId="{4F8EC8A3-3F0C-7546-8E0A-33C93AF6164F}" srcOrd="5" destOrd="0" presId="urn:microsoft.com/office/officeart/2005/8/layout/vProcess5"/>
    <dgm:cxn modelId="{55BD76A3-DF25-1744-AE08-BD9E3A707250}" type="presParOf" srcId="{D4CE68E7-9D2A-E349-A41B-B6CC4BCA2EB1}" destId="{8658564D-4098-3B47-BFE0-530A6A3B296E}" srcOrd="6" destOrd="0" presId="urn:microsoft.com/office/officeart/2005/8/layout/vProcess5"/>
    <dgm:cxn modelId="{E443F293-8B77-404A-9B5C-16F4B4999A74}" type="presParOf" srcId="{D4CE68E7-9D2A-E349-A41B-B6CC4BCA2EB1}" destId="{05BBA013-351C-4344-BA9B-B979061F0A80}" srcOrd="7" destOrd="0" presId="urn:microsoft.com/office/officeart/2005/8/layout/vProcess5"/>
    <dgm:cxn modelId="{55F6D3A2-C47C-AA46-9CE2-D5A78B35400C}" type="presParOf" srcId="{D4CE68E7-9D2A-E349-A41B-B6CC4BCA2EB1}" destId="{06A5F5D3-A4BE-0F44-939E-6CD59975023E}" srcOrd="8" destOrd="0" presId="urn:microsoft.com/office/officeart/2005/8/layout/vProcess5"/>
    <dgm:cxn modelId="{822AB62D-04D5-4249-810C-21D85ED47713}" type="presParOf" srcId="{D4CE68E7-9D2A-E349-A41B-B6CC4BCA2EB1}" destId="{BEE1B5D8-D18E-874E-BD07-7B178A03A070}" srcOrd="9" destOrd="0" presId="urn:microsoft.com/office/officeart/2005/8/layout/vProcess5"/>
    <dgm:cxn modelId="{389A7168-9E2A-994E-9D13-9FE7F64E930B}" type="presParOf" srcId="{D4CE68E7-9D2A-E349-A41B-B6CC4BCA2EB1}" destId="{4A348D97-9C15-0F4E-8616-EC5903886A0D}" srcOrd="10" destOrd="0" presId="urn:microsoft.com/office/officeart/2005/8/layout/vProcess5"/>
    <dgm:cxn modelId="{6A425029-253B-8141-BFF7-8BABF1EF3633}" type="presParOf" srcId="{D4CE68E7-9D2A-E349-A41B-B6CC4BCA2EB1}" destId="{49628E3B-75C2-934D-9C0D-78A0ECA05C03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3A63D951-282D-4465-8506-21EEC4D37C58}" type="doc">
      <dgm:prSet loTypeId="urn:microsoft.com/office/officeart/2005/8/layout/default" loCatId="list" qsTypeId="urn:microsoft.com/office/officeart/2005/8/quickstyle/simple4" qsCatId="simple" csTypeId="urn:microsoft.com/office/officeart/2005/8/colors/accent2_5" csCatId="accent2" phldr="1"/>
      <dgm:spPr/>
      <dgm:t>
        <a:bodyPr/>
        <a:lstStyle/>
        <a:p>
          <a:endParaRPr lang="en-US"/>
        </a:p>
      </dgm:t>
    </dgm:pt>
    <dgm:pt modelId="{55A3A7B1-95A7-494D-99EF-E349C5708368}">
      <dgm:prSet custT="1"/>
      <dgm:spPr/>
      <dgm:t>
        <a:bodyPr/>
        <a:lstStyle/>
        <a:p>
          <a:pPr algn="l" rtl="0"/>
          <a:r>
            <a:rPr lang="en-US" sz="2200" b="1" dirty="0">
              <a:latin typeface="Times New Roman" panose="02020603050405020304" pitchFamily="18" charset="0"/>
              <a:cs typeface="Times New Roman" panose="02020603050405020304" pitchFamily="18" charset="0"/>
            </a:rPr>
            <a:t>Logistic &amp; Lasso </a:t>
          </a:r>
          <a:r>
            <a:rPr lang="en-US" sz="2200" b="0" dirty="0">
              <a:latin typeface="Times New Roman" panose="02020603050405020304" pitchFamily="18" charset="0"/>
              <a:cs typeface="Times New Roman" panose="02020603050405020304" pitchFamily="18" charset="0"/>
            </a:rPr>
            <a:t>logistic</a:t>
          </a:r>
          <a:r>
            <a:rPr lang="en-US" sz="2200" b="1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200" dirty="0">
              <a:latin typeface="Times New Roman" panose="02020603050405020304" pitchFamily="18" charset="0"/>
              <a:cs typeface="Times New Roman" panose="02020603050405020304" pitchFamily="18" charset="0"/>
            </a:rPr>
            <a:t>: Delivered highest recall and AUC for bear-market detection</a:t>
          </a:r>
        </a:p>
      </dgm:t>
    </dgm:pt>
    <dgm:pt modelId="{483D0344-B3CC-4E14-8B33-92D710FF2B42}" type="parTrans" cxnId="{B7E0A993-2C52-48FB-A71C-4E49C99510BC}">
      <dgm:prSet/>
      <dgm:spPr/>
      <dgm:t>
        <a:bodyPr/>
        <a:lstStyle/>
        <a:p>
          <a:endParaRPr lang="en-US"/>
        </a:p>
      </dgm:t>
    </dgm:pt>
    <dgm:pt modelId="{5FCE8178-78E9-407D-9B86-070FD0F494D1}" type="sibTrans" cxnId="{B7E0A993-2C52-48FB-A71C-4E49C99510BC}">
      <dgm:prSet/>
      <dgm:spPr/>
      <dgm:t>
        <a:bodyPr/>
        <a:lstStyle/>
        <a:p>
          <a:endParaRPr lang="en-US"/>
        </a:p>
      </dgm:t>
    </dgm:pt>
    <dgm:pt modelId="{442A5436-279C-4A8A-8B71-56F7FE6A827A}">
      <dgm:prSet custT="1"/>
      <dgm:spPr/>
      <dgm:t>
        <a:bodyPr/>
        <a:lstStyle/>
        <a:p>
          <a:pPr algn="l" rtl="0"/>
          <a:r>
            <a:rPr lang="en-US" sz="2200" b="1" dirty="0">
              <a:latin typeface="Times New Roman" panose="02020603050405020304" pitchFamily="18" charset="0"/>
              <a:cs typeface="Times New Roman" panose="02020603050405020304" pitchFamily="18" charset="0"/>
            </a:rPr>
            <a:t>Lasso Logistic</a:t>
          </a:r>
          <a:r>
            <a:rPr lang="en-US" sz="2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2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rPr>
            <a:t>delivered the </a:t>
          </a:r>
          <a:r>
            <a:rPr lang="en-US" sz="2200" b="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rPr>
            <a:t>best bear-class </a:t>
          </a:r>
          <a:r>
            <a:rPr lang="en-US" sz="22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rPr>
            <a:t>recall (0.83</a:t>
          </a:r>
          <a:r>
            <a:rPr lang="en-US" sz="2200" b="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rPr>
            <a:t>)</a:t>
          </a:r>
          <a:r>
            <a:rPr lang="en-US" sz="22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rPr>
            <a:t> and AUC (0.867)</a:t>
          </a:r>
        </a:p>
      </dgm:t>
    </dgm:pt>
    <dgm:pt modelId="{F25A1C1F-14BC-465B-B84C-79E659CF85C8}" type="parTrans" cxnId="{F5D230DA-E2F0-4921-B76E-65C6763C2587}">
      <dgm:prSet/>
      <dgm:spPr/>
      <dgm:t>
        <a:bodyPr/>
        <a:lstStyle/>
        <a:p>
          <a:endParaRPr lang="en-US"/>
        </a:p>
      </dgm:t>
    </dgm:pt>
    <dgm:pt modelId="{FE93A56A-33DF-4AE5-AA28-5046987F2043}" type="sibTrans" cxnId="{F5D230DA-E2F0-4921-B76E-65C6763C2587}">
      <dgm:prSet/>
      <dgm:spPr/>
      <dgm:t>
        <a:bodyPr/>
        <a:lstStyle/>
        <a:p>
          <a:endParaRPr lang="en-US"/>
        </a:p>
      </dgm:t>
    </dgm:pt>
    <dgm:pt modelId="{B19801D1-6DEF-4492-9152-E22EDC6B8108}">
      <dgm:prSet custT="1"/>
      <dgm:spPr/>
      <dgm:t>
        <a:bodyPr/>
        <a:lstStyle/>
        <a:p>
          <a:pPr algn="l"/>
          <a:r>
            <a:rPr lang="en-US" sz="2200" b="1">
              <a:latin typeface="Times New Roman" panose="02020603050405020304" pitchFamily="18" charset="0"/>
              <a:cs typeface="Times New Roman" panose="02020603050405020304" pitchFamily="18" charset="0"/>
            </a:rPr>
            <a:t>Tree Models</a:t>
          </a:r>
          <a:r>
            <a:rPr lang="en-US" sz="2200" b="0">
              <a:latin typeface="Times New Roman" panose="02020603050405020304" pitchFamily="18" charset="0"/>
              <a:cs typeface="Times New Roman" panose="02020603050405020304" pitchFamily="18" charset="0"/>
            </a:rPr>
            <a:t>: </a:t>
          </a:r>
          <a:r>
            <a:rPr lang="en-US" sz="2200">
              <a:latin typeface="Times New Roman" panose="02020603050405020304" pitchFamily="18" charset="0"/>
              <a:cs typeface="Times New Roman" panose="02020603050405020304" pitchFamily="18" charset="0"/>
            </a:rPr>
            <a:t>Failed to detect bear signals due to class imbalance</a:t>
          </a:r>
        </a:p>
      </dgm:t>
    </dgm:pt>
    <dgm:pt modelId="{D7066772-D03D-4D87-9F41-BC13CD7CD2E6}" type="parTrans" cxnId="{B72C5CE2-056C-48A3-B326-53A263F0640A}">
      <dgm:prSet/>
      <dgm:spPr/>
      <dgm:t>
        <a:bodyPr/>
        <a:lstStyle/>
        <a:p>
          <a:endParaRPr lang="en-US"/>
        </a:p>
      </dgm:t>
    </dgm:pt>
    <dgm:pt modelId="{337F3841-6EF3-456B-BEF6-4DC61F6D2FE4}" type="sibTrans" cxnId="{B72C5CE2-056C-48A3-B326-53A263F0640A}">
      <dgm:prSet/>
      <dgm:spPr/>
      <dgm:t>
        <a:bodyPr/>
        <a:lstStyle/>
        <a:p>
          <a:endParaRPr lang="en-US"/>
        </a:p>
      </dgm:t>
    </dgm:pt>
    <dgm:pt modelId="{FEBA6170-F54B-4603-B2DE-6DF42277DFDD}">
      <dgm:prSet custT="1"/>
      <dgm:spPr/>
      <dgm:t>
        <a:bodyPr/>
        <a:lstStyle/>
        <a:p>
          <a:pPr algn="l"/>
          <a:r>
            <a:rPr lang="en-US" sz="2200" b="1" dirty="0">
              <a:latin typeface="Times New Roman" panose="02020603050405020304" pitchFamily="18" charset="0"/>
              <a:cs typeface="Times New Roman" panose="02020603050405020304" pitchFamily="18" charset="0"/>
            </a:rPr>
            <a:t>Class Imbalance</a:t>
          </a:r>
          <a:r>
            <a:rPr lang="en-US" sz="2200" dirty="0">
              <a:latin typeface="Times New Roman" panose="02020603050405020304" pitchFamily="18" charset="0"/>
              <a:cs typeface="Times New Roman" panose="02020603050405020304" pitchFamily="18" charset="0"/>
            </a:rPr>
            <a:t>: Caused tree models to default to majority-class predictions</a:t>
          </a:r>
        </a:p>
      </dgm:t>
    </dgm:pt>
    <dgm:pt modelId="{60D1FFAE-89B1-4581-B53F-AE7BAC20E6EC}" type="parTrans" cxnId="{B044D9F4-492E-4BA0-B500-58FB170A93B2}">
      <dgm:prSet/>
      <dgm:spPr/>
      <dgm:t>
        <a:bodyPr/>
        <a:lstStyle/>
        <a:p>
          <a:endParaRPr lang="en-US"/>
        </a:p>
      </dgm:t>
    </dgm:pt>
    <dgm:pt modelId="{B388CC23-B380-46AD-99EE-C2AB35FC1756}" type="sibTrans" cxnId="{B044D9F4-492E-4BA0-B500-58FB170A93B2}">
      <dgm:prSet/>
      <dgm:spPr/>
      <dgm:t>
        <a:bodyPr/>
        <a:lstStyle/>
        <a:p>
          <a:endParaRPr lang="en-US"/>
        </a:p>
      </dgm:t>
    </dgm:pt>
    <dgm:pt modelId="{9A03E857-679D-469E-B738-DCD07F6EBFF9}" type="pres">
      <dgm:prSet presAssocID="{3A63D951-282D-4465-8506-21EEC4D37C58}" presName="diagram" presStyleCnt="0">
        <dgm:presLayoutVars>
          <dgm:dir/>
          <dgm:resizeHandles val="exact"/>
        </dgm:presLayoutVars>
      </dgm:prSet>
      <dgm:spPr/>
    </dgm:pt>
    <dgm:pt modelId="{BA0342F6-D6B4-4E11-9B72-1B4A68B9A45D}" type="pres">
      <dgm:prSet presAssocID="{55A3A7B1-95A7-494D-99EF-E349C5708368}" presName="node" presStyleLbl="node1" presStyleIdx="0" presStyleCnt="4">
        <dgm:presLayoutVars>
          <dgm:bulletEnabled val="1"/>
        </dgm:presLayoutVars>
      </dgm:prSet>
      <dgm:spPr/>
    </dgm:pt>
    <dgm:pt modelId="{A1D53B96-F3C1-4E4E-BBA3-E1C1E62F3000}" type="pres">
      <dgm:prSet presAssocID="{5FCE8178-78E9-407D-9B86-070FD0F494D1}" presName="sibTrans" presStyleCnt="0"/>
      <dgm:spPr/>
    </dgm:pt>
    <dgm:pt modelId="{A8425C93-70D0-443A-A3DE-D0245FFE83E1}" type="pres">
      <dgm:prSet presAssocID="{442A5436-279C-4A8A-8B71-56F7FE6A827A}" presName="node" presStyleLbl="node1" presStyleIdx="1" presStyleCnt="4">
        <dgm:presLayoutVars>
          <dgm:bulletEnabled val="1"/>
        </dgm:presLayoutVars>
      </dgm:prSet>
      <dgm:spPr/>
    </dgm:pt>
    <dgm:pt modelId="{90FD1097-7D17-4152-BC25-1ABC4BB5261B}" type="pres">
      <dgm:prSet presAssocID="{FE93A56A-33DF-4AE5-AA28-5046987F2043}" presName="sibTrans" presStyleCnt="0"/>
      <dgm:spPr/>
    </dgm:pt>
    <dgm:pt modelId="{AA151711-E3AE-4C6B-A2ED-EB311586AFED}" type="pres">
      <dgm:prSet presAssocID="{B19801D1-6DEF-4492-9152-E22EDC6B8108}" presName="node" presStyleLbl="node1" presStyleIdx="2" presStyleCnt="4">
        <dgm:presLayoutVars>
          <dgm:bulletEnabled val="1"/>
        </dgm:presLayoutVars>
      </dgm:prSet>
      <dgm:spPr/>
    </dgm:pt>
    <dgm:pt modelId="{6291887A-7878-4F19-9A0A-0B051FF8374C}" type="pres">
      <dgm:prSet presAssocID="{337F3841-6EF3-456B-BEF6-4DC61F6D2FE4}" presName="sibTrans" presStyleCnt="0"/>
      <dgm:spPr/>
    </dgm:pt>
    <dgm:pt modelId="{E9B2E65B-B56E-483C-A242-A3108D41FFCE}" type="pres">
      <dgm:prSet presAssocID="{FEBA6170-F54B-4603-B2DE-6DF42277DFDD}" presName="node" presStyleLbl="node1" presStyleIdx="3" presStyleCnt="4">
        <dgm:presLayoutVars>
          <dgm:bulletEnabled val="1"/>
        </dgm:presLayoutVars>
      </dgm:prSet>
      <dgm:spPr/>
    </dgm:pt>
  </dgm:ptLst>
  <dgm:cxnLst>
    <dgm:cxn modelId="{04FAFE0B-4FFF-4B6C-A131-64D30EC741E6}" type="presOf" srcId="{B19801D1-6DEF-4492-9152-E22EDC6B8108}" destId="{AA151711-E3AE-4C6B-A2ED-EB311586AFED}" srcOrd="0" destOrd="0" presId="urn:microsoft.com/office/officeart/2005/8/layout/default"/>
    <dgm:cxn modelId="{E715E21F-618C-40C4-8F3F-A6D652C3B3F0}" type="presOf" srcId="{FEBA6170-F54B-4603-B2DE-6DF42277DFDD}" destId="{E9B2E65B-B56E-483C-A242-A3108D41FFCE}" srcOrd="0" destOrd="0" presId="urn:microsoft.com/office/officeart/2005/8/layout/default"/>
    <dgm:cxn modelId="{67068884-8A86-4319-B442-2E851FF236F4}" type="presOf" srcId="{3A63D951-282D-4465-8506-21EEC4D37C58}" destId="{9A03E857-679D-469E-B738-DCD07F6EBFF9}" srcOrd="0" destOrd="0" presId="urn:microsoft.com/office/officeart/2005/8/layout/default"/>
    <dgm:cxn modelId="{B7E0A993-2C52-48FB-A71C-4E49C99510BC}" srcId="{3A63D951-282D-4465-8506-21EEC4D37C58}" destId="{55A3A7B1-95A7-494D-99EF-E349C5708368}" srcOrd="0" destOrd="0" parTransId="{483D0344-B3CC-4E14-8B33-92D710FF2B42}" sibTransId="{5FCE8178-78E9-407D-9B86-070FD0F494D1}"/>
    <dgm:cxn modelId="{998F82D5-88ED-47EB-B4E0-91729192D8E9}" type="presOf" srcId="{442A5436-279C-4A8A-8B71-56F7FE6A827A}" destId="{A8425C93-70D0-443A-A3DE-D0245FFE83E1}" srcOrd="0" destOrd="0" presId="urn:microsoft.com/office/officeart/2005/8/layout/default"/>
    <dgm:cxn modelId="{F5D230DA-E2F0-4921-B76E-65C6763C2587}" srcId="{3A63D951-282D-4465-8506-21EEC4D37C58}" destId="{442A5436-279C-4A8A-8B71-56F7FE6A827A}" srcOrd="1" destOrd="0" parTransId="{F25A1C1F-14BC-465B-B84C-79E659CF85C8}" sibTransId="{FE93A56A-33DF-4AE5-AA28-5046987F2043}"/>
    <dgm:cxn modelId="{B72C5CE2-056C-48A3-B326-53A263F0640A}" srcId="{3A63D951-282D-4465-8506-21EEC4D37C58}" destId="{B19801D1-6DEF-4492-9152-E22EDC6B8108}" srcOrd="2" destOrd="0" parTransId="{D7066772-D03D-4D87-9F41-BC13CD7CD2E6}" sibTransId="{337F3841-6EF3-456B-BEF6-4DC61F6D2FE4}"/>
    <dgm:cxn modelId="{1359B2E4-0E88-4431-84B5-981B4C794552}" type="presOf" srcId="{55A3A7B1-95A7-494D-99EF-E349C5708368}" destId="{BA0342F6-D6B4-4E11-9B72-1B4A68B9A45D}" srcOrd="0" destOrd="0" presId="urn:microsoft.com/office/officeart/2005/8/layout/default"/>
    <dgm:cxn modelId="{B044D9F4-492E-4BA0-B500-58FB170A93B2}" srcId="{3A63D951-282D-4465-8506-21EEC4D37C58}" destId="{FEBA6170-F54B-4603-B2DE-6DF42277DFDD}" srcOrd="3" destOrd="0" parTransId="{60D1FFAE-89B1-4581-B53F-AE7BAC20E6EC}" sibTransId="{B388CC23-B380-46AD-99EE-C2AB35FC1756}"/>
    <dgm:cxn modelId="{6FC96EFD-0651-4702-9BD9-E2300FCCF026}" type="presParOf" srcId="{9A03E857-679D-469E-B738-DCD07F6EBFF9}" destId="{BA0342F6-D6B4-4E11-9B72-1B4A68B9A45D}" srcOrd="0" destOrd="0" presId="urn:microsoft.com/office/officeart/2005/8/layout/default"/>
    <dgm:cxn modelId="{AB18760B-58F4-4329-B9B5-F441233E9223}" type="presParOf" srcId="{9A03E857-679D-469E-B738-DCD07F6EBFF9}" destId="{A1D53B96-F3C1-4E4E-BBA3-E1C1E62F3000}" srcOrd="1" destOrd="0" presId="urn:microsoft.com/office/officeart/2005/8/layout/default"/>
    <dgm:cxn modelId="{A86E0802-F9EC-4671-9380-4BE4B727BDBA}" type="presParOf" srcId="{9A03E857-679D-469E-B738-DCD07F6EBFF9}" destId="{A8425C93-70D0-443A-A3DE-D0245FFE83E1}" srcOrd="2" destOrd="0" presId="urn:microsoft.com/office/officeart/2005/8/layout/default"/>
    <dgm:cxn modelId="{11E0F2F6-0874-4498-943A-228E24630828}" type="presParOf" srcId="{9A03E857-679D-469E-B738-DCD07F6EBFF9}" destId="{90FD1097-7D17-4152-BC25-1ABC4BB5261B}" srcOrd="3" destOrd="0" presId="urn:microsoft.com/office/officeart/2005/8/layout/default"/>
    <dgm:cxn modelId="{2488464F-AE15-4F2A-ACC1-BBF130059CE9}" type="presParOf" srcId="{9A03E857-679D-469E-B738-DCD07F6EBFF9}" destId="{AA151711-E3AE-4C6B-A2ED-EB311586AFED}" srcOrd="4" destOrd="0" presId="urn:microsoft.com/office/officeart/2005/8/layout/default"/>
    <dgm:cxn modelId="{F40A1B3D-79F3-419A-903B-62373E3D1110}" type="presParOf" srcId="{9A03E857-679D-469E-B738-DCD07F6EBFF9}" destId="{6291887A-7878-4F19-9A0A-0B051FF8374C}" srcOrd="5" destOrd="0" presId="urn:microsoft.com/office/officeart/2005/8/layout/default"/>
    <dgm:cxn modelId="{EA0632C6-6AC5-45B4-8754-DE27405C0558}" type="presParOf" srcId="{9A03E857-679D-469E-B738-DCD07F6EBFF9}" destId="{E9B2E65B-B56E-483C-A242-A3108D41FFCE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BDA183DA-6D31-4EEB-982E-4E526B72F5F2}" type="doc">
      <dgm:prSet loTypeId="urn:microsoft.com/office/officeart/2005/8/layout/default" loCatId="list" qsTypeId="urn:microsoft.com/office/officeart/2005/8/quickstyle/simple5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7BAB109C-4A08-42DE-915B-CEEEF23B9760}">
      <dgm:prSet phldr="0" custT="1"/>
      <dgm:spPr/>
      <dgm:t>
        <a:bodyPr/>
        <a:lstStyle/>
        <a:p>
          <a:pPr algn="l" rtl="0"/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Combines VIX, yield curve, credit spreads, and TLT/SPY ratio to flag regime shifts before market open.</a:t>
          </a:r>
        </a:p>
      </dgm:t>
    </dgm:pt>
    <dgm:pt modelId="{88C1C151-C9F3-4E0A-84E6-DA59117825C8}" type="parTrans" cxnId="{429C96DA-AA63-4563-9E43-ECD3FE17C496}">
      <dgm:prSet/>
      <dgm:spPr/>
      <dgm:t>
        <a:bodyPr/>
        <a:lstStyle/>
        <a:p>
          <a:endParaRPr lang="en-US"/>
        </a:p>
      </dgm:t>
    </dgm:pt>
    <dgm:pt modelId="{25F4337E-0CBB-4963-9960-D41E1E432938}" type="sibTrans" cxnId="{429C96DA-AA63-4563-9E43-ECD3FE17C496}">
      <dgm:prSet/>
      <dgm:spPr/>
      <dgm:t>
        <a:bodyPr/>
        <a:lstStyle/>
        <a:p>
          <a:endParaRPr lang="en-US"/>
        </a:p>
      </dgm:t>
    </dgm:pt>
    <dgm:pt modelId="{0CA5B5A0-3153-429E-A8F5-C0E9B72FA1E3}">
      <dgm:prSet phldr="0" custT="1"/>
      <dgm:spPr/>
      <dgm:t>
        <a:bodyPr/>
        <a:lstStyle/>
        <a:p>
          <a:pPr algn="l"/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Lasso Logistic performed best for bear detection (recall = 0.83) while remaining fully interpretable.</a:t>
          </a:r>
        </a:p>
      </dgm:t>
    </dgm:pt>
    <dgm:pt modelId="{41E99CEA-0EC9-4576-9F41-AE29B5D6815D}" type="parTrans" cxnId="{F479545C-A79E-4286-BED5-A9FAB2102B40}">
      <dgm:prSet/>
      <dgm:spPr/>
      <dgm:t>
        <a:bodyPr/>
        <a:lstStyle/>
        <a:p>
          <a:endParaRPr lang="en-US"/>
        </a:p>
      </dgm:t>
    </dgm:pt>
    <dgm:pt modelId="{72C5E2E2-C7DD-4342-A243-42AA02D7436E}" type="sibTrans" cxnId="{F479545C-A79E-4286-BED5-A9FAB2102B40}">
      <dgm:prSet/>
      <dgm:spPr/>
      <dgm:t>
        <a:bodyPr/>
        <a:lstStyle/>
        <a:p>
          <a:endParaRPr lang="en-US"/>
        </a:p>
      </dgm:t>
    </dgm:pt>
    <dgm:pt modelId="{2FEE7150-4761-43E1-8EC4-4B22CBFA037B}">
      <dgm:prSet phldr="0" custT="1"/>
      <dgm:spPr/>
      <dgm:t>
        <a:bodyPr/>
        <a:lstStyle/>
        <a:p>
          <a:pPr algn="l"/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Helps investors reduce drawdowns by adjusting equity exposure, increasing hedging, or shifting to defensive assets early.</a:t>
          </a:r>
        </a:p>
      </dgm:t>
    </dgm:pt>
    <dgm:pt modelId="{5B23C2BE-3D1F-42A2-9BBB-E1A91FD7E8EF}" type="parTrans" cxnId="{20F6E091-0773-4788-901B-2E200DEE0481}">
      <dgm:prSet/>
      <dgm:spPr/>
      <dgm:t>
        <a:bodyPr/>
        <a:lstStyle/>
        <a:p>
          <a:endParaRPr lang="en-US"/>
        </a:p>
      </dgm:t>
    </dgm:pt>
    <dgm:pt modelId="{F2629B50-D20D-47F9-9C26-8917587225F4}" type="sibTrans" cxnId="{20F6E091-0773-4788-901B-2E200DEE0481}">
      <dgm:prSet/>
      <dgm:spPr/>
      <dgm:t>
        <a:bodyPr/>
        <a:lstStyle/>
        <a:p>
          <a:endParaRPr lang="en-US"/>
        </a:p>
      </dgm:t>
    </dgm:pt>
    <dgm:pt modelId="{E70845EE-9A8B-48C2-B5FD-1855F1D2E4E6}">
      <dgm:prSet phldr="0" custT="1"/>
      <dgm:spPr/>
      <dgm:t>
        <a:bodyPr/>
        <a:lstStyle/>
        <a:p>
          <a:pPr algn="l"/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Provides an early-warning signal for volatility spikes and macroeconomic stress.</a:t>
          </a:r>
        </a:p>
      </dgm:t>
    </dgm:pt>
    <dgm:pt modelId="{124B9513-27DB-4749-A8B1-06C363806E14}" type="parTrans" cxnId="{4427C9A1-6AB2-4C96-9AAF-3875EBC1A7BC}">
      <dgm:prSet/>
      <dgm:spPr/>
      <dgm:t>
        <a:bodyPr/>
        <a:lstStyle/>
        <a:p>
          <a:endParaRPr lang="en-US"/>
        </a:p>
      </dgm:t>
    </dgm:pt>
    <dgm:pt modelId="{E22A74DC-D133-447A-8C95-8D05B08736C7}" type="sibTrans" cxnId="{4427C9A1-6AB2-4C96-9AAF-3875EBC1A7BC}">
      <dgm:prSet/>
      <dgm:spPr/>
      <dgm:t>
        <a:bodyPr/>
        <a:lstStyle/>
        <a:p>
          <a:endParaRPr lang="en-US"/>
        </a:p>
      </dgm:t>
    </dgm:pt>
    <dgm:pt modelId="{72E1AF56-9D79-43EC-BED9-B7D2C7720275}">
      <dgm:prSet phldr="0" custT="1"/>
      <dgm:spPr/>
      <dgm:t>
        <a:bodyPr/>
        <a:lstStyle/>
        <a:p>
          <a:pPr algn="l"/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Supports regulators in monitoring systemic risk using transparent, explainable financial indicators.</a:t>
          </a:r>
        </a:p>
      </dgm:t>
    </dgm:pt>
    <dgm:pt modelId="{F6551D38-21AA-4E71-B0FC-77E2065E3CB6}" type="parTrans" cxnId="{BFB1F5D0-ACBA-4754-8B58-7DFCED78C7F8}">
      <dgm:prSet/>
      <dgm:spPr/>
      <dgm:t>
        <a:bodyPr/>
        <a:lstStyle/>
        <a:p>
          <a:endParaRPr lang="en-US"/>
        </a:p>
      </dgm:t>
    </dgm:pt>
    <dgm:pt modelId="{F067840A-0E3E-4F3B-85D0-48F294B51A2C}" type="sibTrans" cxnId="{BFB1F5D0-ACBA-4754-8B58-7DFCED78C7F8}">
      <dgm:prSet/>
      <dgm:spPr/>
      <dgm:t>
        <a:bodyPr/>
        <a:lstStyle/>
        <a:p>
          <a:endParaRPr lang="en-US"/>
        </a:p>
      </dgm:t>
    </dgm:pt>
    <dgm:pt modelId="{C80984A0-328A-466D-94AF-52AA27531510}">
      <dgm:prSet phldr="0" custT="1"/>
      <dgm:spPr/>
      <dgm:t>
        <a:bodyPr/>
        <a:lstStyle/>
        <a:p>
          <a:pPr algn="l"/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Useful for stress-testing, liquidity monitoring, and identifying periods when markets are vulnerable.</a:t>
          </a:r>
        </a:p>
      </dgm:t>
    </dgm:pt>
    <dgm:pt modelId="{B969F936-CE22-4B2F-9017-16F3F0B61D5E}" type="parTrans" cxnId="{A5E925B5-A4DE-49FF-9792-D9C089264791}">
      <dgm:prSet/>
      <dgm:spPr/>
      <dgm:t>
        <a:bodyPr/>
        <a:lstStyle/>
        <a:p>
          <a:endParaRPr lang="en-US"/>
        </a:p>
      </dgm:t>
    </dgm:pt>
    <dgm:pt modelId="{F4AD77B3-6F48-4122-A29C-594AFB69DBEF}" type="sibTrans" cxnId="{A5E925B5-A4DE-49FF-9792-D9C089264791}">
      <dgm:prSet/>
      <dgm:spPr/>
      <dgm:t>
        <a:bodyPr/>
        <a:lstStyle/>
        <a:p>
          <a:endParaRPr lang="en-US"/>
        </a:p>
      </dgm:t>
    </dgm:pt>
    <dgm:pt modelId="{5EB5F29C-9E8A-46EE-8AD4-9E3CE33108DB}" type="pres">
      <dgm:prSet presAssocID="{BDA183DA-6D31-4EEB-982E-4E526B72F5F2}" presName="diagram" presStyleCnt="0">
        <dgm:presLayoutVars>
          <dgm:dir/>
          <dgm:resizeHandles val="exact"/>
        </dgm:presLayoutVars>
      </dgm:prSet>
      <dgm:spPr/>
    </dgm:pt>
    <dgm:pt modelId="{7FB3C8A6-1713-41F9-AA9C-D5F8481D083D}" type="pres">
      <dgm:prSet presAssocID="{7BAB109C-4A08-42DE-915B-CEEEF23B9760}" presName="node" presStyleLbl="node1" presStyleIdx="0" presStyleCnt="6">
        <dgm:presLayoutVars>
          <dgm:bulletEnabled val="1"/>
        </dgm:presLayoutVars>
      </dgm:prSet>
      <dgm:spPr/>
    </dgm:pt>
    <dgm:pt modelId="{6EA671E5-F436-41F4-8DD7-0365E0476E40}" type="pres">
      <dgm:prSet presAssocID="{25F4337E-0CBB-4963-9960-D41E1E432938}" presName="sibTrans" presStyleCnt="0"/>
      <dgm:spPr/>
    </dgm:pt>
    <dgm:pt modelId="{ECCBC708-2085-4890-B60A-D16882E19EE8}" type="pres">
      <dgm:prSet presAssocID="{0CA5B5A0-3153-429E-A8F5-C0E9B72FA1E3}" presName="node" presStyleLbl="node1" presStyleIdx="1" presStyleCnt="6">
        <dgm:presLayoutVars>
          <dgm:bulletEnabled val="1"/>
        </dgm:presLayoutVars>
      </dgm:prSet>
      <dgm:spPr/>
    </dgm:pt>
    <dgm:pt modelId="{117CE5FD-4C97-459F-8F4D-CF4E5DE14FF7}" type="pres">
      <dgm:prSet presAssocID="{72C5E2E2-C7DD-4342-A243-42AA02D7436E}" presName="sibTrans" presStyleCnt="0"/>
      <dgm:spPr/>
    </dgm:pt>
    <dgm:pt modelId="{E86DCC15-41E5-484E-B73B-FDCCE8FCEE6D}" type="pres">
      <dgm:prSet presAssocID="{2FEE7150-4761-43E1-8EC4-4B22CBFA037B}" presName="node" presStyleLbl="node1" presStyleIdx="2" presStyleCnt="6">
        <dgm:presLayoutVars>
          <dgm:bulletEnabled val="1"/>
        </dgm:presLayoutVars>
      </dgm:prSet>
      <dgm:spPr/>
    </dgm:pt>
    <dgm:pt modelId="{D82D18A1-4BCC-4E1B-BC06-6C8A0CDBCBAC}" type="pres">
      <dgm:prSet presAssocID="{F2629B50-D20D-47F9-9C26-8917587225F4}" presName="sibTrans" presStyleCnt="0"/>
      <dgm:spPr/>
    </dgm:pt>
    <dgm:pt modelId="{71EC8FDB-76DC-4616-952E-A3F51BE8409D}" type="pres">
      <dgm:prSet presAssocID="{E70845EE-9A8B-48C2-B5FD-1855F1D2E4E6}" presName="node" presStyleLbl="node1" presStyleIdx="3" presStyleCnt="6">
        <dgm:presLayoutVars>
          <dgm:bulletEnabled val="1"/>
        </dgm:presLayoutVars>
      </dgm:prSet>
      <dgm:spPr/>
    </dgm:pt>
    <dgm:pt modelId="{D7543D17-36DA-4B1A-81CD-0F67DDA6AE42}" type="pres">
      <dgm:prSet presAssocID="{E22A74DC-D133-447A-8C95-8D05B08736C7}" presName="sibTrans" presStyleCnt="0"/>
      <dgm:spPr/>
    </dgm:pt>
    <dgm:pt modelId="{E1BEDAC0-0764-4C5F-8717-575D7702C3C0}" type="pres">
      <dgm:prSet presAssocID="{72E1AF56-9D79-43EC-BED9-B7D2C7720275}" presName="node" presStyleLbl="node1" presStyleIdx="4" presStyleCnt="6">
        <dgm:presLayoutVars>
          <dgm:bulletEnabled val="1"/>
        </dgm:presLayoutVars>
      </dgm:prSet>
      <dgm:spPr/>
    </dgm:pt>
    <dgm:pt modelId="{8D2BFA68-1F57-47E3-99B0-BD81BD535DEE}" type="pres">
      <dgm:prSet presAssocID="{F067840A-0E3E-4F3B-85D0-48F294B51A2C}" presName="sibTrans" presStyleCnt="0"/>
      <dgm:spPr/>
    </dgm:pt>
    <dgm:pt modelId="{17B08EC7-048E-4E31-A687-BF563F2DDB3B}" type="pres">
      <dgm:prSet presAssocID="{C80984A0-328A-466D-94AF-52AA27531510}" presName="node" presStyleLbl="node1" presStyleIdx="5" presStyleCnt="6">
        <dgm:presLayoutVars>
          <dgm:bulletEnabled val="1"/>
        </dgm:presLayoutVars>
      </dgm:prSet>
      <dgm:spPr/>
    </dgm:pt>
  </dgm:ptLst>
  <dgm:cxnLst>
    <dgm:cxn modelId="{2236A30B-1D3C-408F-92A6-5F0F6BD3C7CC}" type="presOf" srcId="{BDA183DA-6D31-4EEB-982E-4E526B72F5F2}" destId="{5EB5F29C-9E8A-46EE-8AD4-9E3CE33108DB}" srcOrd="0" destOrd="0" presId="urn:microsoft.com/office/officeart/2005/8/layout/default"/>
    <dgm:cxn modelId="{82F0E60F-BBA4-4F27-8AC4-36A2253F0029}" type="presOf" srcId="{2FEE7150-4761-43E1-8EC4-4B22CBFA037B}" destId="{E86DCC15-41E5-484E-B73B-FDCCE8FCEE6D}" srcOrd="0" destOrd="0" presId="urn:microsoft.com/office/officeart/2005/8/layout/default"/>
    <dgm:cxn modelId="{D1659F36-8FE3-4BD6-A9FD-BCF0AC5C1A2D}" type="presOf" srcId="{C80984A0-328A-466D-94AF-52AA27531510}" destId="{17B08EC7-048E-4E31-A687-BF563F2DDB3B}" srcOrd="0" destOrd="0" presId="urn:microsoft.com/office/officeart/2005/8/layout/default"/>
    <dgm:cxn modelId="{F479545C-A79E-4286-BED5-A9FAB2102B40}" srcId="{BDA183DA-6D31-4EEB-982E-4E526B72F5F2}" destId="{0CA5B5A0-3153-429E-A8F5-C0E9B72FA1E3}" srcOrd="1" destOrd="0" parTransId="{41E99CEA-0EC9-4576-9F41-AE29B5D6815D}" sibTransId="{72C5E2E2-C7DD-4342-A243-42AA02D7436E}"/>
    <dgm:cxn modelId="{20F6E091-0773-4788-901B-2E200DEE0481}" srcId="{BDA183DA-6D31-4EEB-982E-4E526B72F5F2}" destId="{2FEE7150-4761-43E1-8EC4-4B22CBFA037B}" srcOrd="2" destOrd="0" parTransId="{5B23C2BE-3D1F-42A2-9BBB-E1A91FD7E8EF}" sibTransId="{F2629B50-D20D-47F9-9C26-8917587225F4}"/>
    <dgm:cxn modelId="{78EF2198-FED4-4796-9537-9C07B71E299C}" type="presOf" srcId="{0CA5B5A0-3153-429E-A8F5-C0E9B72FA1E3}" destId="{ECCBC708-2085-4890-B60A-D16882E19EE8}" srcOrd="0" destOrd="0" presId="urn:microsoft.com/office/officeart/2005/8/layout/default"/>
    <dgm:cxn modelId="{4427C9A1-6AB2-4C96-9AAF-3875EBC1A7BC}" srcId="{BDA183DA-6D31-4EEB-982E-4E526B72F5F2}" destId="{E70845EE-9A8B-48C2-B5FD-1855F1D2E4E6}" srcOrd="3" destOrd="0" parTransId="{124B9513-27DB-4749-A8B1-06C363806E14}" sibTransId="{E22A74DC-D133-447A-8C95-8D05B08736C7}"/>
    <dgm:cxn modelId="{A0FA04AC-019C-44B6-86D7-E289764547E2}" type="presOf" srcId="{7BAB109C-4A08-42DE-915B-CEEEF23B9760}" destId="{7FB3C8A6-1713-41F9-AA9C-D5F8481D083D}" srcOrd="0" destOrd="0" presId="urn:microsoft.com/office/officeart/2005/8/layout/default"/>
    <dgm:cxn modelId="{A5E925B5-A4DE-49FF-9792-D9C089264791}" srcId="{BDA183DA-6D31-4EEB-982E-4E526B72F5F2}" destId="{C80984A0-328A-466D-94AF-52AA27531510}" srcOrd="5" destOrd="0" parTransId="{B969F936-CE22-4B2F-9017-16F3F0B61D5E}" sibTransId="{F4AD77B3-6F48-4122-A29C-594AFB69DBEF}"/>
    <dgm:cxn modelId="{BFB1F5D0-ACBA-4754-8B58-7DFCED78C7F8}" srcId="{BDA183DA-6D31-4EEB-982E-4E526B72F5F2}" destId="{72E1AF56-9D79-43EC-BED9-B7D2C7720275}" srcOrd="4" destOrd="0" parTransId="{F6551D38-21AA-4E71-B0FC-77E2065E3CB6}" sibTransId="{F067840A-0E3E-4F3B-85D0-48F294B51A2C}"/>
    <dgm:cxn modelId="{429C96DA-AA63-4563-9E43-ECD3FE17C496}" srcId="{BDA183DA-6D31-4EEB-982E-4E526B72F5F2}" destId="{7BAB109C-4A08-42DE-915B-CEEEF23B9760}" srcOrd="0" destOrd="0" parTransId="{88C1C151-C9F3-4E0A-84E6-DA59117825C8}" sibTransId="{25F4337E-0CBB-4963-9960-D41E1E432938}"/>
    <dgm:cxn modelId="{0DDFC3E8-2701-469C-AD22-37F799EB61B9}" type="presOf" srcId="{72E1AF56-9D79-43EC-BED9-B7D2C7720275}" destId="{E1BEDAC0-0764-4C5F-8717-575D7702C3C0}" srcOrd="0" destOrd="0" presId="urn:microsoft.com/office/officeart/2005/8/layout/default"/>
    <dgm:cxn modelId="{3B96C4EA-9EE8-4D1D-BF09-D5499DA2526F}" type="presOf" srcId="{E70845EE-9A8B-48C2-B5FD-1855F1D2E4E6}" destId="{71EC8FDB-76DC-4616-952E-A3F51BE8409D}" srcOrd="0" destOrd="0" presId="urn:microsoft.com/office/officeart/2005/8/layout/default"/>
    <dgm:cxn modelId="{0DE802EF-606E-4CE6-9D51-62E2E0E75FF7}" type="presParOf" srcId="{5EB5F29C-9E8A-46EE-8AD4-9E3CE33108DB}" destId="{7FB3C8A6-1713-41F9-AA9C-D5F8481D083D}" srcOrd="0" destOrd="0" presId="urn:microsoft.com/office/officeart/2005/8/layout/default"/>
    <dgm:cxn modelId="{F03B0924-189E-4D39-A54C-35D63B5F74D0}" type="presParOf" srcId="{5EB5F29C-9E8A-46EE-8AD4-9E3CE33108DB}" destId="{6EA671E5-F436-41F4-8DD7-0365E0476E40}" srcOrd="1" destOrd="0" presId="urn:microsoft.com/office/officeart/2005/8/layout/default"/>
    <dgm:cxn modelId="{1D16A1F7-04BF-4C81-B24B-DF6F423B4763}" type="presParOf" srcId="{5EB5F29C-9E8A-46EE-8AD4-9E3CE33108DB}" destId="{ECCBC708-2085-4890-B60A-D16882E19EE8}" srcOrd="2" destOrd="0" presId="urn:microsoft.com/office/officeart/2005/8/layout/default"/>
    <dgm:cxn modelId="{B5F871F4-A51A-4D00-87CD-D7EF4CFF0130}" type="presParOf" srcId="{5EB5F29C-9E8A-46EE-8AD4-9E3CE33108DB}" destId="{117CE5FD-4C97-459F-8F4D-CF4E5DE14FF7}" srcOrd="3" destOrd="0" presId="urn:microsoft.com/office/officeart/2005/8/layout/default"/>
    <dgm:cxn modelId="{C88F2393-6160-4BC4-8314-3BBE3EFD0F79}" type="presParOf" srcId="{5EB5F29C-9E8A-46EE-8AD4-9E3CE33108DB}" destId="{E86DCC15-41E5-484E-B73B-FDCCE8FCEE6D}" srcOrd="4" destOrd="0" presId="urn:microsoft.com/office/officeart/2005/8/layout/default"/>
    <dgm:cxn modelId="{1DCAFD02-4699-465A-813D-6C975EEF4138}" type="presParOf" srcId="{5EB5F29C-9E8A-46EE-8AD4-9E3CE33108DB}" destId="{D82D18A1-4BCC-4E1B-BC06-6C8A0CDBCBAC}" srcOrd="5" destOrd="0" presId="urn:microsoft.com/office/officeart/2005/8/layout/default"/>
    <dgm:cxn modelId="{CA38FBDC-D4A2-4CED-A723-050368D946AA}" type="presParOf" srcId="{5EB5F29C-9E8A-46EE-8AD4-9E3CE33108DB}" destId="{71EC8FDB-76DC-4616-952E-A3F51BE8409D}" srcOrd="6" destOrd="0" presId="urn:microsoft.com/office/officeart/2005/8/layout/default"/>
    <dgm:cxn modelId="{F72857C6-D6C3-4299-A29B-0B633A17C2C6}" type="presParOf" srcId="{5EB5F29C-9E8A-46EE-8AD4-9E3CE33108DB}" destId="{D7543D17-36DA-4B1A-81CD-0F67DDA6AE42}" srcOrd="7" destOrd="0" presId="urn:microsoft.com/office/officeart/2005/8/layout/default"/>
    <dgm:cxn modelId="{DD4217EA-17F6-42A8-9B4D-37F65C9A842D}" type="presParOf" srcId="{5EB5F29C-9E8A-46EE-8AD4-9E3CE33108DB}" destId="{E1BEDAC0-0764-4C5F-8717-575D7702C3C0}" srcOrd="8" destOrd="0" presId="urn:microsoft.com/office/officeart/2005/8/layout/default"/>
    <dgm:cxn modelId="{E4E09644-C4DE-4EE0-B638-275DDD47E6EA}" type="presParOf" srcId="{5EB5F29C-9E8A-46EE-8AD4-9E3CE33108DB}" destId="{8D2BFA68-1F57-47E3-99B0-BD81BD535DEE}" srcOrd="9" destOrd="0" presId="urn:microsoft.com/office/officeart/2005/8/layout/default"/>
    <dgm:cxn modelId="{F2341BE6-F6EF-421D-9964-09231CB70D2F}" type="presParOf" srcId="{5EB5F29C-9E8A-46EE-8AD4-9E3CE33108DB}" destId="{17B08EC7-048E-4E31-A687-BF563F2DDB3B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735520DE-0E15-4A7C-93F4-60A7B7AEBE80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90E1C303-BD16-4330-A9C4-F18604C0596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cap="none">
              <a:latin typeface="Times New Roman" panose="02020603050405020304" pitchFamily="18" charset="0"/>
              <a:cs typeface="Times New Roman" panose="02020603050405020304" pitchFamily="18" charset="0"/>
            </a:rPr>
            <a:t>Pre-market indicators allow early identification of market regimes, supporting faster and more informed decisions.</a:t>
          </a:r>
          <a:endParaRPr lang="en-US" cap="none">
            <a:latin typeface="Times New Roman" panose="02020603050405020304" pitchFamily="18" charset="0"/>
            <a:ea typeface="Calibri"/>
            <a:cs typeface="Times New Roman" panose="02020603050405020304" pitchFamily="18" charset="0"/>
          </a:endParaRPr>
        </a:p>
      </dgm:t>
    </dgm:pt>
    <dgm:pt modelId="{8002F461-195B-4E4C-BCA8-63E783CFBBBC}" type="parTrans" cxnId="{C27EFD3A-9E8F-4045-833B-28BB1FC00F49}">
      <dgm:prSet/>
      <dgm:spPr/>
      <dgm:t>
        <a:bodyPr/>
        <a:lstStyle/>
        <a:p>
          <a:endParaRPr lang="en-US"/>
        </a:p>
      </dgm:t>
    </dgm:pt>
    <dgm:pt modelId="{36229A1C-FB4B-40B0-9F4F-C36196252CCA}" type="sibTrans" cxnId="{C27EFD3A-9E8F-4045-833B-28BB1FC00F49}">
      <dgm:prSet phldrT="01"/>
      <dgm:spPr/>
      <dgm:t>
        <a:bodyPr/>
        <a:lstStyle/>
        <a:p>
          <a:endParaRPr lang="en-US"/>
        </a:p>
      </dgm:t>
    </dgm:pt>
    <dgm:pt modelId="{A8321D05-655F-4B57-BC82-08002017D94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cap="none">
              <a:latin typeface="Times New Roman" panose="02020603050405020304" pitchFamily="18" charset="0"/>
              <a:ea typeface="Calibri"/>
              <a:cs typeface="Times New Roman" panose="02020603050405020304" pitchFamily="18" charset="0"/>
            </a:rPr>
            <a:t>Regime classification strengthens risk management by helping investors adjust exposure before major downturns.</a:t>
          </a:r>
        </a:p>
      </dgm:t>
    </dgm:pt>
    <dgm:pt modelId="{B6259EA7-E21E-4B26-8587-7BB362025AE8}" type="parTrans" cxnId="{8194C241-4B2A-4D3F-BA4D-01C6F359165F}">
      <dgm:prSet/>
      <dgm:spPr/>
      <dgm:t>
        <a:bodyPr/>
        <a:lstStyle/>
        <a:p>
          <a:endParaRPr lang="en-US"/>
        </a:p>
      </dgm:t>
    </dgm:pt>
    <dgm:pt modelId="{A32931C1-E6F5-4BE4-A788-2A0EA035605C}" type="sibTrans" cxnId="{8194C241-4B2A-4D3F-BA4D-01C6F359165F}">
      <dgm:prSet phldrT="02"/>
      <dgm:spPr/>
      <dgm:t>
        <a:bodyPr/>
        <a:lstStyle/>
        <a:p>
          <a:endParaRPr lang="en-US"/>
        </a:p>
      </dgm:t>
    </dgm:pt>
    <dgm:pt modelId="{F92427F7-2DD9-4A69-934D-E20B399DD79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cap="none">
              <a:latin typeface="Times New Roman" panose="02020603050405020304" pitchFamily="18" charset="0"/>
              <a:ea typeface="Calibri"/>
              <a:cs typeface="Times New Roman" panose="02020603050405020304" pitchFamily="18" charset="0"/>
            </a:rPr>
            <a:t>Interpretable models provide regulators with clear, real-time signals of emerging systemic stress.</a:t>
          </a:r>
        </a:p>
      </dgm:t>
    </dgm:pt>
    <dgm:pt modelId="{30E6945A-42E8-4904-AA2D-08DF1B58777B}" type="parTrans" cxnId="{419EE080-82FF-4967-9D98-40A6B6A908FF}">
      <dgm:prSet/>
      <dgm:spPr/>
      <dgm:t>
        <a:bodyPr/>
        <a:lstStyle/>
        <a:p>
          <a:endParaRPr lang="en-US"/>
        </a:p>
      </dgm:t>
    </dgm:pt>
    <dgm:pt modelId="{83EA2FF6-300F-4A6B-B417-9005B05EF7D7}" type="sibTrans" cxnId="{419EE080-82FF-4967-9D98-40A6B6A908FF}">
      <dgm:prSet phldrT="03"/>
      <dgm:spPr/>
      <dgm:t>
        <a:bodyPr/>
        <a:lstStyle/>
        <a:p>
          <a:endParaRPr lang="en-US"/>
        </a:p>
      </dgm:t>
    </dgm:pt>
    <dgm:pt modelId="{648F6F9F-C93C-425F-9A52-1471D5790A59}" type="pres">
      <dgm:prSet presAssocID="{735520DE-0E15-4A7C-93F4-60A7B7AEBE80}" presName="root" presStyleCnt="0">
        <dgm:presLayoutVars>
          <dgm:dir/>
          <dgm:resizeHandles val="exact"/>
        </dgm:presLayoutVars>
      </dgm:prSet>
      <dgm:spPr/>
    </dgm:pt>
    <dgm:pt modelId="{CBE92F0E-8432-4408-B5E8-463F86C41416}" type="pres">
      <dgm:prSet presAssocID="{90E1C303-BD16-4330-A9C4-F18604C05968}" presName="compNode" presStyleCnt="0"/>
      <dgm:spPr/>
    </dgm:pt>
    <dgm:pt modelId="{93F556BE-D35D-4058-82E7-162FCE505A28}" type="pres">
      <dgm:prSet presAssocID="{90E1C303-BD16-4330-A9C4-F18604C05968}" presName="bgRect" presStyleLbl="bgShp" presStyleIdx="0" presStyleCnt="3"/>
      <dgm:spPr/>
    </dgm:pt>
    <dgm:pt modelId="{28CB00EC-361C-49A2-AC16-19ACBC387578}" type="pres">
      <dgm:prSet presAssocID="{90E1C303-BD16-4330-A9C4-F18604C05968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siness Growth"/>
        </a:ext>
      </dgm:extLst>
    </dgm:pt>
    <dgm:pt modelId="{2B3A4825-6111-418A-818E-2DD328A5DD0D}" type="pres">
      <dgm:prSet presAssocID="{90E1C303-BD16-4330-A9C4-F18604C05968}" presName="spaceRect" presStyleCnt="0"/>
      <dgm:spPr/>
    </dgm:pt>
    <dgm:pt modelId="{822A804E-5E59-48BE-9FE7-E68CFE9797CD}" type="pres">
      <dgm:prSet presAssocID="{90E1C303-BD16-4330-A9C4-F18604C05968}" presName="parTx" presStyleLbl="revTx" presStyleIdx="0" presStyleCnt="3">
        <dgm:presLayoutVars>
          <dgm:chMax val="0"/>
          <dgm:chPref val="0"/>
        </dgm:presLayoutVars>
      </dgm:prSet>
      <dgm:spPr/>
    </dgm:pt>
    <dgm:pt modelId="{A1DE8E8B-F89E-4ECC-B9A4-84AAD1BD738F}" type="pres">
      <dgm:prSet presAssocID="{36229A1C-FB4B-40B0-9F4F-C36196252CCA}" presName="sibTrans" presStyleCnt="0"/>
      <dgm:spPr/>
    </dgm:pt>
    <dgm:pt modelId="{701FB6EE-E1E5-4240-8418-83FF32B21796}" type="pres">
      <dgm:prSet presAssocID="{A8321D05-655F-4B57-BC82-08002017D947}" presName="compNode" presStyleCnt="0"/>
      <dgm:spPr/>
    </dgm:pt>
    <dgm:pt modelId="{6A31F98B-D211-4271-A752-92ADCDBB3470}" type="pres">
      <dgm:prSet presAssocID="{A8321D05-655F-4B57-BC82-08002017D947}" presName="bgRect" presStyleLbl="bgShp" presStyleIdx="1" presStyleCnt="3"/>
      <dgm:spPr/>
    </dgm:pt>
    <dgm:pt modelId="{76EE4412-9DE7-466E-86CA-4E7EE93D81B8}" type="pres">
      <dgm:prSet presAssocID="{A8321D05-655F-4B57-BC82-08002017D947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A1AEFC2C-3AFB-4088-BE34-00885AE72F42}" type="pres">
      <dgm:prSet presAssocID="{A8321D05-655F-4B57-BC82-08002017D947}" presName="spaceRect" presStyleCnt="0"/>
      <dgm:spPr/>
    </dgm:pt>
    <dgm:pt modelId="{8824DBA1-332F-414A-8A43-987C4653853F}" type="pres">
      <dgm:prSet presAssocID="{A8321D05-655F-4B57-BC82-08002017D947}" presName="parTx" presStyleLbl="revTx" presStyleIdx="1" presStyleCnt="3">
        <dgm:presLayoutVars>
          <dgm:chMax val="0"/>
          <dgm:chPref val="0"/>
        </dgm:presLayoutVars>
      </dgm:prSet>
      <dgm:spPr/>
    </dgm:pt>
    <dgm:pt modelId="{FAEFFB5F-BEB5-4C91-94A3-DF12322DE909}" type="pres">
      <dgm:prSet presAssocID="{A32931C1-E6F5-4BE4-A788-2A0EA035605C}" presName="sibTrans" presStyleCnt="0"/>
      <dgm:spPr/>
    </dgm:pt>
    <dgm:pt modelId="{160AE29B-CEB1-482A-8E56-FE0E5A01F70D}" type="pres">
      <dgm:prSet presAssocID="{F92427F7-2DD9-4A69-934D-E20B399DD799}" presName="compNode" presStyleCnt="0"/>
      <dgm:spPr/>
    </dgm:pt>
    <dgm:pt modelId="{6ED80341-73D6-49D0-9CF3-650430F3394D}" type="pres">
      <dgm:prSet presAssocID="{F92427F7-2DD9-4A69-934D-E20B399DD799}" presName="bgRect" presStyleLbl="bgShp" presStyleIdx="2" presStyleCnt="3"/>
      <dgm:spPr/>
    </dgm:pt>
    <dgm:pt modelId="{EB3997B8-BEFD-483C-8D3E-C6AAF9553543}" type="pres">
      <dgm:prSet presAssocID="{F92427F7-2DD9-4A69-934D-E20B399DD799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Graph with Downward Trend"/>
        </a:ext>
      </dgm:extLst>
    </dgm:pt>
    <dgm:pt modelId="{83427676-67D3-406B-809E-9E70A983509A}" type="pres">
      <dgm:prSet presAssocID="{F92427F7-2DD9-4A69-934D-E20B399DD799}" presName="spaceRect" presStyleCnt="0"/>
      <dgm:spPr/>
    </dgm:pt>
    <dgm:pt modelId="{D39DF6C6-148E-480E-B3D5-0EC57E872572}" type="pres">
      <dgm:prSet presAssocID="{F92427F7-2DD9-4A69-934D-E20B399DD799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6C40531C-FE91-9A44-92FD-9AC39324E86C}" type="presOf" srcId="{735520DE-0E15-4A7C-93F4-60A7B7AEBE80}" destId="{648F6F9F-C93C-425F-9A52-1471D5790A59}" srcOrd="0" destOrd="0" presId="urn:microsoft.com/office/officeart/2018/2/layout/IconVerticalSolidList"/>
    <dgm:cxn modelId="{9A554429-A860-C142-8F7F-5382F8849666}" type="presOf" srcId="{90E1C303-BD16-4330-A9C4-F18604C05968}" destId="{822A804E-5E59-48BE-9FE7-E68CFE9797CD}" srcOrd="0" destOrd="0" presId="urn:microsoft.com/office/officeart/2018/2/layout/IconVerticalSolidList"/>
    <dgm:cxn modelId="{C27EFD3A-9E8F-4045-833B-28BB1FC00F49}" srcId="{735520DE-0E15-4A7C-93F4-60A7B7AEBE80}" destId="{90E1C303-BD16-4330-A9C4-F18604C05968}" srcOrd="0" destOrd="0" parTransId="{8002F461-195B-4E4C-BCA8-63E783CFBBBC}" sibTransId="{36229A1C-FB4B-40B0-9F4F-C36196252CCA}"/>
    <dgm:cxn modelId="{8194C241-4B2A-4D3F-BA4D-01C6F359165F}" srcId="{735520DE-0E15-4A7C-93F4-60A7B7AEBE80}" destId="{A8321D05-655F-4B57-BC82-08002017D947}" srcOrd="1" destOrd="0" parTransId="{B6259EA7-E21E-4B26-8587-7BB362025AE8}" sibTransId="{A32931C1-E6F5-4BE4-A788-2A0EA035605C}"/>
    <dgm:cxn modelId="{419EE080-82FF-4967-9D98-40A6B6A908FF}" srcId="{735520DE-0E15-4A7C-93F4-60A7B7AEBE80}" destId="{F92427F7-2DD9-4A69-934D-E20B399DD799}" srcOrd="2" destOrd="0" parTransId="{30E6945A-42E8-4904-AA2D-08DF1B58777B}" sibTransId="{83EA2FF6-300F-4A6B-B417-9005B05EF7D7}"/>
    <dgm:cxn modelId="{5701779B-2D6C-4A4B-B227-4587145238D2}" type="presOf" srcId="{F92427F7-2DD9-4A69-934D-E20B399DD799}" destId="{D39DF6C6-148E-480E-B3D5-0EC57E872572}" srcOrd="0" destOrd="0" presId="urn:microsoft.com/office/officeart/2018/2/layout/IconVerticalSolidList"/>
    <dgm:cxn modelId="{D0CE7BB3-15EC-CA4D-9FF6-95C18EF4DE8D}" type="presOf" srcId="{A8321D05-655F-4B57-BC82-08002017D947}" destId="{8824DBA1-332F-414A-8A43-987C4653853F}" srcOrd="0" destOrd="0" presId="urn:microsoft.com/office/officeart/2018/2/layout/IconVerticalSolidList"/>
    <dgm:cxn modelId="{6FFC97BB-913A-0D41-A887-043ABC659A41}" type="presParOf" srcId="{648F6F9F-C93C-425F-9A52-1471D5790A59}" destId="{CBE92F0E-8432-4408-B5E8-463F86C41416}" srcOrd="0" destOrd="0" presId="urn:microsoft.com/office/officeart/2018/2/layout/IconVerticalSolidList"/>
    <dgm:cxn modelId="{733A0D94-B284-F944-BF3E-25E4EF741CCB}" type="presParOf" srcId="{CBE92F0E-8432-4408-B5E8-463F86C41416}" destId="{93F556BE-D35D-4058-82E7-162FCE505A28}" srcOrd="0" destOrd="0" presId="urn:microsoft.com/office/officeart/2018/2/layout/IconVerticalSolidList"/>
    <dgm:cxn modelId="{F095CD64-C66B-A942-8E40-7A261185CEA4}" type="presParOf" srcId="{CBE92F0E-8432-4408-B5E8-463F86C41416}" destId="{28CB00EC-361C-49A2-AC16-19ACBC387578}" srcOrd="1" destOrd="0" presId="urn:microsoft.com/office/officeart/2018/2/layout/IconVerticalSolidList"/>
    <dgm:cxn modelId="{95D6C3A5-06AC-8344-8D1A-C729CA5F706D}" type="presParOf" srcId="{CBE92F0E-8432-4408-B5E8-463F86C41416}" destId="{2B3A4825-6111-418A-818E-2DD328A5DD0D}" srcOrd="2" destOrd="0" presId="urn:microsoft.com/office/officeart/2018/2/layout/IconVerticalSolidList"/>
    <dgm:cxn modelId="{FE2BCFEB-1A28-984A-99B9-5AC172A00C0B}" type="presParOf" srcId="{CBE92F0E-8432-4408-B5E8-463F86C41416}" destId="{822A804E-5E59-48BE-9FE7-E68CFE9797CD}" srcOrd="3" destOrd="0" presId="urn:microsoft.com/office/officeart/2018/2/layout/IconVerticalSolidList"/>
    <dgm:cxn modelId="{24C765C5-EA80-944F-8086-F1EBB16671D9}" type="presParOf" srcId="{648F6F9F-C93C-425F-9A52-1471D5790A59}" destId="{A1DE8E8B-F89E-4ECC-B9A4-84AAD1BD738F}" srcOrd="1" destOrd="0" presId="urn:microsoft.com/office/officeart/2018/2/layout/IconVerticalSolidList"/>
    <dgm:cxn modelId="{C8820CD8-6B1A-A448-BF51-44FCF7A647EC}" type="presParOf" srcId="{648F6F9F-C93C-425F-9A52-1471D5790A59}" destId="{701FB6EE-E1E5-4240-8418-83FF32B21796}" srcOrd="2" destOrd="0" presId="urn:microsoft.com/office/officeart/2018/2/layout/IconVerticalSolidList"/>
    <dgm:cxn modelId="{E7F36758-AAF1-6B4D-92EE-7089065F9CFD}" type="presParOf" srcId="{701FB6EE-E1E5-4240-8418-83FF32B21796}" destId="{6A31F98B-D211-4271-A752-92ADCDBB3470}" srcOrd="0" destOrd="0" presId="urn:microsoft.com/office/officeart/2018/2/layout/IconVerticalSolidList"/>
    <dgm:cxn modelId="{EF9621AE-AC1B-E24D-BCAC-2288745734DD}" type="presParOf" srcId="{701FB6EE-E1E5-4240-8418-83FF32B21796}" destId="{76EE4412-9DE7-466E-86CA-4E7EE93D81B8}" srcOrd="1" destOrd="0" presId="urn:microsoft.com/office/officeart/2018/2/layout/IconVerticalSolidList"/>
    <dgm:cxn modelId="{BC8B357A-2681-9A4B-B300-BCCE8A30F6A6}" type="presParOf" srcId="{701FB6EE-E1E5-4240-8418-83FF32B21796}" destId="{A1AEFC2C-3AFB-4088-BE34-00885AE72F42}" srcOrd="2" destOrd="0" presId="urn:microsoft.com/office/officeart/2018/2/layout/IconVerticalSolidList"/>
    <dgm:cxn modelId="{576706CF-1995-3D47-B135-E697387D7317}" type="presParOf" srcId="{701FB6EE-E1E5-4240-8418-83FF32B21796}" destId="{8824DBA1-332F-414A-8A43-987C4653853F}" srcOrd="3" destOrd="0" presId="urn:microsoft.com/office/officeart/2018/2/layout/IconVerticalSolidList"/>
    <dgm:cxn modelId="{E6FA9040-A0C9-834C-9E81-5A0907EEBA0B}" type="presParOf" srcId="{648F6F9F-C93C-425F-9A52-1471D5790A59}" destId="{FAEFFB5F-BEB5-4C91-94A3-DF12322DE909}" srcOrd="3" destOrd="0" presId="urn:microsoft.com/office/officeart/2018/2/layout/IconVerticalSolidList"/>
    <dgm:cxn modelId="{06B2D183-0F0C-8A40-9B85-C0280E992BB1}" type="presParOf" srcId="{648F6F9F-C93C-425F-9A52-1471D5790A59}" destId="{160AE29B-CEB1-482A-8E56-FE0E5A01F70D}" srcOrd="4" destOrd="0" presId="urn:microsoft.com/office/officeart/2018/2/layout/IconVerticalSolidList"/>
    <dgm:cxn modelId="{B2FD1FDA-97FD-5A48-8C2B-B8F0D32BEFF0}" type="presParOf" srcId="{160AE29B-CEB1-482A-8E56-FE0E5A01F70D}" destId="{6ED80341-73D6-49D0-9CF3-650430F3394D}" srcOrd="0" destOrd="0" presId="urn:microsoft.com/office/officeart/2018/2/layout/IconVerticalSolidList"/>
    <dgm:cxn modelId="{5A011C3D-27A5-C147-BE91-EE9FA5F71168}" type="presParOf" srcId="{160AE29B-CEB1-482A-8E56-FE0E5A01F70D}" destId="{EB3997B8-BEFD-483C-8D3E-C6AAF9553543}" srcOrd="1" destOrd="0" presId="urn:microsoft.com/office/officeart/2018/2/layout/IconVerticalSolidList"/>
    <dgm:cxn modelId="{84C3A465-AFE2-9F4A-B88B-D99AC270688A}" type="presParOf" srcId="{160AE29B-CEB1-482A-8E56-FE0E5A01F70D}" destId="{83427676-67D3-406B-809E-9E70A983509A}" srcOrd="2" destOrd="0" presId="urn:microsoft.com/office/officeart/2018/2/layout/IconVerticalSolidList"/>
    <dgm:cxn modelId="{FFCA19F4-DE1C-A94A-95C1-99B1FD77A4AB}" type="presParOf" srcId="{160AE29B-CEB1-482A-8E56-FE0E5A01F70D}" destId="{D39DF6C6-148E-480E-B3D5-0EC57E87257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F30702-E8E0-4397-875A-E745BF05C521}">
      <dsp:nvSpPr>
        <dsp:cNvPr id="0" name=""/>
        <dsp:cNvSpPr/>
      </dsp:nvSpPr>
      <dsp:spPr>
        <a:xfrm>
          <a:off x="0" y="531"/>
          <a:ext cx="10515600" cy="1242935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D908394-EEDE-4EF2-B384-A7D6D555FB37}">
      <dsp:nvSpPr>
        <dsp:cNvPr id="0" name=""/>
        <dsp:cNvSpPr/>
      </dsp:nvSpPr>
      <dsp:spPr>
        <a:xfrm>
          <a:off x="375988" y="280191"/>
          <a:ext cx="683614" cy="68361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4B53CC-5F2A-447D-94B3-66946AFCBE1A}">
      <dsp:nvSpPr>
        <dsp:cNvPr id="0" name=""/>
        <dsp:cNvSpPr/>
      </dsp:nvSpPr>
      <dsp:spPr>
        <a:xfrm>
          <a:off x="1435590" y="531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The U.S. stock market is the </a:t>
          </a:r>
          <a:r>
            <a:rPr lang="en-US" sz="20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largest in the world</a:t>
          </a: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, representing </a:t>
          </a:r>
          <a:br>
            <a:rPr lang="en-US" sz="20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n-US" sz="20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~ 46% </a:t>
          </a: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of global equity market capitalization.</a:t>
          </a:r>
        </a:p>
      </dsp:txBody>
      <dsp:txXfrm>
        <a:off x="1435590" y="531"/>
        <a:ext cx="9080009" cy="1242935"/>
      </dsp:txXfrm>
    </dsp:sp>
    <dsp:sp modelId="{EA47D272-B92B-4A35-BC57-A076B1C8D13A}">
      <dsp:nvSpPr>
        <dsp:cNvPr id="0" name=""/>
        <dsp:cNvSpPr/>
      </dsp:nvSpPr>
      <dsp:spPr>
        <a:xfrm>
          <a:off x="0" y="1554201"/>
          <a:ext cx="10515600" cy="1242935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AB2171E-2566-4597-8264-A4A1C5E70345}">
      <dsp:nvSpPr>
        <dsp:cNvPr id="0" name=""/>
        <dsp:cNvSpPr/>
      </dsp:nvSpPr>
      <dsp:spPr>
        <a:xfrm>
          <a:off x="375988" y="1833861"/>
          <a:ext cx="683614" cy="68361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93E573-BAE2-4E26-8D94-D1C30F09DB57}">
      <dsp:nvSpPr>
        <dsp:cNvPr id="0" name=""/>
        <dsp:cNvSpPr/>
      </dsp:nvSpPr>
      <dsp:spPr>
        <a:xfrm>
          <a:off x="1435590" y="1554201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Total U.S. market capitalization is approximately </a:t>
          </a:r>
          <a:r>
            <a:rPr lang="en-US" sz="20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$45–50 trillion</a:t>
          </a: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</a:p>
      </dsp:txBody>
      <dsp:txXfrm>
        <a:off x="1435590" y="1554201"/>
        <a:ext cx="9080009" cy="1242935"/>
      </dsp:txXfrm>
    </dsp:sp>
    <dsp:sp modelId="{6DA047D1-4056-4915-A89E-0190AEBE04E8}">
      <dsp:nvSpPr>
        <dsp:cNvPr id="0" name=""/>
        <dsp:cNvSpPr/>
      </dsp:nvSpPr>
      <dsp:spPr>
        <a:xfrm>
          <a:off x="0" y="3107870"/>
          <a:ext cx="10515600" cy="1242935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64F0503-F47E-4818-B224-DDA889D2955F}">
      <dsp:nvSpPr>
        <dsp:cNvPr id="0" name=""/>
        <dsp:cNvSpPr/>
      </dsp:nvSpPr>
      <dsp:spPr>
        <a:xfrm>
          <a:off x="375988" y="3387531"/>
          <a:ext cx="683614" cy="68361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DE6D2C-911C-429D-87E2-DBE2FE158C4A}">
      <dsp:nvSpPr>
        <dsp:cNvPr id="0" name=""/>
        <dsp:cNvSpPr/>
      </dsp:nvSpPr>
      <dsp:spPr>
        <a:xfrm>
          <a:off x="1435590" y="3107870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Major U.S. indices (S&amp;P 500, Dow Jones, Nasdaq) drive global financial sentiment.</a:t>
          </a:r>
        </a:p>
      </dsp:txBody>
      <dsp:txXfrm>
        <a:off x="1435590" y="3107870"/>
        <a:ext cx="9080009" cy="124293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270567E-B3A5-4C2A-A784-BD5313E87B12}">
      <dsp:nvSpPr>
        <dsp:cNvPr id="0" name=""/>
        <dsp:cNvSpPr/>
      </dsp:nvSpPr>
      <dsp:spPr>
        <a:xfrm>
          <a:off x="564387" y="9776"/>
          <a:ext cx="1510523" cy="151052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0E936C-4EDA-4A8E-A56F-FB316BAC88C4}">
      <dsp:nvSpPr>
        <dsp:cNvPr id="0" name=""/>
        <dsp:cNvSpPr/>
      </dsp:nvSpPr>
      <dsp:spPr>
        <a:xfrm>
          <a:off x="564387" y="1706568"/>
          <a:ext cx="4315781" cy="22673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Why Detect Regimes</a:t>
          </a:r>
          <a:br>
            <a:rPr lang="en-US" sz="20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br>
            <a:rPr lang="en-US" sz="20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n-US" sz="20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Identifying regime shifts </a:t>
          </a:r>
          <a:r>
            <a:rPr lang="en-US" sz="20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early</a:t>
          </a:r>
          <a:r>
            <a:rPr lang="en-US" sz="20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can prevent large drawdowns.</a:t>
          </a:r>
          <a:br>
            <a:rPr lang="en-US" sz="20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n-US" sz="20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Traditional methods struggle with sudden market reversals.</a:t>
          </a:r>
        </a:p>
      </dsp:txBody>
      <dsp:txXfrm>
        <a:off x="564387" y="1706568"/>
        <a:ext cx="4315781" cy="2267394"/>
      </dsp:txXfrm>
    </dsp:sp>
    <dsp:sp modelId="{1934245F-0814-4ECC-B470-41CCD43C671D}">
      <dsp:nvSpPr>
        <dsp:cNvPr id="0" name=""/>
        <dsp:cNvSpPr/>
      </dsp:nvSpPr>
      <dsp:spPr>
        <a:xfrm>
          <a:off x="564387" y="4060599"/>
          <a:ext cx="4315781" cy="2809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356D00B-EBC3-4D38-BB42-1EC0AF665C6B}">
      <dsp:nvSpPr>
        <dsp:cNvPr id="0" name=""/>
        <dsp:cNvSpPr/>
      </dsp:nvSpPr>
      <dsp:spPr>
        <a:xfrm>
          <a:off x="5635430" y="9776"/>
          <a:ext cx="1510523" cy="151052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243EEF-42DF-4F90-BCBD-92B709ECE488}">
      <dsp:nvSpPr>
        <dsp:cNvPr id="0" name=""/>
        <dsp:cNvSpPr/>
      </dsp:nvSpPr>
      <dsp:spPr>
        <a:xfrm>
          <a:off x="5635430" y="1706568"/>
          <a:ext cx="4315781" cy="22673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Role of Machine Learning</a:t>
          </a:r>
          <a:br>
            <a:rPr lang="en-US" sz="20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br>
            <a:rPr lang="en-US" sz="20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n-US" sz="20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Processes multiple indicators simultaneously (e.g., volatility, yield curve, bond-equity ratios)</a:t>
          </a:r>
          <a:br>
            <a:rPr lang="en-US" sz="20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n-US" sz="20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Learns historical transition patterns between market regimes</a:t>
          </a:r>
          <a:br>
            <a:rPr lang="en-US" sz="20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endParaRPr lang="en-US" sz="2000" b="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635430" y="1706568"/>
        <a:ext cx="4315781" cy="2267394"/>
      </dsp:txXfrm>
    </dsp:sp>
    <dsp:sp modelId="{D969A623-6226-40E4-B680-328F55CABBD5}">
      <dsp:nvSpPr>
        <dsp:cNvPr id="0" name=""/>
        <dsp:cNvSpPr/>
      </dsp:nvSpPr>
      <dsp:spPr>
        <a:xfrm>
          <a:off x="5635430" y="4060599"/>
          <a:ext cx="4315781" cy="2809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FB1BA8A-8CD5-427C-B7B5-0066ECEBB4F5}">
      <dsp:nvSpPr>
        <dsp:cNvPr id="0" name=""/>
        <dsp:cNvSpPr/>
      </dsp:nvSpPr>
      <dsp:spPr>
        <a:xfrm>
          <a:off x="0" y="537"/>
          <a:ext cx="10780642" cy="1258200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FC91C80-6377-4938-A2F5-DF36B7F819A1}">
      <dsp:nvSpPr>
        <dsp:cNvPr id="0" name=""/>
        <dsp:cNvSpPr/>
      </dsp:nvSpPr>
      <dsp:spPr>
        <a:xfrm>
          <a:off x="380605" y="283632"/>
          <a:ext cx="692010" cy="69201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380384-9044-495B-99F9-4C737546AB5F}">
      <dsp:nvSpPr>
        <dsp:cNvPr id="0" name=""/>
        <dsp:cNvSpPr/>
      </dsp:nvSpPr>
      <dsp:spPr>
        <a:xfrm>
          <a:off x="1453221" y="537"/>
          <a:ext cx="9327421" cy="12582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160" tIns="133160" rIns="133160" bIns="13316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Can supervised ML models accurately classify bull vs bear market regimes using pre-market indicators?</a:t>
          </a:r>
        </a:p>
      </dsp:txBody>
      <dsp:txXfrm>
        <a:off x="1453221" y="537"/>
        <a:ext cx="9327421" cy="1258200"/>
      </dsp:txXfrm>
    </dsp:sp>
    <dsp:sp modelId="{A6240B42-1A4F-4815-AB84-B89C57C84E44}">
      <dsp:nvSpPr>
        <dsp:cNvPr id="0" name=""/>
        <dsp:cNvSpPr/>
      </dsp:nvSpPr>
      <dsp:spPr>
        <a:xfrm>
          <a:off x="0" y="1573288"/>
          <a:ext cx="10780642" cy="1258200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F767217-0C9E-4904-A1A5-4C0ED944D5E6}">
      <dsp:nvSpPr>
        <dsp:cNvPr id="0" name=""/>
        <dsp:cNvSpPr/>
      </dsp:nvSpPr>
      <dsp:spPr>
        <a:xfrm>
          <a:off x="380605" y="1856383"/>
          <a:ext cx="692010" cy="69201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41EF18-0DE2-4D73-B4DD-F816C0B0910F}">
      <dsp:nvSpPr>
        <dsp:cNvPr id="0" name=""/>
        <dsp:cNvSpPr/>
      </dsp:nvSpPr>
      <dsp:spPr>
        <a:xfrm>
          <a:off x="1453221" y="1573288"/>
          <a:ext cx="9327421" cy="12582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160" tIns="133160" rIns="133160" bIns="13316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Which financial features (VIX, yield curve, TLT/SPY ratio) are most predictive of market regimes?</a:t>
          </a:r>
        </a:p>
      </dsp:txBody>
      <dsp:txXfrm>
        <a:off x="1453221" y="1573288"/>
        <a:ext cx="9327421" cy="1258200"/>
      </dsp:txXfrm>
    </dsp:sp>
    <dsp:sp modelId="{302FC6AD-A4E3-4132-B8E1-BB95627F07B3}">
      <dsp:nvSpPr>
        <dsp:cNvPr id="0" name=""/>
        <dsp:cNvSpPr/>
      </dsp:nvSpPr>
      <dsp:spPr>
        <a:xfrm>
          <a:off x="0" y="3146038"/>
          <a:ext cx="10780642" cy="1258200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3A6BB8F-820C-4CFD-BE24-C3206B82B191}">
      <dsp:nvSpPr>
        <dsp:cNvPr id="0" name=""/>
        <dsp:cNvSpPr/>
      </dsp:nvSpPr>
      <dsp:spPr>
        <a:xfrm>
          <a:off x="380605" y="3429133"/>
          <a:ext cx="692010" cy="69201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250826-F3DF-406D-81C9-036500A78FA7}">
      <dsp:nvSpPr>
        <dsp:cNvPr id="0" name=""/>
        <dsp:cNvSpPr/>
      </dsp:nvSpPr>
      <dsp:spPr>
        <a:xfrm>
          <a:off x="1453221" y="3146038"/>
          <a:ext cx="9327421" cy="12582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160" tIns="133160" rIns="133160" bIns="13316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How can regime classification improve risk-aware decision-making strategies for investors</a:t>
          </a:r>
        </a:p>
      </dsp:txBody>
      <dsp:txXfrm>
        <a:off x="1453221" y="3146038"/>
        <a:ext cx="9327421" cy="12582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D55357-43DB-4452-8316-305A400B272F}">
      <dsp:nvSpPr>
        <dsp:cNvPr id="0" name=""/>
        <dsp:cNvSpPr/>
      </dsp:nvSpPr>
      <dsp:spPr>
        <a:xfrm>
          <a:off x="0" y="39687"/>
          <a:ext cx="3286125" cy="1971675"/>
        </a:xfrm>
        <a:prstGeom prst="rect">
          <a:avLst/>
        </a:prstGeom>
        <a:gradFill rotWithShape="0">
          <a:gsLst>
            <a:gs pos="0">
              <a:schemeClr val="accent2">
                <a:shade val="8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shade val="8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shade val="8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 dirty="0">
              <a:solidFill>
                <a:schemeClr val="bg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rPr>
            <a:t>Data Sources </a:t>
          </a:r>
          <a:br>
            <a:rPr lang="en-US" sz="2000" b="0" i="0" kern="1200" baseline="0" dirty="0">
              <a:solidFill>
                <a:schemeClr val="bg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rPr>
          </a:br>
          <a:r>
            <a:rPr lang="en-US" sz="2000" b="0" i="0" kern="1200" baseline="0" dirty="0">
              <a:solidFill>
                <a:schemeClr val="bg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rPr>
            <a:t>Yahoo Finance: SPY, VIX, TLT </a:t>
          </a:r>
          <a:br>
            <a:rPr lang="en-US" sz="2000" b="0" i="0" kern="1200" baseline="0" dirty="0">
              <a:solidFill>
                <a:schemeClr val="bg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rPr>
          </a:br>
          <a:r>
            <a:rPr lang="en-US" sz="2000" b="0" i="0" kern="1200" baseline="0" dirty="0">
              <a:solidFill>
                <a:schemeClr val="bg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rPr>
            <a:t>FRED: 10Y–3M Treasury spread</a:t>
          </a:r>
        </a:p>
      </dsp:txBody>
      <dsp:txXfrm>
        <a:off x="0" y="39687"/>
        <a:ext cx="3286125" cy="1971675"/>
      </dsp:txXfrm>
    </dsp:sp>
    <dsp:sp modelId="{D401619B-C45B-4F5B-A154-78612646CD65}">
      <dsp:nvSpPr>
        <dsp:cNvPr id="0" name=""/>
        <dsp:cNvSpPr/>
      </dsp:nvSpPr>
      <dsp:spPr>
        <a:xfrm>
          <a:off x="3614737" y="39687"/>
          <a:ext cx="3286125" cy="1971675"/>
        </a:xfrm>
        <a:prstGeom prst="rect">
          <a:avLst/>
        </a:prstGeom>
        <a:gradFill rotWithShape="0">
          <a:gsLst>
            <a:gs pos="0">
              <a:schemeClr val="accent2">
                <a:shade val="80000"/>
                <a:hueOff val="-96283"/>
                <a:satOff val="2033"/>
                <a:lumOff val="5416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shade val="80000"/>
                <a:hueOff val="-96283"/>
                <a:satOff val="2033"/>
                <a:lumOff val="5416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shade val="80000"/>
                <a:hueOff val="-96283"/>
                <a:satOff val="2033"/>
                <a:lumOff val="5416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 dirty="0">
              <a:solidFill>
                <a:schemeClr val="bg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rPr>
            <a:t>Merged Dataset: ~5,800 trading days from </a:t>
          </a:r>
          <a:r>
            <a:rPr lang="en-US" sz="2000" b="1" i="0" kern="1200" baseline="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2000–2023</a:t>
          </a:r>
        </a:p>
      </dsp:txBody>
      <dsp:txXfrm>
        <a:off x="3614737" y="39687"/>
        <a:ext cx="3286125" cy="1971675"/>
      </dsp:txXfrm>
    </dsp:sp>
    <dsp:sp modelId="{660ECBAA-972D-4978-89A2-3B73B648A28F}">
      <dsp:nvSpPr>
        <dsp:cNvPr id="0" name=""/>
        <dsp:cNvSpPr/>
      </dsp:nvSpPr>
      <dsp:spPr>
        <a:xfrm>
          <a:off x="7229475" y="39687"/>
          <a:ext cx="3286125" cy="1971675"/>
        </a:xfrm>
        <a:prstGeom prst="rect">
          <a:avLst/>
        </a:prstGeom>
        <a:gradFill rotWithShape="0">
          <a:gsLst>
            <a:gs pos="0">
              <a:schemeClr val="accent2">
                <a:shade val="80000"/>
                <a:hueOff val="-192566"/>
                <a:satOff val="4066"/>
                <a:lumOff val="1083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shade val="80000"/>
                <a:hueOff val="-192566"/>
                <a:satOff val="4066"/>
                <a:lumOff val="1083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shade val="80000"/>
                <a:hueOff val="-192566"/>
                <a:satOff val="4066"/>
                <a:lumOff val="1083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 baseline="0">
              <a:latin typeface="Times New Roman" panose="02020603050405020304" pitchFamily="18" charset="0"/>
              <a:cs typeface="Times New Roman" panose="02020603050405020304" pitchFamily="18" charset="0"/>
            </a:rPr>
            <a:t>SPY ETF:</a:t>
          </a:r>
          <a:r>
            <a:rPr lang="en-US" sz="2000" b="0" i="0" kern="1200" baseline="0">
              <a:latin typeface="Times New Roman" panose="02020603050405020304" pitchFamily="18" charset="0"/>
              <a:cs typeface="Times New Roman" panose="02020603050405020304" pitchFamily="18" charset="0"/>
            </a:rPr>
            <a:t> Used to label bull vs bear regimes via 200-day moving average</a:t>
          </a:r>
          <a:endParaRPr lang="en-US" sz="20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7229475" y="39687"/>
        <a:ext cx="3286125" cy="1971675"/>
      </dsp:txXfrm>
    </dsp:sp>
    <dsp:sp modelId="{3EF5A290-C3A5-454C-B199-93BDD71C2654}">
      <dsp:nvSpPr>
        <dsp:cNvPr id="0" name=""/>
        <dsp:cNvSpPr/>
      </dsp:nvSpPr>
      <dsp:spPr>
        <a:xfrm>
          <a:off x="0" y="2339975"/>
          <a:ext cx="3286125" cy="1971675"/>
        </a:xfrm>
        <a:prstGeom prst="rect">
          <a:avLst/>
        </a:prstGeom>
        <a:gradFill rotWithShape="0">
          <a:gsLst>
            <a:gs pos="0">
              <a:schemeClr val="accent2">
                <a:shade val="80000"/>
                <a:hueOff val="-288849"/>
                <a:satOff val="6100"/>
                <a:lumOff val="1624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shade val="80000"/>
                <a:hueOff val="-288849"/>
                <a:satOff val="6100"/>
                <a:lumOff val="1624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shade val="80000"/>
                <a:hueOff val="-288849"/>
                <a:satOff val="6100"/>
                <a:lumOff val="1624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 baseline="0">
              <a:latin typeface="Times New Roman" panose="02020603050405020304" pitchFamily="18" charset="0"/>
              <a:cs typeface="Times New Roman" panose="02020603050405020304" pitchFamily="18" charset="0"/>
            </a:rPr>
            <a:t>VIX Index:</a:t>
          </a:r>
          <a:r>
            <a:rPr lang="en-US" sz="2000" b="0" i="0" kern="1200" baseline="0">
              <a:latin typeface="Times New Roman" panose="02020603050405020304" pitchFamily="18" charset="0"/>
              <a:cs typeface="Times New Roman" panose="02020603050405020304" pitchFamily="18" charset="0"/>
            </a:rPr>
            <a:t> Captures market fear and volatility</a:t>
          </a:r>
          <a:endParaRPr lang="en-US" sz="20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0" y="2339975"/>
        <a:ext cx="3286125" cy="1971675"/>
      </dsp:txXfrm>
    </dsp:sp>
    <dsp:sp modelId="{55C123F8-93D5-4609-87C0-87205C7488BA}">
      <dsp:nvSpPr>
        <dsp:cNvPr id="0" name=""/>
        <dsp:cNvSpPr/>
      </dsp:nvSpPr>
      <dsp:spPr>
        <a:xfrm>
          <a:off x="3614737" y="2339975"/>
          <a:ext cx="3286125" cy="1971675"/>
        </a:xfrm>
        <a:prstGeom prst="rect">
          <a:avLst/>
        </a:prstGeom>
        <a:gradFill rotWithShape="0">
          <a:gsLst>
            <a:gs pos="0">
              <a:schemeClr val="accent2">
                <a:shade val="80000"/>
                <a:hueOff val="-385132"/>
                <a:satOff val="8133"/>
                <a:lumOff val="2166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shade val="80000"/>
                <a:hueOff val="-385132"/>
                <a:satOff val="8133"/>
                <a:lumOff val="2166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shade val="80000"/>
                <a:hueOff val="-385132"/>
                <a:satOff val="8133"/>
                <a:lumOff val="2166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 baseline="0">
              <a:latin typeface="Times New Roman" panose="02020603050405020304" pitchFamily="18" charset="0"/>
              <a:cs typeface="Times New Roman" panose="02020603050405020304" pitchFamily="18" charset="0"/>
            </a:rPr>
            <a:t>TLT ETF:</a:t>
          </a:r>
          <a:r>
            <a:rPr lang="en-US" sz="2000" b="0" i="0" kern="1200" baseline="0">
              <a:latin typeface="Times New Roman" panose="02020603050405020304" pitchFamily="18" charset="0"/>
              <a:cs typeface="Times New Roman" panose="02020603050405020304" pitchFamily="18" charset="0"/>
            </a:rPr>
            <a:t> Represents Treasury bond performance and risk-off behavior</a:t>
          </a:r>
          <a:endParaRPr lang="en-US" sz="20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614737" y="2339975"/>
        <a:ext cx="3286125" cy="1971675"/>
      </dsp:txXfrm>
    </dsp:sp>
    <dsp:sp modelId="{2F056E9B-D265-464B-B52E-FFEEB1255927}">
      <dsp:nvSpPr>
        <dsp:cNvPr id="0" name=""/>
        <dsp:cNvSpPr/>
      </dsp:nvSpPr>
      <dsp:spPr>
        <a:xfrm>
          <a:off x="7229475" y="2339975"/>
          <a:ext cx="3286125" cy="1971675"/>
        </a:xfrm>
        <a:prstGeom prst="rect">
          <a:avLst/>
        </a:prstGeom>
        <a:gradFill rotWithShape="0">
          <a:gsLst>
            <a:gs pos="0">
              <a:schemeClr val="accent2">
                <a:shade val="80000"/>
                <a:hueOff val="-481415"/>
                <a:satOff val="10166"/>
                <a:lumOff val="2708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shade val="80000"/>
                <a:hueOff val="-481415"/>
                <a:satOff val="10166"/>
                <a:lumOff val="2708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shade val="80000"/>
                <a:hueOff val="-481415"/>
                <a:satOff val="10166"/>
                <a:lumOff val="2708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Yield Curve (10Y–3M spread):</a:t>
          </a:r>
          <a:r>
            <a:rPr lang="en-US" sz="2000" b="0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 Indicates macroeconomic conditions</a:t>
          </a:r>
          <a:endParaRPr lang="en-US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7229475" y="2339975"/>
        <a:ext cx="3286125" cy="197167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08663AF-3C65-429A-A4DC-DD2B9DA8EEF9}">
      <dsp:nvSpPr>
        <dsp:cNvPr id="0" name=""/>
        <dsp:cNvSpPr/>
      </dsp:nvSpPr>
      <dsp:spPr>
        <a:xfrm>
          <a:off x="1137481" y="59135"/>
          <a:ext cx="1025919" cy="1025919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B6F4924-2043-4C61-B349-A12EF0DDA7ED}">
      <dsp:nvSpPr>
        <dsp:cNvPr id="0" name=""/>
        <dsp:cNvSpPr/>
      </dsp:nvSpPr>
      <dsp:spPr>
        <a:xfrm>
          <a:off x="1363446" y="310151"/>
          <a:ext cx="595033" cy="59503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9E47D8-E150-4A49-955A-53078F982A7C}">
      <dsp:nvSpPr>
        <dsp:cNvPr id="0" name=""/>
        <dsp:cNvSpPr/>
      </dsp:nvSpPr>
      <dsp:spPr>
        <a:xfrm>
          <a:off x="2402696" y="178901"/>
          <a:ext cx="2418239" cy="10259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Built dataset from SPY, VIX, TLT, and yield curve data.</a:t>
          </a:r>
        </a:p>
      </dsp:txBody>
      <dsp:txXfrm>
        <a:off x="2402696" y="178901"/>
        <a:ext cx="2418239" cy="1025919"/>
      </dsp:txXfrm>
    </dsp:sp>
    <dsp:sp modelId="{09F5F0F4-9303-49E7-BB2F-C6CE88C2BF55}">
      <dsp:nvSpPr>
        <dsp:cNvPr id="0" name=""/>
        <dsp:cNvSpPr/>
      </dsp:nvSpPr>
      <dsp:spPr>
        <a:xfrm>
          <a:off x="7733955" y="59135"/>
          <a:ext cx="1025919" cy="1025919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E2118EF-2FB7-4B37-9323-89D0571304BA}">
      <dsp:nvSpPr>
        <dsp:cNvPr id="0" name=""/>
        <dsp:cNvSpPr/>
      </dsp:nvSpPr>
      <dsp:spPr>
        <a:xfrm>
          <a:off x="7937682" y="281262"/>
          <a:ext cx="595033" cy="59503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6B3307-B974-4593-AEBF-C67FD93C4A08}">
      <dsp:nvSpPr>
        <dsp:cNvPr id="0" name=""/>
        <dsp:cNvSpPr/>
      </dsp:nvSpPr>
      <dsp:spPr>
        <a:xfrm>
          <a:off x="8909874" y="59135"/>
          <a:ext cx="2418239" cy="10259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Created </a:t>
          </a:r>
          <a:r>
            <a:rPr lang="en-US" sz="19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target variable y = Market Regime (0 = Bear, 1 = Bull)</a:t>
          </a:r>
          <a:endParaRPr lang="en-US" sz="19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8909874" y="59135"/>
        <a:ext cx="2418239" cy="1025919"/>
      </dsp:txXfrm>
    </dsp:sp>
    <dsp:sp modelId="{7E64835E-7129-4785-827C-03289F997967}">
      <dsp:nvSpPr>
        <dsp:cNvPr id="0" name=""/>
        <dsp:cNvSpPr/>
      </dsp:nvSpPr>
      <dsp:spPr>
        <a:xfrm>
          <a:off x="1137481" y="1844242"/>
          <a:ext cx="1025919" cy="1025919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B0A7DA3-7AE3-40FC-9D61-8AA73C8E245C}">
      <dsp:nvSpPr>
        <dsp:cNvPr id="0" name=""/>
        <dsp:cNvSpPr/>
      </dsp:nvSpPr>
      <dsp:spPr>
        <a:xfrm>
          <a:off x="1311648" y="2032899"/>
          <a:ext cx="595033" cy="59503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AB0FB9-8EB7-4B8D-9F90-FDC85E038991}">
      <dsp:nvSpPr>
        <dsp:cNvPr id="0" name=""/>
        <dsp:cNvSpPr/>
      </dsp:nvSpPr>
      <dsp:spPr>
        <a:xfrm>
          <a:off x="2364100" y="1844242"/>
          <a:ext cx="3868023" cy="10259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Split dataset</a:t>
          </a:r>
          <a:r>
            <a:rPr lang="en-US" sz="19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into training and testing and validation ( Train [2002–2018]: 60 ; Test[2019–2021]: 20 ; Validation [2022–2025] : 20 ).</a:t>
          </a:r>
        </a:p>
      </dsp:txBody>
      <dsp:txXfrm>
        <a:off x="2364100" y="1844242"/>
        <a:ext cx="3868023" cy="1025919"/>
      </dsp:txXfrm>
    </dsp:sp>
    <dsp:sp modelId="{22E2A02A-691D-4D6B-9BE1-0F176F398F03}">
      <dsp:nvSpPr>
        <dsp:cNvPr id="0" name=""/>
        <dsp:cNvSpPr/>
      </dsp:nvSpPr>
      <dsp:spPr>
        <a:xfrm>
          <a:off x="7743739" y="1797449"/>
          <a:ext cx="1025919" cy="1025919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3FEFBF5-DAD2-48E5-91C6-AF8AE1398F09}">
      <dsp:nvSpPr>
        <dsp:cNvPr id="0" name=""/>
        <dsp:cNvSpPr/>
      </dsp:nvSpPr>
      <dsp:spPr>
        <a:xfrm>
          <a:off x="7924012" y="2032899"/>
          <a:ext cx="595033" cy="59503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B15BAE-9617-4902-B968-96157AAD8B98}">
      <dsp:nvSpPr>
        <dsp:cNvPr id="0" name=""/>
        <dsp:cNvSpPr/>
      </dsp:nvSpPr>
      <dsp:spPr>
        <a:xfrm>
          <a:off x="9106743" y="1735894"/>
          <a:ext cx="2418239" cy="10259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Handled class imbalance</a:t>
          </a:r>
          <a:r>
            <a:rPr lang="en-US" sz="19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in the training data using </a:t>
          </a:r>
          <a:r>
            <a:rPr lang="en-US" sz="1900" b="1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SMOTETomek</a:t>
          </a:r>
          <a:r>
            <a:rPr lang="en-US" sz="19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  <a:endParaRPr lang="en-US" sz="19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9106743" y="1735894"/>
        <a:ext cx="2418239" cy="1025919"/>
      </dsp:txXfrm>
    </dsp:sp>
    <dsp:sp modelId="{67FCF2C8-E2F4-45E2-9CFC-96D9FFDA04D9}">
      <dsp:nvSpPr>
        <dsp:cNvPr id="0" name=""/>
        <dsp:cNvSpPr/>
      </dsp:nvSpPr>
      <dsp:spPr>
        <a:xfrm>
          <a:off x="1247173" y="3690893"/>
          <a:ext cx="1025919" cy="1025919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DF3AEB9-EBF0-4A16-941C-E4C1B3B893EA}">
      <dsp:nvSpPr>
        <dsp:cNvPr id="0" name=""/>
        <dsp:cNvSpPr/>
      </dsp:nvSpPr>
      <dsp:spPr>
        <a:xfrm>
          <a:off x="1404015" y="3899020"/>
          <a:ext cx="595033" cy="595033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1317DB-00FC-4ED5-8856-D801AFE029F0}">
      <dsp:nvSpPr>
        <dsp:cNvPr id="0" name=""/>
        <dsp:cNvSpPr/>
      </dsp:nvSpPr>
      <dsp:spPr>
        <a:xfrm>
          <a:off x="2365104" y="3773849"/>
          <a:ext cx="3537812" cy="10259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Trained ML models</a:t>
          </a:r>
          <a:r>
            <a:rPr lang="en-US" sz="19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:</a:t>
          </a:r>
          <a:br>
            <a:rPr lang="en-US" sz="1900" kern="120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n-US" sz="19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Logistic, Lasso Logistic, Decision Tree, Random Forest, </a:t>
          </a:r>
          <a:r>
            <a:rPr lang="en-US" sz="1900" b="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XGBoost</a:t>
          </a:r>
          <a:endParaRPr lang="en-US" sz="1900" b="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365104" y="3773849"/>
        <a:ext cx="3537812" cy="1025919"/>
      </dsp:txXfrm>
    </dsp:sp>
    <dsp:sp modelId="{FE4598C7-140B-431E-B79A-25DA8CA69015}">
      <dsp:nvSpPr>
        <dsp:cNvPr id="0" name=""/>
        <dsp:cNvSpPr/>
      </dsp:nvSpPr>
      <dsp:spPr>
        <a:xfrm>
          <a:off x="7778452" y="3460841"/>
          <a:ext cx="1025919" cy="1025919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EC51472-C4DB-4F2F-8AF2-4ED38E116A2E}">
      <dsp:nvSpPr>
        <dsp:cNvPr id="0" name=""/>
        <dsp:cNvSpPr/>
      </dsp:nvSpPr>
      <dsp:spPr>
        <a:xfrm>
          <a:off x="8016818" y="3641109"/>
          <a:ext cx="595033" cy="595033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FB782F-AEEF-4B3D-9603-8F4AC1F8CA2C}">
      <dsp:nvSpPr>
        <dsp:cNvPr id="0" name=""/>
        <dsp:cNvSpPr/>
      </dsp:nvSpPr>
      <dsp:spPr>
        <a:xfrm>
          <a:off x="9072368" y="3496010"/>
          <a:ext cx="2418239" cy="10259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Evaluated performance</a:t>
          </a:r>
          <a:r>
            <a:rPr lang="en-US" sz="19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using accuracy, precision, recall, F1-score, and ROC-AUC.</a:t>
          </a:r>
        </a:p>
      </dsp:txBody>
      <dsp:txXfrm>
        <a:off x="9072368" y="3496010"/>
        <a:ext cx="2418239" cy="102591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86153FC-8777-2E4F-914B-A98ED8B3BF2A}">
      <dsp:nvSpPr>
        <dsp:cNvPr id="0" name=""/>
        <dsp:cNvSpPr/>
      </dsp:nvSpPr>
      <dsp:spPr>
        <a:xfrm>
          <a:off x="0" y="0"/>
          <a:ext cx="8412480" cy="957294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VIX and TLT/SPY emerged as the strongest predictors.</a:t>
          </a:r>
        </a:p>
      </dsp:txBody>
      <dsp:txXfrm>
        <a:off x="28038" y="28038"/>
        <a:ext cx="7298593" cy="901218"/>
      </dsp:txXfrm>
    </dsp:sp>
    <dsp:sp modelId="{045F8AD3-6007-0349-8080-95AE37A4787E}">
      <dsp:nvSpPr>
        <dsp:cNvPr id="0" name=""/>
        <dsp:cNvSpPr/>
      </dsp:nvSpPr>
      <dsp:spPr>
        <a:xfrm>
          <a:off x="704545" y="1131347"/>
          <a:ext cx="8412480" cy="957294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kern="1200">
              <a:latin typeface="Times New Roman" panose="02020603050405020304" pitchFamily="18" charset="0"/>
              <a:cs typeface="Times New Roman" panose="02020603050405020304" pitchFamily="18" charset="0"/>
            </a:rPr>
            <a:t>Yield curve added a slow-moving recession signal.</a:t>
          </a:r>
        </a:p>
      </dsp:txBody>
      <dsp:txXfrm>
        <a:off x="732583" y="1159385"/>
        <a:ext cx="7029617" cy="901218"/>
      </dsp:txXfrm>
    </dsp:sp>
    <dsp:sp modelId="{CA4C45B0-5E56-E44B-B4E4-AD02C72DE7AC}">
      <dsp:nvSpPr>
        <dsp:cNvPr id="0" name=""/>
        <dsp:cNvSpPr/>
      </dsp:nvSpPr>
      <dsp:spPr>
        <a:xfrm>
          <a:off x="1398574" y="2262695"/>
          <a:ext cx="8412480" cy="957294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Models struggled with rare bear periods due to class imbalance.</a:t>
          </a:r>
        </a:p>
      </dsp:txBody>
      <dsp:txXfrm>
        <a:off x="1426612" y="2290733"/>
        <a:ext cx="7040133" cy="901218"/>
      </dsp:txXfrm>
    </dsp:sp>
    <dsp:sp modelId="{9F4A786E-1DE0-2948-97B7-BB8019C0A880}">
      <dsp:nvSpPr>
        <dsp:cNvPr id="0" name=""/>
        <dsp:cNvSpPr/>
      </dsp:nvSpPr>
      <dsp:spPr>
        <a:xfrm>
          <a:off x="2103119" y="3394043"/>
          <a:ext cx="8412480" cy="957294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Out-of-sample testing (2020–2025) confirmed model stability in volatile markets</a:t>
          </a:r>
        </a:p>
      </dsp:txBody>
      <dsp:txXfrm>
        <a:off x="2131157" y="3422081"/>
        <a:ext cx="7029617" cy="901218"/>
      </dsp:txXfrm>
    </dsp:sp>
    <dsp:sp modelId="{4F8EC8A3-3F0C-7546-8E0A-33C93AF6164F}">
      <dsp:nvSpPr>
        <dsp:cNvPr id="0" name=""/>
        <dsp:cNvSpPr/>
      </dsp:nvSpPr>
      <dsp:spPr>
        <a:xfrm>
          <a:off x="7790238" y="733200"/>
          <a:ext cx="622241" cy="62224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7930242" y="733200"/>
        <a:ext cx="342233" cy="468236"/>
      </dsp:txXfrm>
    </dsp:sp>
    <dsp:sp modelId="{8658564D-4098-3B47-BFE0-530A6A3B296E}">
      <dsp:nvSpPr>
        <dsp:cNvPr id="0" name=""/>
        <dsp:cNvSpPr/>
      </dsp:nvSpPr>
      <dsp:spPr>
        <a:xfrm>
          <a:off x="8494783" y="1864548"/>
          <a:ext cx="622241" cy="62224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8634787" y="1864548"/>
        <a:ext cx="342233" cy="468236"/>
      </dsp:txXfrm>
    </dsp:sp>
    <dsp:sp modelId="{05BBA013-351C-4344-BA9B-B979061F0A80}">
      <dsp:nvSpPr>
        <dsp:cNvPr id="0" name=""/>
        <dsp:cNvSpPr/>
      </dsp:nvSpPr>
      <dsp:spPr>
        <a:xfrm>
          <a:off x="9188813" y="2995896"/>
          <a:ext cx="622241" cy="62224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9328817" y="2995896"/>
        <a:ext cx="342233" cy="468236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A0342F6-D6B4-4E11-9B72-1B4A68B9A45D}">
      <dsp:nvSpPr>
        <dsp:cNvPr id="0" name=""/>
        <dsp:cNvSpPr/>
      </dsp:nvSpPr>
      <dsp:spPr>
        <a:xfrm>
          <a:off x="1748064" y="2975"/>
          <a:ext cx="3342605" cy="2005563"/>
        </a:xfrm>
        <a:prstGeom prst="rect">
          <a:avLst/>
        </a:prstGeom>
        <a:gradFill rotWithShape="0">
          <a:gsLst>
            <a:gs pos="0">
              <a:schemeClr val="accent2">
                <a:alpha val="9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alpha val="9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alpha val="9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Logistic &amp; Lasso </a:t>
          </a:r>
          <a:r>
            <a:rPr lang="en-US" sz="22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logistic</a:t>
          </a:r>
          <a:r>
            <a:rPr lang="en-US" sz="22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: Delivered highest recall and AUC for bear-market detection</a:t>
          </a:r>
        </a:p>
      </dsp:txBody>
      <dsp:txXfrm>
        <a:off x="1748064" y="2975"/>
        <a:ext cx="3342605" cy="2005563"/>
      </dsp:txXfrm>
    </dsp:sp>
    <dsp:sp modelId="{A8425C93-70D0-443A-A3DE-D0245FFE83E1}">
      <dsp:nvSpPr>
        <dsp:cNvPr id="0" name=""/>
        <dsp:cNvSpPr/>
      </dsp:nvSpPr>
      <dsp:spPr>
        <a:xfrm>
          <a:off x="5424930" y="2975"/>
          <a:ext cx="3342605" cy="2005563"/>
        </a:xfrm>
        <a:prstGeom prst="rect">
          <a:avLst/>
        </a:prstGeom>
        <a:gradFill rotWithShape="0">
          <a:gsLst>
            <a:gs pos="0">
              <a:schemeClr val="accent2">
                <a:alpha val="90000"/>
                <a:hueOff val="0"/>
                <a:satOff val="0"/>
                <a:lumOff val="0"/>
                <a:alphaOff val="-13333"/>
                <a:satMod val="103000"/>
                <a:lumMod val="102000"/>
                <a:tint val="94000"/>
              </a:schemeClr>
            </a:gs>
            <a:gs pos="50000">
              <a:schemeClr val="accent2">
                <a:alpha val="90000"/>
                <a:hueOff val="0"/>
                <a:satOff val="0"/>
                <a:lumOff val="0"/>
                <a:alphaOff val="-13333"/>
                <a:satMod val="110000"/>
                <a:lumMod val="100000"/>
                <a:shade val="100000"/>
              </a:schemeClr>
            </a:gs>
            <a:gs pos="100000">
              <a:schemeClr val="accent2">
                <a:alpha val="90000"/>
                <a:hueOff val="0"/>
                <a:satOff val="0"/>
                <a:lumOff val="0"/>
                <a:alphaOff val="-13333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Lasso Logistic</a:t>
          </a:r>
          <a:r>
            <a:rPr lang="en-US" sz="2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200" kern="12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rPr>
            <a:t>delivered the </a:t>
          </a:r>
          <a:r>
            <a:rPr lang="en-US" sz="2200" b="0" kern="12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rPr>
            <a:t>best bear-class </a:t>
          </a:r>
          <a:r>
            <a:rPr lang="en-US" sz="2200" kern="12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rPr>
            <a:t>recall (0.83</a:t>
          </a:r>
          <a:r>
            <a:rPr lang="en-US" sz="2200" b="0" kern="12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rPr>
            <a:t>)</a:t>
          </a:r>
          <a:r>
            <a:rPr lang="en-US" sz="2200" kern="12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rPr>
            <a:t> and AUC (0.867)</a:t>
          </a:r>
        </a:p>
      </dsp:txBody>
      <dsp:txXfrm>
        <a:off x="5424930" y="2975"/>
        <a:ext cx="3342605" cy="2005563"/>
      </dsp:txXfrm>
    </dsp:sp>
    <dsp:sp modelId="{AA151711-E3AE-4C6B-A2ED-EB311586AFED}">
      <dsp:nvSpPr>
        <dsp:cNvPr id="0" name=""/>
        <dsp:cNvSpPr/>
      </dsp:nvSpPr>
      <dsp:spPr>
        <a:xfrm>
          <a:off x="1748064" y="2342799"/>
          <a:ext cx="3342605" cy="2005563"/>
        </a:xfrm>
        <a:prstGeom prst="rect">
          <a:avLst/>
        </a:prstGeom>
        <a:gradFill rotWithShape="0">
          <a:gsLst>
            <a:gs pos="0">
              <a:schemeClr val="accent2">
                <a:alpha val="90000"/>
                <a:hueOff val="0"/>
                <a:satOff val="0"/>
                <a:lumOff val="0"/>
                <a:alphaOff val="-26667"/>
                <a:satMod val="103000"/>
                <a:lumMod val="102000"/>
                <a:tint val="94000"/>
              </a:schemeClr>
            </a:gs>
            <a:gs pos="50000">
              <a:schemeClr val="accent2">
                <a:alpha val="90000"/>
                <a:hueOff val="0"/>
                <a:satOff val="0"/>
                <a:lumOff val="0"/>
                <a:alphaOff val="-26667"/>
                <a:satMod val="110000"/>
                <a:lumMod val="100000"/>
                <a:shade val="100000"/>
              </a:schemeClr>
            </a:gs>
            <a:gs pos="100000">
              <a:schemeClr val="accent2">
                <a:alpha val="90000"/>
                <a:hueOff val="0"/>
                <a:satOff val="0"/>
                <a:lumOff val="0"/>
                <a:alphaOff val="-26667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Tree Models</a:t>
          </a:r>
          <a:r>
            <a:rPr lang="en-US" sz="2200" b="0" kern="1200">
              <a:latin typeface="Times New Roman" panose="02020603050405020304" pitchFamily="18" charset="0"/>
              <a:cs typeface="Times New Roman" panose="02020603050405020304" pitchFamily="18" charset="0"/>
            </a:rPr>
            <a:t>: </a:t>
          </a:r>
          <a:r>
            <a:rPr lang="en-US" sz="2200" kern="1200">
              <a:latin typeface="Times New Roman" panose="02020603050405020304" pitchFamily="18" charset="0"/>
              <a:cs typeface="Times New Roman" panose="02020603050405020304" pitchFamily="18" charset="0"/>
            </a:rPr>
            <a:t>Failed to detect bear signals due to class imbalance</a:t>
          </a:r>
        </a:p>
      </dsp:txBody>
      <dsp:txXfrm>
        <a:off x="1748064" y="2342799"/>
        <a:ext cx="3342605" cy="2005563"/>
      </dsp:txXfrm>
    </dsp:sp>
    <dsp:sp modelId="{E9B2E65B-B56E-483C-A242-A3108D41FFCE}">
      <dsp:nvSpPr>
        <dsp:cNvPr id="0" name=""/>
        <dsp:cNvSpPr/>
      </dsp:nvSpPr>
      <dsp:spPr>
        <a:xfrm>
          <a:off x="5424930" y="2342799"/>
          <a:ext cx="3342605" cy="2005563"/>
        </a:xfrm>
        <a:prstGeom prst="rect">
          <a:avLst/>
        </a:prstGeom>
        <a:gradFill rotWithShape="0">
          <a:gsLst>
            <a:gs pos="0">
              <a:schemeClr val="accent2">
                <a:alpha val="90000"/>
                <a:hueOff val="0"/>
                <a:satOff val="0"/>
                <a:lumOff val="0"/>
                <a:alphaOff val="-40000"/>
                <a:satMod val="103000"/>
                <a:lumMod val="102000"/>
                <a:tint val="94000"/>
              </a:schemeClr>
            </a:gs>
            <a:gs pos="50000">
              <a:schemeClr val="accent2">
                <a:alpha val="90000"/>
                <a:hueOff val="0"/>
                <a:satOff val="0"/>
                <a:lumOff val="0"/>
                <a:alphaOff val="-40000"/>
                <a:satMod val="110000"/>
                <a:lumMod val="100000"/>
                <a:shade val="100000"/>
              </a:schemeClr>
            </a:gs>
            <a:gs pos="100000">
              <a:schemeClr val="accent2">
                <a:alpha val="90000"/>
                <a:hueOff val="0"/>
                <a:satOff val="0"/>
                <a:lumOff val="0"/>
                <a:alphaOff val="-4000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Class Imbalance</a:t>
          </a:r>
          <a:r>
            <a:rPr lang="en-US" sz="2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: Caused tree models to default to majority-class predictions</a:t>
          </a:r>
        </a:p>
      </dsp:txBody>
      <dsp:txXfrm>
        <a:off x="5424930" y="2342799"/>
        <a:ext cx="3342605" cy="2005563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FB3C8A6-1713-41F9-AA9C-D5F8481D083D}">
      <dsp:nvSpPr>
        <dsp:cNvPr id="0" name=""/>
        <dsp:cNvSpPr/>
      </dsp:nvSpPr>
      <dsp:spPr>
        <a:xfrm>
          <a:off x="0" y="39687"/>
          <a:ext cx="3286125" cy="1971675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Combines VIX, yield curve, credit spreads, and TLT/SPY ratio to flag regime shifts before market open.</a:t>
          </a:r>
        </a:p>
      </dsp:txBody>
      <dsp:txXfrm>
        <a:off x="0" y="39687"/>
        <a:ext cx="3286125" cy="1971675"/>
      </dsp:txXfrm>
    </dsp:sp>
    <dsp:sp modelId="{ECCBC708-2085-4890-B60A-D16882E19EE8}">
      <dsp:nvSpPr>
        <dsp:cNvPr id="0" name=""/>
        <dsp:cNvSpPr/>
      </dsp:nvSpPr>
      <dsp:spPr>
        <a:xfrm>
          <a:off x="3614737" y="39687"/>
          <a:ext cx="3286125" cy="1971675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Lasso Logistic performed best for bear detection (recall = 0.83) while remaining fully interpretable.</a:t>
          </a:r>
        </a:p>
      </dsp:txBody>
      <dsp:txXfrm>
        <a:off x="3614737" y="39687"/>
        <a:ext cx="3286125" cy="1971675"/>
      </dsp:txXfrm>
    </dsp:sp>
    <dsp:sp modelId="{E86DCC15-41E5-484E-B73B-FDCCE8FCEE6D}">
      <dsp:nvSpPr>
        <dsp:cNvPr id="0" name=""/>
        <dsp:cNvSpPr/>
      </dsp:nvSpPr>
      <dsp:spPr>
        <a:xfrm>
          <a:off x="7229475" y="39687"/>
          <a:ext cx="3286125" cy="1971675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Helps investors reduce drawdowns by adjusting equity exposure, increasing hedging, or shifting to defensive assets early.</a:t>
          </a:r>
        </a:p>
      </dsp:txBody>
      <dsp:txXfrm>
        <a:off x="7229475" y="39687"/>
        <a:ext cx="3286125" cy="1971675"/>
      </dsp:txXfrm>
    </dsp:sp>
    <dsp:sp modelId="{71EC8FDB-76DC-4616-952E-A3F51BE8409D}">
      <dsp:nvSpPr>
        <dsp:cNvPr id="0" name=""/>
        <dsp:cNvSpPr/>
      </dsp:nvSpPr>
      <dsp:spPr>
        <a:xfrm>
          <a:off x="0" y="2339975"/>
          <a:ext cx="3286125" cy="1971675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Provides an early-warning signal for volatility spikes and macroeconomic stress.</a:t>
          </a:r>
        </a:p>
      </dsp:txBody>
      <dsp:txXfrm>
        <a:off x="0" y="2339975"/>
        <a:ext cx="3286125" cy="1971675"/>
      </dsp:txXfrm>
    </dsp:sp>
    <dsp:sp modelId="{E1BEDAC0-0764-4C5F-8717-575D7702C3C0}">
      <dsp:nvSpPr>
        <dsp:cNvPr id="0" name=""/>
        <dsp:cNvSpPr/>
      </dsp:nvSpPr>
      <dsp:spPr>
        <a:xfrm>
          <a:off x="3614737" y="2339975"/>
          <a:ext cx="3286125" cy="1971675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Supports regulators in monitoring systemic risk using transparent, explainable financial indicators.</a:t>
          </a:r>
        </a:p>
      </dsp:txBody>
      <dsp:txXfrm>
        <a:off x="3614737" y="2339975"/>
        <a:ext cx="3286125" cy="1971675"/>
      </dsp:txXfrm>
    </dsp:sp>
    <dsp:sp modelId="{17B08EC7-048E-4E31-A687-BF563F2DDB3B}">
      <dsp:nvSpPr>
        <dsp:cNvPr id="0" name=""/>
        <dsp:cNvSpPr/>
      </dsp:nvSpPr>
      <dsp:spPr>
        <a:xfrm>
          <a:off x="7229475" y="2339975"/>
          <a:ext cx="3286125" cy="1971675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Useful for stress-testing, liquidity monitoring, and identifying periods when markets are vulnerable.</a:t>
          </a:r>
        </a:p>
      </dsp:txBody>
      <dsp:txXfrm>
        <a:off x="7229475" y="2339975"/>
        <a:ext cx="3286125" cy="1971675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F556BE-D35D-4058-82E7-162FCE505A28}">
      <dsp:nvSpPr>
        <dsp:cNvPr id="0" name=""/>
        <dsp:cNvSpPr/>
      </dsp:nvSpPr>
      <dsp:spPr>
        <a:xfrm>
          <a:off x="0" y="531"/>
          <a:ext cx="10515600" cy="1242935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8CB00EC-361C-49A2-AC16-19ACBC387578}">
      <dsp:nvSpPr>
        <dsp:cNvPr id="0" name=""/>
        <dsp:cNvSpPr/>
      </dsp:nvSpPr>
      <dsp:spPr>
        <a:xfrm>
          <a:off x="375988" y="280191"/>
          <a:ext cx="683614" cy="68361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2A804E-5E59-48BE-9FE7-E68CFE9797CD}">
      <dsp:nvSpPr>
        <dsp:cNvPr id="0" name=""/>
        <dsp:cNvSpPr/>
      </dsp:nvSpPr>
      <dsp:spPr>
        <a:xfrm>
          <a:off x="1435590" y="531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cap="none">
              <a:latin typeface="Times New Roman" panose="02020603050405020304" pitchFamily="18" charset="0"/>
              <a:cs typeface="Times New Roman" panose="02020603050405020304" pitchFamily="18" charset="0"/>
            </a:rPr>
            <a:t>Pre-market indicators allow early identification of market regimes, supporting faster and more informed decisions.</a:t>
          </a:r>
          <a:endParaRPr lang="en-US" sz="2500" kern="1200" cap="none">
            <a:latin typeface="Times New Roman" panose="02020603050405020304" pitchFamily="18" charset="0"/>
            <a:ea typeface="Calibri"/>
            <a:cs typeface="Times New Roman" panose="02020603050405020304" pitchFamily="18" charset="0"/>
          </a:endParaRPr>
        </a:p>
      </dsp:txBody>
      <dsp:txXfrm>
        <a:off x="1435590" y="531"/>
        <a:ext cx="9080009" cy="1242935"/>
      </dsp:txXfrm>
    </dsp:sp>
    <dsp:sp modelId="{6A31F98B-D211-4271-A752-92ADCDBB3470}">
      <dsp:nvSpPr>
        <dsp:cNvPr id="0" name=""/>
        <dsp:cNvSpPr/>
      </dsp:nvSpPr>
      <dsp:spPr>
        <a:xfrm>
          <a:off x="0" y="1554201"/>
          <a:ext cx="10515600" cy="1242935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6EE4412-9DE7-466E-86CA-4E7EE93D81B8}">
      <dsp:nvSpPr>
        <dsp:cNvPr id="0" name=""/>
        <dsp:cNvSpPr/>
      </dsp:nvSpPr>
      <dsp:spPr>
        <a:xfrm>
          <a:off x="375988" y="1833861"/>
          <a:ext cx="683614" cy="68361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24DBA1-332F-414A-8A43-987C4653853F}">
      <dsp:nvSpPr>
        <dsp:cNvPr id="0" name=""/>
        <dsp:cNvSpPr/>
      </dsp:nvSpPr>
      <dsp:spPr>
        <a:xfrm>
          <a:off x="1435590" y="1554201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cap="none">
              <a:latin typeface="Times New Roman" panose="02020603050405020304" pitchFamily="18" charset="0"/>
              <a:ea typeface="Calibri"/>
              <a:cs typeface="Times New Roman" panose="02020603050405020304" pitchFamily="18" charset="0"/>
            </a:rPr>
            <a:t>Regime classification strengthens risk management by helping investors adjust exposure before major downturns.</a:t>
          </a:r>
        </a:p>
      </dsp:txBody>
      <dsp:txXfrm>
        <a:off x="1435590" y="1554201"/>
        <a:ext cx="9080009" cy="1242935"/>
      </dsp:txXfrm>
    </dsp:sp>
    <dsp:sp modelId="{6ED80341-73D6-49D0-9CF3-650430F3394D}">
      <dsp:nvSpPr>
        <dsp:cNvPr id="0" name=""/>
        <dsp:cNvSpPr/>
      </dsp:nvSpPr>
      <dsp:spPr>
        <a:xfrm>
          <a:off x="0" y="3107870"/>
          <a:ext cx="10515600" cy="1242935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B3997B8-BEFD-483C-8D3E-C6AAF9553543}">
      <dsp:nvSpPr>
        <dsp:cNvPr id="0" name=""/>
        <dsp:cNvSpPr/>
      </dsp:nvSpPr>
      <dsp:spPr>
        <a:xfrm>
          <a:off x="375988" y="3387531"/>
          <a:ext cx="683614" cy="68361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9DF6C6-148E-480E-B3D5-0EC57E872572}">
      <dsp:nvSpPr>
        <dsp:cNvPr id="0" name=""/>
        <dsp:cNvSpPr/>
      </dsp:nvSpPr>
      <dsp:spPr>
        <a:xfrm>
          <a:off x="1435590" y="3107870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cap="none">
              <a:latin typeface="Times New Roman" panose="02020603050405020304" pitchFamily="18" charset="0"/>
              <a:ea typeface="Calibri"/>
              <a:cs typeface="Times New Roman" panose="02020603050405020304" pitchFamily="18" charset="0"/>
            </a:rPr>
            <a:t>Interpretable models provide regulators with clear, real-time signals of emerging systemic stress.</a:t>
          </a:r>
        </a:p>
      </dsp:txBody>
      <dsp:txXfrm>
        <a:off x="1435590" y="3107870"/>
        <a:ext cx="9080009" cy="124293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EF14A5-6D7A-46A3-BA2A-9C1145CED4B0}" type="datetimeFigureOut">
              <a:rPr lang="en-US" smtClean="0"/>
              <a:t>12/2/25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554A63-171E-462A-9E03-68B103564E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0364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554A63-171E-462A-9E03-68B103564EB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6755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EA3CA-D0F1-4A82-898F-0EA3BB4814FB}" type="datetime1">
              <a:rPr lang="en-US" smtClean="0"/>
              <a:t>12/2/25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6747C-29EE-4598-BFCE-FD7B92B70D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7012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D7C62-ACB8-4966-A0AE-90ACAF659DEE}" type="datetime1">
              <a:rPr lang="en-US" smtClean="0"/>
              <a:t>12/2/25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6747C-29EE-4598-BFCE-FD7B92B70D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8596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A237D-7BF2-4598-B7B5-3412F15DF0E1}" type="datetime1">
              <a:rPr lang="en-US" smtClean="0"/>
              <a:t>12/2/25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6747C-29EE-4598-BFCE-FD7B92B70D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2951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9122C-EA1D-4DBC-B19E-69953C5CFA1B}" type="datetime1">
              <a:rPr lang="en-US" smtClean="0"/>
              <a:t>12/2/25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6747C-29EE-4598-BFCE-FD7B92B70D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802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6820E-5265-4DB7-AA1D-8F099910B2AB}" type="datetime1">
              <a:rPr lang="en-US" smtClean="0"/>
              <a:t>12/2/25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6747C-29EE-4598-BFCE-FD7B92B70D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9613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2C9DD-639F-4A5C-B377-F64BE5475A4A}" type="datetime1">
              <a:rPr lang="en-US" smtClean="0"/>
              <a:t>12/2/25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6747C-29EE-4598-BFCE-FD7B92B70D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5509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596A8-F4FC-4E60-ACAD-CD48FC54C800}" type="datetime1">
              <a:rPr lang="en-US" smtClean="0"/>
              <a:t>12/2/25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6747C-29EE-4598-BFCE-FD7B92B70D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34172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985EA-642F-4E4E-B456-5BA6B66D512C}" type="datetime1">
              <a:rPr lang="en-US" smtClean="0"/>
              <a:t>12/2/25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6747C-29EE-4598-BFCE-FD7B92B70D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5443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55D75-622E-4EEC-8C9B-770104F9FE40}" type="datetime1">
              <a:rPr lang="en-US" smtClean="0"/>
              <a:t>12/2/25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6747C-29EE-4598-BFCE-FD7B92B70D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2019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2EC12-6C93-4B2D-A3B8-3651E58C0471}" type="datetime1">
              <a:rPr lang="en-US" smtClean="0"/>
              <a:t>12/2/25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6747C-29EE-4598-BFCE-FD7B92B70D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0519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C3471-F87C-4E14-BBB4-7A67539B09C1}" type="datetime1">
              <a:rPr lang="en-US" smtClean="0"/>
              <a:t>12/2/25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6747C-29EE-4598-BFCE-FD7B92B70D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2925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4" descr="C:\Program Files\Microsoft Resource DVD Artwork\DVD_ART\Artwork_Imagery\Shapes and Graphics\Line\faded white line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317499" y="1143000"/>
            <a:ext cx="11595100" cy="19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5" descr="5-00332_grey-bar.png"/>
          <p:cNvPicPr>
            <a:picLocks noChangeAspect="1"/>
          </p:cNvPicPr>
          <p:nvPr/>
        </p:nvPicPr>
        <p:blipFill>
          <a:blip r:embed="rId3" cstate="print"/>
          <a:srcRect t="93333"/>
          <a:stretch>
            <a:fillRect/>
          </a:stretch>
        </p:blipFill>
        <p:spPr bwMode="auto">
          <a:xfrm>
            <a:off x="0" y="6327776"/>
            <a:ext cx="12192000" cy="530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AutoShape 11"/>
          <p:cNvSpPr>
            <a:spLocks noChangeArrowheads="1"/>
          </p:cNvSpPr>
          <p:nvPr userDrawn="1"/>
        </p:nvSpPr>
        <p:spPr bwMode="auto">
          <a:xfrm>
            <a:off x="7431617" y="3429000"/>
            <a:ext cx="3488267" cy="1766888"/>
          </a:xfrm>
          <a:prstGeom prst="foldedCorner">
            <a:avLst>
              <a:gd name="adj" fmla="val 12741"/>
            </a:avLst>
          </a:prstGeom>
          <a:solidFill>
            <a:schemeClr val="tx1"/>
          </a:solidFill>
          <a:ln w="12700" cap="sq">
            <a:solidFill>
              <a:schemeClr val="bg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eaLnBrk="0" hangingPunct="0">
              <a:defRPr/>
            </a:pPr>
            <a:endParaRPr lang="en-US" sz="1800"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Rectangle 6"/>
          <p:cNvSpPr/>
          <p:nvPr userDrawn="1"/>
        </p:nvSpPr>
        <p:spPr>
          <a:xfrm>
            <a:off x="7141633" y="3432175"/>
            <a:ext cx="304800" cy="177165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800"/>
          </a:p>
        </p:txBody>
      </p:sp>
      <p:sp>
        <p:nvSpPr>
          <p:cNvPr id="8" name="Footer Placeholder 13"/>
          <p:cNvSpPr txBox="1">
            <a:spLocks noGrp="1"/>
          </p:cNvSpPr>
          <p:nvPr userDrawn="1"/>
        </p:nvSpPr>
        <p:spPr bwMode="auto">
          <a:xfrm>
            <a:off x="16933" y="6469064"/>
            <a:ext cx="46736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r>
              <a:rPr lang="en-US" sz="1400" i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Copyright 2016 John Wiley &amp; Sons, Inc.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1" y="167640"/>
            <a:ext cx="9836151" cy="1051560"/>
          </a:xfrm>
        </p:spPr>
        <p:txBody>
          <a:bodyPr>
            <a:noAutofit/>
          </a:bodyPr>
          <a:lstStyle>
            <a:lvl1pPr algn="r">
              <a:lnSpc>
                <a:spcPct val="90000"/>
              </a:lnSpc>
              <a:defRPr sz="36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063232" y="3505200"/>
            <a:ext cx="4070859" cy="1752600"/>
          </a:xfr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033831537"/>
      </p:ext>
    </p:extLst>
  </p:cSld>
  <p:clrMapOvr>
    <a:masterClrMapping/>
  </p:clrMapOvr>
  <p:transition>
    <p:fade/>
  </p:transition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Demo, Video etc. &quot;special&quot; slid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5-00332_grey-bar.png"/>
          <p:cNvPicPr>
            <a:picLocks noChangeAspect="1"/>
          </p:cNvPicPr>
          <p:nvPr/>
        </p:nvPicPr>
        <p:blipFill>
          <a:blip r:embed="rId2" cstate="print"/>
          <a:srcRect t="93333"/>
          <a:stretch>
            <a:fillRect/>
          </a:stretch>
        </p:blipFill>
        <p:spPr bwMode="auto">
          <a:xfrm>
            <a:off x="0" y="6400800"/>
            <a:ext cx="1219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24" descr="C:\Program Files\Microsoft Resource DVD Artwork\DVD_ART\Artwork_Imagery\Shapes and Graphics\Line\faded white line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625601" y="1676400"/>
            <a:ext cx="11595100" cy="19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08000" y="381000"/>
            <a:ext cx="9390944" cy="844044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4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08000" y="3048001"/>
            <a:ext cx="9390944" cy="461665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047128203"/>
      </p:ext>
    </p:extLst>
  </p:cSld>
  <p:clrMapOvr>
    <a:masterClrMapping/>
  </p:clrMapOvr>
  <p:transition>
    <p:fade/>
  </p:transition>
  <p:hf sldNum="0" hd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white rectangle.png"/>
          <p:cNvPicPr>
            <a:picLocks noChangeAspect="1"/>
          </p:cNvPicPr>
          <p:nvPr/>
        </p:nvPicPr>
        <p:blipFill>
          <a:blip r:embed="rId2" cstate="print">
            <a:duotone>
              <a:prstClr val="black"/>
              <a:schemeClr val="tx2">
                <a:tint val="45000"/>
                <a:satMod val="400000"/>
              </a:schemeClr>
            </a:duotone>
            <a:lum bright="39000" contrast="-43000"/>
          </a:blip>
          <a:srcRect b="10452"/>
          <a:stretch>
            <a:fillRect/>
          </a:stretch>
        </p:blipFill>
        <p:spPr bwMode="auto">
          <a:xfrm>
            <a:off x="0" y="838201"/>
            <a:ext cx="12192000" cy="60198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Footer Placeholder 13"/>
          <p:cNvSpPr txBox="1">
            <a:spLocks noGrp="1"/>
          </p:cNvSpPr>
          <p:nvPr userDrawn="1"/>
        </p:nvSpPr>
        <p:spPr bwMode="auto">
          <a:xfrm>
            <a:off x="101600" y="6442076"/>
            <a:ext cx="46736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r>
              <a:rPr lang="en-US" sz="1400" i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Copyright 2016 John Wiley &amp; Sons, Inc. </a:t>
            </a:r>
          </a:p>
        </p:txBody>
      </p:sp>
      <p:sp>
        <p:nvSpPr>
          <p:cNvPr id="7" name="AutoShape 15"/>
          <p:cNvSpPr>
            <a:spLocks noChangeArrowheads="1"/>
          </p:cNvSpPr>
          <p:nvPr userDrawn="1"/>
        </p:nvSpPr>
        <p:spPr bwMode="auto">
          <a:xfrm>
            <a:off x="11444818" y="6405564"/>
            <a:ext cx="575733" cy="339725"/>
          </a:xfrm>
          <a:prstGeom prst="foldedCorner">
            <a:avLst>
              <a:gd name="adj" fmla="val 33088"/>
            </a:avLst>
          </a:prstGeom>
          <a:solidFill>
            <a:schemeClr val="tx1"/>
          </a:solidFill>
          <a:ln w="12700" cap="sq">
            <a:solidFill>
              <a:schemeClr val="bg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eaLnBrk="0" hangingPunct="0">
              <a:defRPr/>
            </a:pPr>
            <a:endParaRPr lang="en-US" sz="1800"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Text Box 11"/>
          <p:cNvSpPr txBox="1">
            <a:spLocks noChangeArrowheads="1"/>
          </p:cNvSpPr>
          <p:nvPr userDrawn="1"/>
        </p:nvSpPr>
        <p:spPr bwMode="auto">
          <a:xfrm>
            <a:off x="11470217" y="6450013"/>
            <a:ext cx="5080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1435" tIns="45718" rIns="91435" bIns="45718"/>
          <a:lstStyle/>
          <a:p>
            <a:pPr algn="ctr">
              <a:defRPr/>
            </a:pPr>
            <a:fld id="{C7950154-B92D-4D7C-B2DA-893D87FEACAD}" type="slidenum">
              <a:rPr lang="en-GB" sz="100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pPr algn="ctr">
                <a:defRPr/>
              </a:pPr>
              <a:t>‹#›</a:t>
            </a:fld>
            <a:endParaRPr lang="en-GB" sz="100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11309351" y="6400801"/>
            <a:ext cx="141816" cy="347663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230188"/>
            <a:ext cx="11176000" cy="498598"/>
          </a:xfrm>
        </p:spPr>
        <p:txBody>
          <a:bodyPr/>
          <a:lstStyle>
            <a:lvl1pPr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508000" y="1411552"/>
            <a:ext cx="11176000" cy="2210862"/>
          </a:xfrm>
        </p:spPr>
        <p:txBody>
          <a:bodyPr/>
          <a:lstStyle>
            <a:lvl1pPr marL="460375" indent="-460375">
              <a:lnSpc>
                <a:spcPct val="90000"/>
              </a:lnSpc>
              <a:buFont typeface="Arial" panose="020B0604020202020204" pitchFamily="34" charset="0"/>
              <a:buChar char="•"/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854075" indent="-393700">
              <a:lnSpc>
                <a:spcPct val="90000"/>
              </a:lnSpc>
              <a:buFont typeface="Arial" panose="020B0604020202020204" pitchFamily="34" charset="0"/>
              <a:buChar char="•"/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258888" indent="-404813">
              <a:lnSpc>
                <a:spcPct val="90000"/>
              </a:lnSpc>
              <a:buFont typeface="Arial" panose="020B0604020202020204" pitchFamily="34" charset="0"/>
              <a:buChar char="•"/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55763" indent="-396875">
              <a:lnSpc>
                <a:spcPct val="90000"/>
              </a:lnSpc>
              <a:buFont typeface="Arial" panose="020B0604020202020204" pitchFamily="34" charset="0"/>
              <a:buChar char="•"/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941513" indent="-400050">
              <a:lnSpc>
                <a:spcPct val="90000"/>
              </a:lnSpc>
              <a:buFont typeface="Arial" panose="020B0604020202020204" pitchFamily="34" charset="0"/>
              <a:buChar char="•"/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4267409"/>
      </p:ext>
    </p:extLst>
  </p:cSld>
  <p:clrMapOvr>
    <a:masterClrMapping/>
  </p:clrMapOvr>
  <p:transition>
    <p:fade/>
  </p:transition>
  <p:hf sldNum="0" hd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908" y="230188"/>
            <a:ext cx="11676184" cy="498598"/>
          </a:xfrm>
        </p:spPr>
        <p:txBody>
          <a:bodyPr/>
          <a:lstStyle>
            <a:lvl1pPr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0" y="1412875"/>
            <a:ext cx="11176000" cy="2210862"/>
          </a:xfrm>
        </p:spPr>
        <p:txBody>
          <a:bodyPr/>
          <a:lstStyle>
            <a:lvl1pPr marL="460375" indent="-460375">
              <a:lnSpc>
                <a:spcPct val="90000"/>
              </a:lnSpc>
              <a:buFont typeface="Arial" panose="020B0604020202020204" pitchFamily="34" charset="0"/>
              <a:buChar char="•"/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854075" indent="-393700">
              <a:lnSpc>
                <a:spcPct val="90000"/>
              </a:lnSpc>
              <a:buFont typeface="Arial" panose="020B0604020202020204" pitchFamily="34" charset="0"/>
              <a:buChar char="•"/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258888" indent="-404813">
              <a:lnSpc>
                <a:spcPct val="90000"/>
              </a:lnSpc>
              <a:buFont typeface="Arial" panose="020B0604020202020204" pitchFamily="34" charset="0"/>
              <a:buChar char="•"/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55763" indent="-396875">
              <a:lnSpc>
                <a:spcPct val="90000"/>
              </a:lnSpc>
              <a:buFont typeface="Arial" panose="020B0604020202020204" pitchFamily="34" charset="0"/>
              <a:buChar char="•"/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941513" indent="-400050">
              <a:lnSpc>
                <a:spcPct val="90000"/>
              </a:lnSpc>
              <a:buFont typeface="Arial" panose="020B0604020202020204" pitchFamily="34" charset="0"/>
              <a:buChar char="•"/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5594189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230189"/>
            <a:ext cx="11176000" cy="498475"/>
          </a:xfrm>
        </p:spPr>
        <p:txBody>
          <a:bodyPr/>
          <a:lstStyle>
            <a:lvl1pPr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8000" y="1411553"/>
            <a:ext cx="5486400" cy="2129814"/>
          </a:xfrm>
        </p:spPr>
        <p:txBody>
          <a:bodyPr/>
          <a:lstStyle>
            <a:lvl1pPr marL="339976" indent="-339976">
              <a:lnSpc>
                <a:spcPct val="90000"/>
              </a:lnSpc>
              <a:buFont typeface="Arial" panose="020B0604020202020204" pitchFamily="34" charset="0"/>
              <a:buChar char="•"/>
              <a:defRPr sz="2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673338" indent="-325424">
              <a:lnSpc>
                <a:spcPct val="90000"/>
              </a:lnSpc>
              <a:buFont typeface="Arial" panose="020B0604020202020204" pitchFamily="34" charset="0"/>
              <a:buChar char="•"/>
              <a:defRPr sz="2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53785" indent="-288384">
              <a:lnSpc>
                <a:spcPct val="90000"/>
              </a:lnSpc>
              <a:buFont typeface="Arial" panose="020B0604020202020204" pitchFamily="34" charset="0"/>
              <a:buChar char="•"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227618" indent="-273833">
              <a:lnSpc>
                <a:spcPct val="90000"/>
              </a:lnSpc>
              <a:buFont typeface="Arial" panose="020B0604020202020204" pitchFamily="34" charset="0"/>
              <a:buChar char="•"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516002" indent="-280447">
              <a:lnSpc>
                <a:spcPct val="90000"/>
              </a:lnSpc>
              <a:buFont typeface="Arial" panose="020B0604020202020204" pitchFamily="34" charset="0"/>
              <a:buChar char="•"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411553"/>
            <a:ext cx="5486400" cy="2129814"/>
          </a:xfrm>
        </p:spPr>
        <p:txBody>
          <a:bodyPr/>
          <a:lstStyle>
            <a:lvl1pPr marL="347914" indent="-347914">
              <a:lnSpc>
                <a:spcPct val="90000"/>
              </a:lnSpc>
              <a:buFont typeface="Arial" panose="020B0604020202020204" pitchFamily="34" charset="0"/>
              <a:buChar char="•"/>
              <a:defRPr sz="2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673338" indent="-339976">
              <a:lnSpc>
                <a:spcPct val="90000"/>
              </a:lnSpc>
              <a:buFont typeface="Arial" panose="020B0604020202020204" pitchFamily="34" charset="0"/>
              <a:buChar char="•"/>
              <a:defRPr sz="2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61722" indent="-302936">
              <a:lnSpc>
                <a:spcPct val="90000"/>
              </a:lnSpc>
              <a:buFont typeface="Arial" panose="020B0604020202020204" pitchFamily="34" charset="0"/>
              <a:buChar char="•"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227618" indent="-265896">
              <a:lnSpc>
                <a:spcPct val="90000"/>
              </a:lnSpc>
              <a:buFont typeface="Arial" panose="020B0604020202020204" pitchFamily="34" charset="0"/>
              <a:buChar char="•"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516002" indent="-273833">
              <a:lnSpc>
                <a:spcPct val="90000"/>
              </a:lnSpc>
              <a:buFont typeface="Arial" panose="020B0604020202020204" pitchFamily="34" charset="0"/>
              <a:buChar char="•"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69288352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0" y="1411553"/>
            <a:ext cx="5486400" cy="692498"/>
          </a:xfrm>
        </p:spPr>
        <p:txBody>
          <a:bodyPr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500" b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182" indent="0">
              <a:buNone/>
              <a:defRPr sz="2000" b="1"/>
            </a:lvl2pPr>
            <a:lvl3pPr marL="914363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0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7999" y="2174875"/>
            <a:ext cx="5486400" cy="1537344"/>
          </a:xfrm>
        </p:spPr>
        <p:txBody>
          <a:bodyPr/>
          <a:lstStyle>
            <a:lvl1pPr marL="281770" indent="-281770">
              <a:buFont typeface="Arial" panose="020B0604020202020204" pitchFamily="34" charset="0"/>
              <a:buChar char="•"/>
              <a:defRPr sz="23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562218" indent="-265896">
              <a:buFont typeface="Arial" panose="020B0604020202020204" pitchFamily="34" charset="0"/>
              <a:buChar char="•"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813562" indent="-243407">
              <a:buFont typeface="Arial" panose="020B0604020202020204" pitchFamily="34" charset="0"/>
              <a:buChar char="•"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050354" indent="-228856">
              <a:buFont typeface="Arial" panose="020B0604020202020204" pitchFamily="34" charset="0"/>
              <a:buChar char="•"/>
              <a:defRPr sz="17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279210" indent="-206367">
              <a:buFont typeface="Arial" panose="020B0604020202020204" pitchFamily="34" charset="0"/>
              <a:buChar char="•"/>
              <a:defRPr sz="17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4642" y="1411553"/>
            <a:ext cx="5489359" cy="692498"/>
          </a:xfrm>
        </p:spPr>
        <p:txBody>
          <a:bodyPr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500" b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182" indent="0">
              <a:buNone/>
              <a:defRPr sz="2000" b="1"/>
            </a:lvl2pPr>
            <a:lvl3pPr marL="914363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0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490632" cy="1537344"/>
          </a:xfrm>
        </p:spPr>
        <p:txBody>
          <a:bodyPr/>
          <a:lstStyle>
            <a:lvl1pPr marL="296321" indent="-296321">
              <a:buFont typeface="Arial" panose="020B0604020202020204" pitchFamily="34" charset="0"/>
              <a:buChar char="•"/>
              <a:defRPr sz="23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570155" indent="-273833">
              <a:buFont typeface="Arial" panose="020B0604020202020204" pitchFamily="34" charset="0"/>
              <a:buChar char="•"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821499" indent="-244730">
              <a:buFont typeface="Arial" panose="020B0604020202020204" pitchFamily="34" charset="0"/>
              <a:buChar char="•"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050354" indent="-236793">
              <a:buFont typeface="Arial" panose="020B0604020202020204" pitchFamily="34" charset="0"/>
              <a:buChar char="•"/>
              <a:defRPr sz="17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279210" indent="-220919">
              <a:buFont typeface="Arial" panose="020B0604020202020204" pitchFamily="34" charset="0"/>
              <a:buChar char="•"/>
              <a:defRPr sz="17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0050764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230188"/>
            <a:ext cx="11176000" cy="4985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73305427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 bwMode="white">
          <a:xfrm>
            <a:off x="508000" y="1411554"/>
            <a:ext cx="11176000" cy="1775871"/>
          </a:xfrm>
        </p:spPr>
        <p:txBody>
          <a:bodyPr/>
          <a:lstStyle>
            <a:lvl1pPr>
              <a:buClr>
                <a:schemeClr val="tx1"/>
              </a:buClr>
              <a:buSzPct val="70000"/>
              <a:buFont typeface="Wingdings" pitchFamily="2" charset="2"/>
              <a:buChar char="l"/>
              <a:defRPr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buClr>
                <a:schemeClr val="tx1"/>
              </a:buClr>
              <a:buSzPct val="70000"/>
              <a:buFont typeface="Wingdings" pitchFamily="2" charset="2"/>
              <a:buChar char="l"/>
              <a:defRPr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buClr>
                <a:schemeClr val="tx1"/>
              </a:buClr>
              <a:buSzPct val="70000"/>
              <a:buFont typeface="Wingdings" pitchFamily="2" charset="2"/>
              <a:buChar char="l"/>
              <a:defRPr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buClr>
                <a:schemeClr val="tx1"/>
              </a:buClr>
              <a:buSzPct val="70000"/>
              <a:buFont typeface="Wingdings" pitchFamily="2" charset="2"/>
              <a:buChar char="l"/>
              <a:defRPr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buClr>
                <a:schemeClr val="tx1"/>
              </a:buClr>
              <a:buSzPct val="70000"/>
              <a:buFont typeface="Wingdings" pitchFamily="2" charset="2"/>
              <a:buChar char="l"/>
              <a:defRPr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66318028"/>
      </p:ext>
    </p:extLst>
  </p:cSld>
  <p:clrMapOvr>
    <a:masterClrMapping/>
  </p:clrMapOvr>
  <p:transition>
    <p:fade/>
  </p:transition>
  <p:hf sldNum="0"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16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15.xml"/><Relationship Id="rId9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4E670C-A3F6-4F6F-9347-C888FD4944ED}" type="datetime1">
              <a:rPr lang="en-US" smtClean="0"/>
              <a:t>12/2/25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36747C-29EE-4598-BFCE-FD7B92B70DD7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 bwMode="auto">
          <a:xfrm>
            <a:off x="16933" y="0"/>
            <a:ext cx="12175067" cy="139337"/>
          </a:xfrm>
          <a:prstGeom prst="rect">
            <a:avLst/>
          </a:prstGeom>
          <a:gradFill flip="none" rotWithShape="1">
            <a:gsLst>
              <a:gs pos="0">
                <a:srgbClr val="FF0000">
                  <a:shade val="30000"/>
                  <a:satMod val="115000"/>
                </a:srgbClr>
              </a:gs>
              <a:gs pos="50000">
                <a:srgbClr val="FF0000">
                  <a:shade val="67500"/>
                  <a:satMod val="115000"/>
                </a:srgbClr>
              </a:gs>
              <a:gs pos="100000">
                <a:srgbClr val="FF0000">
                  <a:shade val="100000"/>
                  <a:satMod val="115000"/>
                </a:srgbClr>
              </a:gs>
            </a:gsLst>
            <a:lin ang="8100000" scaled="1"/>
            <a:tileRect/>
          </a:gra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kern="0">
              <a:solidFill>
                <a:sysClr val="windowText" lastClr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 userDrawn="1"/>
        </p:nvSpPr>
        <p:spPr bwMode="auto">
          <a:xfrm>
            <a:off x="0" y="6718663"/>
            <a:ext cx="12175067" cy="139337"/>
          </a:xfrm>
          <a:prstGeom prst="rect">
            <a:avLst/>
          </a:prstGeom>
          <a:gradFill flip="none" rotWithShape="1">
            <a:gsLst>
              <a:gs pos="0">
                <a:srgbClr val="FF0000">
                  <a:shade val="30000"/>
                  <a:satMod val="115000"/>
                </a:srgbClr>
              </a:gs>
              <a:gs pos="50000">
                <a:srgbClr val="FF0000">
                  <a:shade val="67500"/>
                  <a:satMod val="115000"/>
                </a:srgbClr>
              </a:gs>
              <a:gs pos="100000">
                <a:srgbClr val="FF0000">
                  <a:shade val="100000"/>
                  <a:satMod val="115000"/>
                </a:srgbClr>
              </a:gs>
            </a:gsLst>
            <a:lin ang="8100000" scaled="1"/>
            <a:tileRect/>
          </a:gra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kern="0">
              <a:solidFill>
                <a:sysClr val="windowText" lastClr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Rectangle 9"/>
          <p:cNvSpPr/>
          <p:nvPr userDrawn="1"/>
        </p:nvSpPr>
        <p:spPr bwMode="auto">
          <a:xfrm>
            <a:off x="838200" y="1583532"/>
            <a:ext cx="10515600" cy="62706"/>
          </a:xfrm>
          <a:prstGeom prst="rect">
            <a:avLst/>
          </a:prstGeom>
          <a:gradFill flip="none" rotWithShape="1">
            <a:gsLst>
              <a:gs pos="0">
                <a:srgbClr val="FF0000">
                  <a:shade val="30000"/>
                  <a:satMod val="115000"/>
                </a:srgbClr>
              </a:gs>
              <a:gs pos="50000">
                <a:srgbClr val="FF0000">
                  <a:shade val="67500"/>
                  <a:satMod val="115000"/>
                </a:srgbClr>
              </a:gs>
              <a:gs pos="100000">
                <a:srgbClr val="FF0000">
                  <a:shade val="100000"/>
                  <a:satMod val="115000"/>
                </a:srgbClr>
              </a:gs>
            </a:gsLst>
            <a:lin ang="8100000" scaled="1"/>
            <a:tileRect/>
          </a:gra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kern="0">
              <a:solidFill>
                <a:sysClr val="windowText" lastClr="000000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23521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ysClr val="window" lastClr="FFFFFF">
              <a:alpha val="5000"/>
            </a:sysClr>
          </a:solidFill>
          <a:ln w="127000" cap="flat" cmpd="sng" algn="ctr">
            <a:solidFill>
              <a:schemeClr val="bg1"/>
            </a:solidFill>
            <a:prstDash val="solid"/>
          </a:ln>
          <a:effectLst>
            <a:softEdge rad="127000"/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sz="1800" kern="0">
              <a:solidFill>
                <a:sysClr val="window" lastClr="FFFFFF"/>
              </a:solidFill>
              <a:latin typeface="Century"/>
              <a:cs typeface="Arial" pitchFamily="34" charset="0"/>
            </a:endParaRPr>
          </a:p>
        </p:txBody>
      </p:sp>
      <p:sp>
        <p:nvSpPr>
          <p:cNvPr id="4101" name="Title Placeholder 1"/>
          <p:cNvSpPr>
            <a:spLocks noGrp="1"/>
          </p:cNvSpPr>
          <p:nvPr>
            <p:ph type="title"/>
          </p:nvPr>
        </p:nvSpPr>
        <p:spPr bwMode="auto">
          <a:xfrm>
            <a:off x="508000" y="230189"/>
            <a:ext cx="1117600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410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508000" y="1412876"/>
            <a:ext cx="11176000" cy="1776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13"/>
          <p:cNvSpPr txBox="1">
            <a:spLocks noGrp="1"/>
          </p:cNvSpPr>
          <p:nvPr userDrawn="1"/>
        </p:nvSpPr>
        <p:spPr bwMode="auto">
          <a:xfrm>
            <a:off x="101600" y="6442076"/>
            <a:ext cx="46736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r>
              <a:rPr lang="en-US" sz="1400" i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Copyright 2016 John Wiley &amp; Sons, Inc. </a:t>
            </a:r>
          </a:p>
        </p:txBody>
      </p:sp>
      <p:sp>
        <p:nvSpPr>
          <p:cNvPr id="6" name="AutoShape 15"/>
          <p:cNvSpPr>
            <a:spLocks noChangeArrowheads="1"/>
          </p:cNvSpPr>
          <p:nvPr userDrawn="1"/>
        </p:nvSpPr>
        <p:spPr bwMode="auto">
          <a:xfrm>
            <a:off x="11444818" y="6405564"/>
            <a:ext cx="575733" cy="339725"/>
          </a:xfrm>
          <a:prstGeom prst="foldedCorner">
            <a:avLst>
              <a:gd name="adj" fmla="val 33088"/>
            </a:avLst>
          </a:prstGeom>
          <a:solidFill>
            <a:schemeClr val="tx1"/>
          </a:solidFill>
          <a:ln w="12700" cap="sq">
            <a:solidFill>
              <a:schemeClr val="bg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eaLnBrk="0" hangingPunct="0">
              <a:defRPr/>
            </a:pPr>
            <a:endParaRPr lang="en-US" sz="1800"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Text Box 11"/>
          <p:cNvSpPr txBox="1">
            <a:spLocks noChangeArrowheads="1"/>
          </p:cNvSpPr>
          <p:nvPr userDrawn="1"/>
        </p:nvSpPr>
        <p:spPr bwMode="auto">
          <a:xfrm>
            <a:off x="11470217" y="6450013"/>
            <a:ext cx="5080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1435" tIns="45718" rIns="91435" bIns="45718"/>
          <a:lstStyle/>
          <a:p>
            <a:pPr algn="ctr">
              <a:defRPr/>
            </a:pPr>
            <a:fld id="{57786D8C-DD30-410E-B42D-4B5BDCA1DF5F}" type="slidenum">
              <a:rPr lang="en-GB" sz="100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pPr algn="ctr">
                <a:defRPr/>
              </a:pPr>
              <a:t>‹#›</a:t>
            </a:fld>
            <a:endParaRPr lang="en-GB" sz="100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11309351" y="6400801"/>
            <a:ext cx="141816" cy="347663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957085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</p:sldLayoutIdLst>
  <p:transition>
    <p:fade/>
  </p:transition>
  <p:hf sldNum="0" hdr="0" dt="0"/>
  <p:txStyles>
    <p:titleStyle>
      <a:lvl1pPr algn="ctr" defTabSz="912813" rtl="0" eaLnBrk="0" fontAlgn="base" hangingPunct="0">
        <a:lnSpc>
          <a:spcPct val="90000"/>
        </a:lnSpc>
        <a:spcBef>
          <a:spcPct val="0"/>
        </a:spcBef>
        <a:spcAft>
          <a:spcPct val="0"/>
        </a:spcAft>
        <a:tabLst>
          <a:tab pos="2333625" algn="l"/>
        </a:tabLst>
        <a:defRPr lang="en-US" sz="3600" b="1" kern="1200" dirty="0">
          <a:solidFill>
            <a:schemeClr val="bg1"/>
          </a:solidFill>
          <a:latin typeface="+mj-lt"/>
          <a:ea typeface="+mn-ea"/>
          <a:cs typeface="Arial" charset="0"/>
        </a:defRPr>
      </a:lvl1pPr>
      <a:lvl2pPr algn="ctr" defTabSz="912813" rtl="0" eaLnBrk="0" fontAlgn="base" hangingPunct="0">
        <a:lnSpc>
          <a:spcPct val="90000"/>
        </a:lnSpc>
        <a:spcBef>
          <a:spcPct val="0"/>
        </a:spcBef>
        <a:spcAft>
          <a:spcPct val="0"/>
        </a:spcAft>
        <a:tabLst>
          <a:tab pos="2333625" algn="l"/>
        </a:tabLst>
        <a:defRPr sz="3600" b="1">
          <a:solidFill>
            <a:schemeClr val="bg1"/>
          </a:solidFill>
          <a:latin typeface="Calibri" pitchFamily="34" charset="0"/>
          <a:cs typeface="Arial" charset="0"/>
        </a:defRPr>
      </a:lvl2pPr>
      <a:lvl3pPr algn="ctr" defTabSz="912813" rtl="0" eaLnBrk="0" fontAlgn="base" hangingPunct="0">
        <a:lnSpc>
          <a:spcPct val="90000"/>
        </a:lnSpc>
        <a:spcBef>
          <a:spcPct val="0"/>
        </a:spcBef>
        <a:spcAft>
          <a:spcPct val="0"/>
        </a:spcAft>
        <a:tabLst>
          <a:tab pos="2333625" algn="l"/>
        </a:tabLst>
        <a:defRPr sz="3600" b="1">
          <a:solidFill>
            <a:schemeClr val="bg1"/>
          </a:solidFill>
          <a:latin typeface="Calibri" pitchFamily="34" charset="0"/>
          <a:cs typeface="Arial" charset="0"/>
        </a:defRPr>
      </a:lvl3pPr>
      <a:lvl4pPr algn="ctr" defTabSz="912813" rtl="0" eaLnBrk="0" fontAlgn="base" hangingPunct="0">
        <a:lnSpc>
          <a:spcPct val="90000"/>
        </a:lnSpc>
        <a:spcBef>
          <a:spcPct val="0"/>
        </a:spcBef>
        <a:spcAft>
          <a:spcPct val="0"/>
        </a:spcAft>
        <a:tabLst>
          <a:tab pos="2333625" algn="l"/>
        </a:tabLst>
        <a:defRPr sz="3600" b="1">
          <a:solidFill>
            <a:schemeClr val="bg1"/>
          </a:solidFill>
          <a:latin typeface="Calibri" pitchFamily="34" charset="0"/>
          <a:cs typeface="Arial" charset="0"/>
        </a:defRPr>
      </a:lvl4pPr>
      <a:lvl5pPr algn="ctr" defTabSz="912813" rtl="0" eaLnBrk="0" fontAlgn="base" hangingPunct="0">
        <a:lnSpc>
          <a:spcPct val="90000"/>
        </a:lnSpc>
        <a:spcBef>
          <a:spcPct val="0"/>
        </a:spcBef>
        <a:spcAft>
          <a:spcPct val="0"/>
        </a:spcAft>
        <a:tabLst>
          <a:tab pos="2333625" algn="l"/>
        </a:tabLst>
        <a:defRPr sz="3600" b="1">
          <a:solidFill>
            <a:schemeClr val="bg1"/>
          </a:solidFill>
          <a:latin typeface="Calibri" pitchFamily="34" charset="0"/>
          <a:cs typeface="Arial" charset="0"/>
        </a:defRPr>
      </a:lvl5pPr>
      <a:lvl6pPr marL="457200" algn="ctr" defTabSz="912813" rtl="0" eaLnBrk="1" fontAlgn="base" hangingPunct="1">
        <a:lnSpc>
          <a:spcPct val="90000"/>
        </a:lnSpc>
        <a:spcBef>
          <a:spcPct val="0"/>
        </a:spcBef>
        <a:spcAft>
          <a:spcPct val="0"/>
        </a:spcAft>
        <a:tabLst>
          <a:tab pos="2333625" algn="l"/>
        </a:tabLst>
        <a:defRPr sz="3600">
          <a:solidFill>
            <a:schemeClr val="bg1"/>
          </a:solidFill>
          <a:latin typeface="Calibri" pitchFamily="34" charset="0"/>
          <a:cs typeface="Arial" charset="0"/>
        </a:defRPr>
      </a:lvl6pPr>
      <a:lvl7pPr marL="914400" algn="ctr" defTabSz="912813" rtl="0" eaLnBrk="1" fontAlgn="base" hangingPunct="1">
        <a:lnSpc>
          <a:spcPct val="90000"/>
        </a:lnSpc>
        <a:spcBef>
          <a:spcPct val="0"/>
        </a:spcBef>
        <a:spcAft>
          <a:spcPct val="0"/>
        </a:spcAft>
        <a:tabLst>
          <a:tab pos="2333625" algn="l"/>
        </a:tabLst>
        <a:defRPr sz="3600">
          <a:solidFill>
            <a:schemeClr val="bg1"/>
          </a:solidFill>
          <a:latin typeface="Calibri" pitchFamily="34" charset="0"/>
          <a:cs typeface="Arial" charset="0"/>
        </a:defRPr>
      </a:lvl7pPr>
      <a:lvl8pPr marL="1371600" algn="ctr" defTabSz="912813" rtl="0" eaLnBrk="1" fontAlgn="base" hangingPunct="1">
        <a:lnSpc>
          <a:spcPct val="90000"/>
        </a:lnSpc>
        <a:spcBef>
          <a:spcPct val="0"/>
        </a:spcBef>
        <a:spcAft>
          <a:spcPct val="0"/>
        </a:spcAft>
        <a:tabLst>
          <a:tab pos="2333625" algn="l"/>
        </a:tabLst>
        <a:defRPr sz="3600">
          <a:solidFill>
            <a:schemeClr val="bg1"/>
          </a:solidFill>
          <a:latin typeface="Calibri" pitchFamily="34" charset="0"/>
          <a:cs typeface="Arial" charset="0"/>
        </a:defRPr>
      </a:lvl8pPr>
      <a:lvl9pPr marL="1828800" algn="ctr" defTabSz="912813" rtl="0" eaLnBrk="1" fontAlgn="base" hangingPunct="1">
        <a:lnSpc>
          <a:spcPct val="90000"/>
        </a:lnSpc>
        <a:spcBef>
          <a:spcPct val="0"/>
        </a:spcBef>
        <a:spcAft>
          <a:spcPct val="0"/>
        </a:spcAft>
        <a:tabLst>
          <a:tab pos="2333625" algn="l"/>
        </a:tabLst>
        <a:defRPr sz="3600">
          <a:solidFill>
            <a:schemeClr val="bg1"/>
          </a:solidFill>
          <a:latin typeface="Calibri" pitchFamily="34" charset="0"/>
          <a:cs typeface="Arial" charset="0"/>
        </a:defRPr>
      </a:lvl9pPr>
    </p:titleStyle>
    <p:bodyStyle>
      <a:lvl1pPr marL="460375" indent="-460375" algn="l" defTabSz="912813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Blip>
          <a:blip r:embed="rId10"/>
        </a:buBlip>
        <a:defRPr sz="2800" b="1" kern="1200">
          <a:solidFill>
            <a:schemeClr val="bg1"/>
          </a:solidFill>
          <a:latin typeface="+mn-lt"/>
          <a:ea typeface="+mn-ea"/>
          <a:cs typeface="+mn-cs"/>
        </a:defRPr>
      </a:lvl1pPr>
      <a:lvl2pPr marL="854075" indent="-393700" algn="l" defTabSz="912813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Blip>
          <a:blip r:embed="rId11"/>
        </a:buBlip>
        <a:defRPr sz="2400" b="1" kern="1200">
          <a:solidFill>
            <a:schemeClr val="bg1"/>
          </a:solidFill>
          <a:latin typeface="+mn-lt"/>
          <a:ea typeface="+mn-ea"/>
          <a:cs typeface="+mn-cs"/>
        </a:defRPr>
      </a:lvl2pPr>
      <a:lvl3pPr marL="1258888" indent="-404813" algn="l" defTabSz="912813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Blip>
          <a:blip r:embed="rId11"/>
        </a:buBlip>
        <a:defRPr sz="2200" b="1" kern="1200">
          <a:solidFill>
            <a:schemeClr val="bg1"/>
          </a:solidFill>
          <a:latin typeface="+mn-lt"/>
          <a:ea typeface="+mn-ea"/>
          <a:cs typeface="+mn-cs"/>
        </a:defRPr>
      </a:lvl3pPr>
      <a:lvl4pPr marL="1655763" indent="-396875" algn="l" defTabSz="912813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Blip>
          <a:blip r:embed="rId11"/>
        </a:buBlip>
        <a:defRPr sz="2000" b="1" kern="1200">
          <a:solidFill>
            <a:schemeClr val="bg1"/>
          </a:solidFill>
          <a:latin typeface="+mn-lt"/>
          <a:ea typeface="+mn-ea"/>
          <a:cs typeface="+mn-cs"/>
        </a:defRPr>
      </a:lvl4pPr>
      <a:lvl5pPr marL="1941513" indent="-400050" algn="l" defTabSz="912813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Blip>
          <a:blip r:embed="rId11"/>
        </a:buBlip>
        <a:defRPr sz="1600" b="1" kern="1200">
          <a:solidFill>
            <a:schemeClr val="bg1"/>
          </a:solidFill>
          <a:latin typeface="+mn-lt"/>
          <a:ea typeface="+mn-ea"/>
          <a:cs typeface="+mn-cs"/>
        </a:defRPr>
      </a:lvl5pPr>
      <a:lvl6pPr marL="2514499" indent="-228591" algn="l" defTabSz="9143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81" indent="-228591" algn="l" defTabSz="9143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63" indent="-228591" algn="l" defTabSz="9143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45" indent="-228591" algn="l" defTabSz="9143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2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3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5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7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9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90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72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54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2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6674" y="2724223"/>
            <a:ext cx="9598651" cy="3632126"/>
          </a:xfrm>
        </p:spPr>
        <p:txBody>
          <a:bodyPr>
            <a:normAutofit fontScale="90000"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Market Regime Detection using Supervised</a:t>
            </a: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Professor: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Yue Gao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Date: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12/01/2025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Pragathi Somashekaraiah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Mohammad Faishal Khan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Narayan Rijal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Devashree Dhole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626FF-F71D-4F50-A1D1-2469CCAE88C4}" type="slidenum">
              <a:rPr lang="en-US" smtClean="0"/>
              <a:t>1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991653"/>
            <a:ext cx="2079057" cy="72939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CDD2EDB-A2E3-2658-DB7D-3F805D71608F}"/>
              </a:ext>
            </a:extLst>
          </p:cNvPr>
          <p:cNvSpPr txBox="1"/>
          <p:nvPr/>
        </p:nvSpPr>
        <p:spPr>
          <a:xfrm>
            <a:off x="2888853" y="848595"/>
            <a:ext cx="6776855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(STAT 4650)</a:t>
            </a:r>
            <a:endParaRPr lang="en-US" sz="3800" dirty="0"/>
          </a:p>
        </p:txBody>
      </p:sp>
    </p:spTree>
    <p:extLst>
      <p:ext uri="{BB962C8B-B14F-4D97-AF65-F5344CB8AC3E}">
        <p14:creationId xmlns:p14="http://schemas.microsoft.com/office/powerpoint/2010/main" val="13886424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5ACEE4BB-8E39-F8C7-176B-E753B74A7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8E36747C-29EE-4598-BFCE-FD7B92B70DD7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graphicFrame>
        <p:nvGraphicFramePr>
          <p:cNvPr id="22" name="Content Placeholder 19">
            <a:extLst>
              <a:ext uri="{FF2B5EF4-FFF2-40B4-BE49-F238E27FC236}">
                <a16:creationId xmlns:a16="http://schemas.microsoft.com/office/drawing/2014/main" id="{6DFDAF0C-C76E-0E81-A9CD-9C25318C691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97808036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598732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ea typeface="+mj-lt"/>
                <a:cs typeface="Times New Roman" panose="02020603050405020304" pitchFamily="18" charset="0"/>
              </a:rPr>
              <a:t>Market Regime Detection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lide Number Placeholder 3">
            <a:extLst>
              <a:ext uri="{FF2B5EF4-FFF2-40B4-BE49-F238E27FC236}">
                <a16:creationId xmlns:a16="http://schemas.microsoft.com/office/drawing/2014/main" id="{0DD08198-C7BD-E320-A451-65D30FF556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8E36747C-29EE-4598-BFCE-FD7B92B70DD7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  <p:graphicFrame>
        <p:nvGraphicFramePr>
          <p:cNvPr id="7" name="Content Placeholder 4">
            <a:extLst>
              <a:ext uri="{FF2B5EF4-FFF2-40B4-BE49-F238E27FC236}">
                <a16:creationId xmlns:a16="http://schemas.microsoft.com/office/drawing/2014/main" id="{51DB8F35-EB2A-2F96-30D4-949609783EF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1122347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280714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9B7C0-8B4A-374E-57C8-602AC88A3E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4148C9-1E27-B378-D9F1-7684D0022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8E36747C-29EE-4598-BFCE-FD7B92B70DD7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8859DFEE-9874-AD1A-424B-A74224F4E1D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13881579"/>
              </p:ext>
            </p:extLst>
          </p:nvPr>
        </p:nvGraphicFramePr>
        <p:xfrm>
          <a:off x="707767" y="1811895"/>
          <a:ext cx="10780643" cy="44047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570127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A54ED-43E1-1D24-49A6-FE532ACE95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Description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30A0A5-19FA-8E4B-E75B-9F824D4C7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8E36747C-29EE-4598-BFCE-FD7B92B70DD7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  <p:graphicFrame>
        <p:nvGraphicFramePr>
          <p:cNvPr id="9" name="Rectangle 1">
            <a:extLst>
              <a:ext uri="{FF2B5EF4-FFF2-40B4-BE49-F238E27FC236}">
                <a16:creationId xmlns:a16="http://schemas.microsoft.com/office/drawing/2014/main" id="{A6531CE0-E85D-D081-79C2-A46FEBF6DA7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95156278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253905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EA1654-333C-FC7D-D4F2-8EABEA384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7521" y="57759"/>
            <a:ext cx="5457092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Descriptive Statistics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7C15A07-184D-7C05-F785-09A771A5E174}"/>
              </a:ext>
            </a:extLst>
          </p:cNvPr>
          <p:cNvSpPr txBox="1"/>
          <p:nvPr/>
        </p:nvSpPr>
        <p:spPr>
          <a:xfrm>
            <a:off x="445477" y="5900570"/>
            <a:ext cx="11746523" cy="738843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Ctr="0" forceAA="0" compatLnSpc="1">
            <a:prstTxWarp prst="textNoShape">
              <a:avLst/>
            </a:prstTxWarp>
            <a:noAutofit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Bear periods have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much higher VIX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lower yield curve, wider credit spreads, and higher TLT/SPY ratio.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SPY returns sharply decline during Bear regimes (mean =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-0.26%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vs positive in Bull markets.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15EC18-5230-D5D4-7055-64793A744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8E36747C-29EE-4598-BFCE-FD7B92B70DD7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8749DC0B-DB87-83DE-834A-BAF6DEF388F7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222226600"/>
              </p:ext>
            </p:extLst>
          </p:nvPr>
        </p:nvGraphicFramePr>
        <p:xfrm>
          <a:off x="785446" y="1112117"/>
          <a:ext cx="10621107" cy="4633765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416692">
                  <a:extLst>
                    <a:ext uri="{9D8B030D-6E8A-4147-A177-3AD203B41FA5}">
                      <a16:colId xmlns:a16="http://schemas.microsoft.com/office/drawing/2014/main" val="264923257"/>
                    </a:ext>
                  </a:extLst>
                </a:gridCol>
                <a:gridCol w="1089133">
                  <a:extLst>
                    <a:ext uri="{9D8B030D-6E8A-4147-A177-3AD203B41FA5}">
                      <a16:colId xmlns:a16="http://schemas.microsoft.com/office/drawing/2014/main" val="3053955320"/>
                    </a:ext>
                  </a:extLst>
                </a:gridCol>
                <a:gridCol w="1171026">
                  <a:extLst>
                    <a:ext uri="{9D8B030D-6E8A-4147-A177-3AD203B41FA5}">
                      <a16:colId xmlns:a16="http://schemas.microsoft.com/office/drawing/2014/main" val="2417383046"/>
                    </a:ext>
                  </a:extLst>
                </a:gridCol>
                <a:gridCol w="1089133">
                  <a:extLst>
                    <a:ext uri="{9D8B030D-6E8A-4147-A177-3AD203B41FA5}">
                      <a16:colId xmlns:a16="http://schemas.microsoft.com/office/drawing/2014/main" val="3646732569"/>
                    </a:ext>
                  </a:extLst>
                </a:gridCol>
                <a:gridCol w="1225619">
                  <a:extLst>
                    <a:ext uri="{9D8B030D-6E8A-4147-A177-3AD203B41FA5}">
                      <a16:colId xmlns:a16="http://schemas.microsoft.com/office/drawing/2014/main" val="387016782"/>
                    </a:ext>
                  </a:extLst>
                </a:gridCol>
                <a:gridCol w="1225619">
                  <a:extLst>
                    <a:ext uri="{9D8B030D-6E8A-4147-A177-3AD203B41FA5}">
                      <a16:colId xmlns:a16="http://schemas.microsoft.com/office/drawing/2014/main" val="3454555983"/>
                    </a:ext>
                  </a:extLst>
                </a:gridCol>
                <a:gridCol w="1089133">
                  <a:extLst>
                    <a:ext uri="{9D8B030D-6E8A-4147-A177-3AD203B41FA5}">
                      <a16:colId xmlns:a16="http://schemas.microsoft.com/office/drawing/2014/main" val="3735579565"/>
                    </a:ext>
                  </a:extLst>
                </a:gridCol>
                <a:gridCol w="1089133">
                  <a:extLst>
                    <a:ext uri="{9D8B030D-6E8A-4147-A177-3AD203B41FA5}">
                      <a16:colId xmlns:a16="http://schemas.microsoft.com/office/drawing/2014/main" val="1797160228"/>
                    </a:ext>
                  </a:extLst>
                </a:gridCol>
                <a:gridCol w="1225619">
                  <a:extLst>
                    <a:ext uri="{9D8B030D-6E8A-4147-A177-3AD203B41FA5}">
                      <a16:colId xmlns:a16="http://schemas.microsoft.com/office/drawing/2014/main" val="3167012269"/>
                    </a:ext>
                  </a:extLst>
                </a:gridCol>
              </a:tblGrid>
              <a:tr h="9026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Feature</a:t>
                      </a:r>
                    </a:p>
                  </a:txBody>
                  <a:tcPr marL="47941" marR="47941" marT="23970" marB="239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Bear (0) Mean</a:t>
                      </a:r>
                    </a:p>
                  </a:txBody>
                  <a:tcPr marL="47941" marR="47941" marT="23970" marB="239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Bear Median</a:t>
                      </a:r>
                    </a:p>
                  </a:txBody>
                  <a:tcPr marL="47941" marR="47941" marT="23970" marB="239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Bear Std</a:t>
                      </a:r>
                    </a:p>
                  </a:txBody>
                  <a:tcPr marL="47941" marR="47941" marT="23970" marB="239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Bull (1) Mean</a:t>
                      </a:r>
                    </a:p>
                  </a:txBody>
                  <a:tcPr marL="47941" marR="47941" marT="23970" marB="239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Bull Median</a:t>
                      </a:r>
                    </a:p>
                  </a:txBody>
                  <a:tcPr marL="47941" marR="47941" marT="23970" marB="239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Bull Std</a:t>
                      </a:r>
                    </a:p>
                  </a:txBody>
                  <a:tcPr marL="47941" marR="47941" marT="23970" marB="2397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Min</a:t>
                      </a:r>
                    </a:p>
                  </a:txBody>
                  <a:tcPr marL="47941" marR="47941" marT="23970" marB="2397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Max</a:t>
                      </a:r>
                    </a:p>
                  </a:txBody>
                  <a:tcPr marL="47941" marR="47941" marT="23970" marB="23970" anchor="ctr"/>
                </a:tc>
                <a:extLst>
                  <a:ext uri="{0D108BD9-81ED-4DB2-BD59-A6C34878D82A}">
                    <a16:rowId xmlns:a16="http://schemas.microsoft.com/office/drawing/2014/main" val="3180783917"/>
                  </a:ext>
                </a:extLst>
              </a:tr>
              <a:tr h="4773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VIX</a:t>
                      </a:r>
                    </a:p>
                  </a:txBody>
                  <a:tcPr marL="47941" marR="47941" marT="23970" marB="239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31.39</a:t>
                      </a:r>
                    </a:p>
                  </a:txBody>
                  <a:tcPr marL="47941" marR="47941" marT="23970" marB="239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26.40</a:t>
                      </a:r>
                    </a:p>
                  </a:txBody>
                  <a:tcPr marL="47941" marR="47941" marT="23970" marB="239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13.26</a:t>
                      </a:r>
                    </a:p>
                  </a:txBody>
                  <a:tcPr marL="47941" marR="47941" marT="23970" marB="239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17.93</a:t>
                      </a:r>
                    </a:p>
                  </a:txBody>
                  <a:tcPr marL="47941" marR="47941" marT="23970" marB="239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16.23</a:t>
                      </a:r>
                    </a:p>
                  </a:txBody>
                  <a:tcPr marL="47941" marR="47941" marT="23970" marB="239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6.48</a:t>
                      </a:r>
                    </a:p>
                  </a:txBody>
                  <a:tcPr marL="47941" marR="47941" marT="23970" marB="2397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9.14</a:t>
                      </a:r>
                    </a:p>
                  </a:txBody>
                  <a:tcPr marL="47941" marR="47941" marT="23970" marB="2397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82.69</a:t>
                      </a:r>
                    </a:p>
                  </a:txBody>
                  <a:tcPr marL="47941" marR="47941" marT="23970" marB="23970" anchor="ctr"/>
                </a:tc>
                <a:extLst>
                  <a:ext uri="{0D108BD9-81ED-4DB2-BD59-A6C34878D82A}">
                    <a16:rowId xmlns:a16="http://schemas.microsoft.com/office/drawing/2014/main" val="1125859938"/>
                  </a:ext>
                </a:extLst>
              </a:tr>
              <a:tr h="8134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Yield Curve</a:t>
                      </a:r>
                    </a:p>
                  </a:txBody>
                  <a:tcPr marL="47941" marR="47941" marT="23970" marB="239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1.76</a:t>
                      </a:r>
                    </a:p>
                  </a:txBody>
                  <a:tcPr marL="47941" marR="47941" marT="23970" marB="239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2.00</a:t>
                      </a:r>
                    </a:p>
                  </a:txBody>
                  <a:tcPr marL="47941" marR="47941" marT="23970" marB="239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0.89</a:t>
                      </a:r>
                    </a:p>
                  </a:txBody>
                  <a:tcPr marL="47941" marR="47941" marT="23970" marB="239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1.35</a:t>
                      </a:r>
                    </a:p>
                  </a:txBody>
                  <a:tcPr marL="47941" marR="47941" marT="23970" marB="239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1.50</a:t>
                      </a:r>
                    </a:p>
                  </a:txBody>
                  <a:tcPr marL="47941" marR="47941" marT="23970" marB="239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1.37</a:t>
                      </a:r>
                    </a:p>
                  </a:txBody>
                  <a:tcPr marL="47941" marR="47941" marT="23970" marB="2397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-1.89</a:t>
                      </a:r>
                    </a:p>
                  </a:txBody>
                  <a:tcPr marL="47941" marR="47941" marT="23970" marB="2397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3.85</a:t>
                      </a:r>
                    </a:p>
                  </a:txBody>
                  <a:tcPr marL="47941" marR="47941" marT="23970" marB="23970" anchor="ctr"/>
                </a:tc>
                <a:extLst>
                  <a:ext uri="{0D108BD9-81ED-4DB2-BD59-A6C34878D82A}">
                    <a16:rowId xmlns:a16="http://schemas.microsoft.com/office/drawing/2014/main" val="3589941032"/>
                  </a:ext>
                </a:extLst>
              </a:tr>
              <a:tr h="8134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Credit Spread</a:t>
                      </a:r>
                    </a:p>
                  </a:txBody>
                  <a:tcPr marL="47941" marR="47941" marT="23970" marB="239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838.45</a:t>
                      </a:r>
                    </a:p>
                  </a:txBody>
                  <a:tcPr marL="47941" marR="47941" marT="23970" marB="239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588.66</a:t>
                      </a:r>
                    </a:p>
                  </a:txBody>
                  <a:tcPr marL="47941" marR="47941" marT="23970" marB="239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450.69</a:t>
                      </a:r>
                    </a:p>
                  </a:txBody>
                  <a:tcPr marL="47941" marR="47941" marT="23970" marB="239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1012.27</a:t>
                      </a:r>
                    </a:p>
                  </a:txBody>
                  <a:tcPr marL="47941" marR="47941" marT="23970" marB="239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1033.81</a:t>
                      </a:r>
                    </a:p>
                  </a:txBody>
                  <a:tcPr marL="47941" marR="47941" marT="23970" marB="239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404.63</a:t>
                      </a:r>
                    </a:p>
                  </a:txBody>
                  <a:tcPr marL="47941" marR="47941" marT="23970" marB="2397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321.24</a:t>
                      </a:r>
                    </a:p>
                  </a:txBody>
                  <a:tcPr marL="47941" marR="47941" marT="23970" marB="2397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1842.53</a:t>
                      </a:r>
                    </a:p>
                  </a:txBody>
                  <a:tcPr marL="47941" marR="47941" marT="23970" marB="23970" anchor="ctr"/>
                </a:tc>
                <a:extLst>
                  <a:ext uri="{0D108BD9-81ED-4DB2-BD59-A6C34878D82A}">
                    <a16:rowId xmlns:a16="http://schemas.microsoft.com/office/drawing/2014/main" val="4149370010"/>
                  </a:ext>
                </a:extLst>
              </a:tr>
              <a:tr h="8134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TLT/SPY Ratio</a:t>
                      </a:r>
                    </a:p>
                  </a:txBody>
                  <a:tcPr marL="47941" marR="47941" marT="23970" marB="239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0.560</a:t>
                      </a:r>
                    </a:p>
                  </a:txBody>
                  <a:tcPr marL="47941" marR="47941" marT="23970" marB="239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0.553</a:t>
                      </a:r>
                    </a:p>
                  </a:txBody>
                  <a:tcPr marL="47941" marR="47941" marT="23970" marB="239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0.262</a:t>
                      </a:r>
                    </a:p>
                  </a:txBody>
                  <a:tcPr marL="47941" marR="47941" marT="23970" marB="239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0.513</a:t>
                      </a:r>
                    </a:p>
                  </a:txBody>
                  <a:tcPr marL="47941" marR="47941" marT="23970" marB="239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0.531</a:t>
                      </a:r>
                    </a:p>
                  </a:txBody>
                  <a:tcPr marL="47941" marR="47941" marT="23970" marB="239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0.187</a:t>
                      </a:r>
                    </a:p>
                  </a:txBody>
                  <a:tcPr marL="47941" marR="47941" marT="23970" marB="2397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0.13</a:t>
                      </a:r>
                    </a:p>
                  </a:txBody>
                  <a:tcPr marL="47941" marR="47941" marT="23970" marB="2397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1.28</a:t>
                      </a:r>
                    </a:p>
                  </a:txBody>
                  <a:tcPr marL="47941" marR="47941" marT="23970" marB="23970" anchor="ctr"/>
                </a:tc>
                <a:extLst>
                  <a:ext uri="{0D108BD9-81ED-4DB2-BD59-A6C34878D82A}">
                    <a16:rowId xmlns:a16="http://schemas.microsoft.com/office/drawing/2014/main" val="856598706"/>
                  </a:ext>
                </a:extLst>
              </a:tr>
              <a:tr h="8134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SPY Daily Return (%)</a:t>
                      </a:r>
                    </a:p>
                  </a:txBody>
                  <a:tcPr marL="47941" marR="47941" marT="23970" marB="239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-0.257</a:t>
                      </a:r>
                    </a:p>
                  </a:txBody>
                  <a:tcPr marL="47941" marR="47941" marT="23970" marB="239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-0.1245</a:t>
                      </a:r>
                    </a:p>
                  </a:txBody>
                  <a:tcPr marL="47941" marR="47941" marT="23970" marB="239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2.289</a:t>
                      </a:r>
                    </a:p>
                  </a:txBody>
                  <a:tcPr marL="47941" marR="47941" marT="23970" marB="239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0.078</a:t>
                      </a:r>
                    </a:p>
                  </a:txBody>
                  <a:tcPr marL="47941" marR="47941" marT="23970" marB="239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0.0824</a:t>
                      </a:r>
                    </a:p>
                  </a:txBody>
                  <a:tcPr marL="47941" marR="47941" marT="23970" marB="239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0.980</a:t>
                      </a:r>
                    </a:p>
                  </a:txBody>
                  <a:tcPr marL="47941" marR="47941" marT="23970" marB="2397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-11.59</a:t>
                      </a:r>
                    </a:p>
                  </a:txBody>
                  <a:tcPr marL="47941" marR="47941" marT="23970" marB="2397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13.56</a:t>
                      </a:r>
                    </a:p>
                  </a:txBody>
                  <a:tcPr marL="47941" marR="47941" marT="23970" marB="23970" anchor="ctr"/>
                </a:tc>
                <a:extLst>
                  <a:ext uri="{0D108BD9-81ED-4DB2-BD59-A6C34878D82A}">
                    <a16:rowId xmlns:a16="http://schemas.microsoft.com/office/drawing/2014/main" val="42150705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230249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775FB1-3593-02C4-9246-1D54A1D949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ea typeface="Calibri Light"/>
                <a:cs typeface="Times New Roman" panose="02020603050405020304" pitchFamily="18" charset="0"/>
              </a:rPr>
              <a:t>Histogram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748682B-D01B-70B6-C170-F0DAF0118E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30109" y="1690689"/>
            <a:ext cx="7998983" cy="4998506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1B5352-3CD8-2845-FA70-B2A2E2FF8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6747C-29EE-4598-BFCE-FD7B92B70DD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5186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1E7AD-2FE2-77F6-922A-0F06E928B1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ea typeface="Calibri Light"/>
                <a:cs typeface="Times New Roman" panose="02020603050405020304" pitchFamily="18" charset="0"/>
              </a:rPr>
              <a:t>Heatmap Correlation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819C8CC-7972-6C2A-3674-B74441B28D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72365" y="1767126"/>
            <a:ext cx="5859912" cy="4903692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428876-E9DA-A7FA-AE56-C1EAE612A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6747C-29EE-4598-BFCE-FD7B92B70DD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1061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Methods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92A39BF5-5BEF-A3CC-7F6E-2BFC22727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8E36747C-29EE-4598-BFCE-FD7B92B70DD7}" type="slidenum">
              <a:rPr lang="en-US" smtClean="0"/>
              <a:pPr>
                <a:spcAft>
                  <a:spcPts val="600"/>
                </a:spcAft>
              </a:pPr>
              <a:t>9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226E31-E242-5C78-98C3-7D9EDFE69C28}"/>
              </a:ext>
            </a:extLst>
          </p:cNvPr>
          <p:cNvSpPr txBox="1"/>
          <p:nvPr/>
        </p:nvSpPr>
        <p:spPr>
          <a:xfrm>
            <a:off x="1012372" y="386563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>
              <a:solidFill>
                <a:srgbClr val="FF0000"/>
              </a:solidFill>
            </a:endParaRP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5AB1D979-24D9-2EA8-A698-ACC28284AB4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56932149"/>
              </p:ext>
            </p:extLst>
          </p:nvPr>
        </p:nvGraphicFramePr>
        <p:xfrm>
          <a:off x="-299279" y="1693104"/>
          <a:ext cx="11785599" cy="48372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325042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791B7-FD6B-CFAB-130F-117D73720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ea typeface="+mj-lt"/>
                <a:cs typeface="Times New Roman" panose="02020603050405020304" pitchFamily="18" charset="0"/>
              </a:rPr>
              <a:t>Logistic Regression </a:t>
            </a:r>
            <a:r>
              <a:rPr lang="en-US" b="1" dirty="0">
                <a:latin typeface="Times New Roman" panose="02020603050405020304" pitchFamily="18" charset="0"/>
                <a:ea typeface="Calibri Light"/>
                <a:cs typeface="Times New Roman" panose="02020603050405020304" pitchFamily="18" charset="0"/>
              </a:rPr>
              <a:t>with </a:t>
            </a:r>
            <a:r>
              <a:rPr lang="en-US" b="1" dirty="0">
                <a:latin typeface="Times New Roman" panose="02020603050405020304" pitchFamily="18" charset="0"/>
                <a:ea typeface="+mj-lt"/>
                <a:cs typeface="Times New Roman" panose="02020603050405020304" pitchFamily="18" charset="0"/>
              </a:rPr>
              <a:t>SMOTE-Tomek </a:t>
            </a:r>
            <a:endParaRPr lang="en-US" b="1" dirty="0">
              <a:latin typeface="Times New Roman" panose="02020603050405020304" pitchFamily="18" charset="0"/>
              <a:ea typeface="Calibri Light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582704-9643-DED6-BE51-74D655BB73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6747C-29EE-4598-BFCE-FD7B92B70DD7}" type="slidenum">
              <a:rPr lang="en-US" smtClean="0"/>
              <a:t>10</a:t>
            </a:fld>
            <a:endParaRPr lang="en-US"/>
          </a:p>
        </p:txBody>
      </p:sp>
      <p:pic>
        <p:nvPicPr>
          <p:cNvPr id="7" name="Picture 6" descr="A graph of a logistic and a positive rate&#10;&#10;Description automatically generated">
            <a:extLst>
              <a:ext uri="{FF2B5EF4-FFF2-40B4-BE49-F238E27FC236}">
                <a16:creationId xmlns:a16="http://schemas.microsoft.com/office/drawing/2014/main" id="{674E9E48-3051-848C-7FC4-B0D8155F70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983" y="1690688"/>
            <a:ext cx="4847850" cy="503078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 descr="A black numbers and a white background&#10;&#10;Description automatically generated">
            <a:extLst>
              <a:ext uri="{FF2B5EF4-FFF2-40B4-BE49-F238E27FC236}">
                <a16:creationId xmlns:a16="http://schemas.microsoft.com/office/drawing/2014/main" id="{86975D50-080F-B572-E4E8-27E02736C9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8460" y="1726772"/>
            <a:ext cx="5731068" cy="177427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BCABA88-250E-91C9-EF1F-71952262E17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7548" y="3880337"/>
            <a:ext cx="5768855" cy="247601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1344987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39AA4-BAC2-4ECF-55EF-1657178A3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69" y="365125"/>
            <a:ext cx="11289323" cy="1325563"/>
          </a:xfrm>
        </p:spPr>
        <p:txBody>
          <a:bodyPr>
            <a:normAutofit/>
          </a:bodyPr>
          <a:lstStyle/>
          <a:p>
            <a:r>
              <a:rPr lang="en-US" sz="4200" b="1" dirty="0">
                <a:latin typeface="Times New Roman" panose="02020603050405020304" pitchFamily="18" charset="0"/>
                <a:ea typeface="+mj-lt"/>
                <a:cs typeface="Times New Roman" panose="02020603050405020304" pitchFamily="18" charset="0"/>
              </a:rPr>
              <a:t>Lasso Logistic Regression </a:t>
            </a:r>
            <a:r>
              <a:rPr lang="en-US" sz="4200" b="1" dirty="0">
                <a:latin typeface="Times New Roman" panose="02020603050405020304" pitchFamily="18" charset="0"/>
                <a:ea typeface="Calibri Light"/>
                <a:cs typeface="Times New Roman" panose="02020603050405020304" pitchFamily="18" charset="0"/>
              </a:rPr>
              <a:t>with </a:t>
            </a:r>
            <a:r>
              <a:rPr lang="en-US" sz="4200" b="1" dirty="0">
                <a:latin typeface="Times New Roman" panose="02020603050405020304" pitchFamily="18" charset="0"/>
                <a:ea typeface="+mj-lt"/>
                <a:cs typeface="Times New Roman" panose="02020603050405020304" pitchFamily="18" charset="0"/>
              </a:rPr>
              <a:t>SMOTE-Tomek </a:t>
            </a:r>
            <a:endParaRPr lang="en-US" sz="4200" b="1" dirty="0">
              <a:latin typeface="Times New Roman" panose="02020603050405020304" pitchFamily="18" charset="0"/>
              <a:ea typeface="Calibri Light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1918635-0130-3B03-9098-A42476022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6747C-29EE-4598-BFCE-FD7B92B70DD7}" type="slidenum">
              <a:rPr lang="en-US" smtClean="0"/>
              <a:t>11</a:t>
            </a:fld>
            <a:endParaRPr lang="en-US"/>
          </a:p>
        </p:txBody>
      </p:sp>
      <p:pic>
        <p:nvPicPr>
          <p:cNvPr id="5" name="Picture 4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372B98C6-48F8-ADC4-74CA-B448F02E94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5584" y="1908039"/>
            <a:ext cx="6465333" cy="173150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 descr="A graph of a positive rate&#10;&#10;Description automatically generated with medium confidence">
            <a:extLst>
              <a:ext uri="{FF2B5EF4-FFF2-40B4-BE49-F238E27FC236}">
                <a16:creationId xmlns:a16="http://schemas.microsoft.com/office/drawing/2014/main" id="{EB93EAE2-A7E1-5722-4E6B-EBA7A72DF9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416" y="1690688"/>
            <a:ext cx="4710528" cy="488895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 descr="A screenshot of a graph&#10;&#10;Description automatically generated">
            <a:extLst>
              <a:ext uri="{FF2B5EF4-FFF2-40B4-BE49-F238E27FC236}">
                <a16:creationId xmlns:a16="http://schemas.microsoft.com/office/drawing/2014/main" id="{567A1C7A-C78B-FEFF-248F-08A37EDD4D4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5584" y="4135165"/>
            <a:ext cx="6465333" cy="224881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764175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DB4E7-79BB-9B0C-2874-B8822594E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ea typeface="Calibri Light"/>
                <a:cs typeface="Times New Roman" panose="02020603050405020304" pitchFamily="18" charset="0"/>
              </a:rPr>
              <a:t>Decision Tree Model with </a:t>
            </a:r>
            <a:r>
              <a:rPr lang="en-US" b="1" dirty="0">
                <a:latin typeface="Times New Roman" panose="02020603050405020304" pitchFamily="18" charset="0"/>
                <a:ea typeface="+mj-lt"/>
                <a:cs typeface="Times New Roman" panose="02020603050405020304" pitchFamily="18" charset="0"/>
              </a:rPr>
              <a:t>SMOTE-Tomek</a:t>
            </a:r>
            <a:endParaRPr lang="en-US" sz="1100" b="1" dirty="0">
              <a:latin typeface="Times New Roman" panose="02020603050405020304" pitchFamily="18" charset="0"/>
              <a:ea typeface="+mj-lt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C5D7EE6-BBEF-E444-7A6A-9E0867174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6747C-29EE-4598-BFCE-FD7B92B70DD7}" type="slidenum">
              <a:rPr lang="en-US" smtClean="0"/>
              <a:t>12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07171D1-6225-60C0-6FC9-F718BAFA07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566" y="1763426"/>
            <a:ext cx="5493193" cy="484926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1185803C-5DA4-4BCA-E851-D4FF53A580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3967" y="1763426"/>
            <a:ext cx="4004372" cy="187764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 descr="A screenshot of a graph&#10;&#10;Description automatically generated">
            <a:extLst>
              <a:ext uri="{FF2B5EF4-FFF2-40B4-BE49-F238E27FC236}">
                <a16:creationId xmlns:a16="http://schemas.microsoft.com/office/drawing/2014/main" id="{EBEEF7B7-5DA1-4A77-2651-E0C37FF61BF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7993" y="4084027"/>
            <a:ext cx="5461000" cy="20193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9792687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B08E2-0232-BFD5-E3EA-6AB1F01A73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7861" y="363416"/>
            <a:ext cx="8598877" cy="733212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ea typeface="Calibri Light"/>
                <a:cs typeface="Times New Roman" panose="02020603050405020304" pitchFamily="18" charset="0"/>
              </a:rPr>
              <a:t>Decision Tree with SMOTE-Tomek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7EC1D4A-8CBC-44F3-E0EC-DF5834210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6747C-29EE-4598-BFCE-FD7B92B70DD7}" type="slidenum">
              <a:rPr lang="en-US" smtClean="0"/>
              <a:t>13</a:t>
            </a:fld>
            <a:endParaRPr lang="en-US"/>
          </a:p>
        </p:txBody>
      </p:sp>
      <p:pic>
        <p:nvPicPr>
          <p:cNvPr id="6" name="Picture 5" descr="A diagram of a decision tree structure&#10;&#10;Description automatically generated">
            <a:extLst>
              <a:ext uri="{FF2B5EF4-FFF2-40B4-BE49-F238E27FC236}">
                <a16:creationId xmlns:a16="http://schemas.microsoft.com/office/drawing/2014/main" id="{95D1F03C-2497-DC31-4F2A-5D850217D4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202" y="1266092"/>
            <a:ext cx="9229263" cy="5591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48159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5392F-6B6C-2589-EA16-D9551034A1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908323" cy="1325563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ea typeface="Calibri Light"/>
                <a:cs typeface="Times New Roman" panose="02020603050405020304" pitchFamily="18" charset="0"/>
              </a:rPr>
              <a:t>Random Forest Model with SMOTE-Tomek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81C8FCA-7F34-386A-2C15-9A411C037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6747C-29EE-4598-BFCE-FD7B92B70DD7}" type="slidenum">
              <a:rPr lang="en-US" smtClean="0"/>
              <a:t>14</a:t>
            </a:fld>
            <a:endParaRPr lang="en-US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40974CA-081B-9688-6518-5702BE596B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1947" y="1926492"/>
            <a:ext cx="4019550" cy="17907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 descr="A graph of a positive and a positive rate&#10;&#10;AI-generated content may be incorrect.">
            <a:extLst>
              <a:ext uri="{FF2B5EF4-FFF2-40B4-BE49-F238E27FC236}">
                <a16:creationId xmlns:a16="http://schemas.microsoft.com/office/drawing/2014/main" id="{A18D0C3E-C088-C0A9-D285-A3DE6EB5CD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640223"/>
            <a:ext cx="4706815" cy="506024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 descr="A screenshot of a graph&#10;&#10;Description automatically generated">
            <a:extLst>
              <a:ext uri="{FF2B5EF4-FFF2-40B4-BE49-F238E27FC236}">
                <a16:creationId xmlns:a16="http://schemas.microsoft.com/office/drawing/2014/main" id="{41ECABF0-7EBF-65BE-389D-4A9F6A882B1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6922" y="4036158"/>
            <a:ext cx="5689600" cy="20447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0235635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07725-BCDB-79E1-8F3A-539F93204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latin typeface="Times New Roman" panose="02020603050405020304" pitchFamily="18" charset="0"/>
                <a:ea typeface="Calibri Light"/>
                <a:cs typeface="Times New Roman" panose="02020603050405020304" pitchFamily="18" charset="0"/>
              </a:rPr>
              <a:t>XGBoost</a:t>
            </a:r>
            <a:r>
              <a:rPr lang="en-US" b="1" dirty="0">
                <a:latin typeface="Times New Roman" panose="02020603050405020304" pitchFamily="18" charset="0"/>
                <a:ea typeface="Calibri Light"/>
                <a:cs typeface="Times New Roman" panose="02020603050405020304" pitchFamily="18" charset="0"/>
              </a:rPr>
              <a:t> with SMOTE-Tomek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5BD9F4-4581-EAF5-A4F8-AEB22D0A4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6747C-29EE-4598-BFCE-FD7B92B70DD7}" type="slidenum">
              <a:rPr lang="en-US" smtClean="0"/>
              <a:t>15</a:t>
            </a:fld>
            <a:endParaRPr lang="en-US"/>
          </a:p>
        </p:txBody>
      </p:sp>
      <p:pic>
        <p:nvPicPr>
          <p:cNvPr id="4" name="Picture 3" descr="A close-up of a list of information&#10;&#10;AI-generated content may be incorrect.">
            <a:extLst>
              <a:ext uri="{FF2B5EF4-FFF2-40B4-BE49-F238E27FC236}">
                <a16:creationId xmlns:a16="http://schemas.microsoft.com/office/drawing/2014/main" id="{7FD6D581-E6D8-A343-811F-6DFBF17D83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7529" y="1860255"/>
            <a:ext cx="3734671" cy="192757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 descr="A graph of a positive rate&#10;&#10;Description automatically generated">
            <a:extLst>
              <a:ext uri="{FF2B5EF4-FFF2-40B4-BE49-F238E27FC236}">
                <a16:creationId xmlns:a16="http://schemas.microsoft.com/office/drawing/2014/main" id="{35D1927C-9C22-2D93-92FF-DAB5C5D0A3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25" y="1740028"/>
            <a:ext cx="4727021" cy="493411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 descr="A white paper with black text&#10;&#10;Description automatically generated">
            <a:extLst>
              <a:ext uri="{FF2B5EF4-FFF2-40B4-BE49-F238E27FC236}">
                <a16:creationId xmlns:a16="http://schemas.microsoft.com/office/drawing/2014/main" id="{093BAE7D-CB3E-7BCF-9CAE-F6454E73362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1719" y="3957394"/>
            <a:ext cx="5575300" cy="20828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3875930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4DFB7-2D74-6376-D2D8-63D2AB16B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ea typeface="+mj-lt"/>
                <a:cs typeface="Times New Roman" panose="02020603050405020304" pitchFamily="18" charset="0"/>
              </a:rPr>
              <a:t>Model Performance Summary Table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82A4975-07F2-4FC9-EB1E-B5DC2C241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6747C-29EE-4598-BFCE-FD7B92B70DD7}" type="slidenum">
              <a:rPr lang="en-US" smtClean="0"/>
              <a:t>16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1FB5A49-8D76-FD8C-BDF8-FC98B20328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7078298"/>
              </p:ext>
            </p:extLst>
          </p:nvPr>
        </p:nvGraphicFramePr>
        <p:xfrm>
          <a:off x="536575" y="1694840"/>
          <a:ext cx="11118850" cy="4937760"/>
        </p:xfrm>
        <a:graphic>
          <a:graphicData uri="http://schemas.openxmlformats.org/drawingml/2006/table">
            <a:tbl>
              <a:tblPr bandRow="1">
                <a:tableStyleId>{073A0DAA-6AF3-43AB-8588-CEC1D06C72B9}</a:tableStyleId>
              </a:tblPr>
              <a:tblGrid>
                <a:gridCol w="1111885">
                  <a:extLst>
                    <a:ext uri="{9D8B030D-6E8A-4147-A177-3AD203B41FA5}">
                      <a16:colId xmlns:a16="http://schemas.microsoft.com/office/drawing/2014/main" val="1373865507"/>
                    </a:ext>
                  </a:extLst>
                </a:gridCol>
                <a:gridCol w="1111885">
                  <a:extLst>
                    <a:ext uri="{9D8B030D-6E8A-4147-A177-3AD203B41FA5}">
                      <a16:colId xmlns:a16="http://schemas.microsoft.com/office/drawing/2014/main" val="1256426321"/>
                    </a:ext>
                  </a:extLst>
                </a:gridCol>
                <a:gridCol w="1111885">
                  <a:extLst>
                    <a:ext uri="{9D8B030D-6E8A-4147-A177-3AD203B41FA5}">
                      <a16:colId xmlns:a16="http://schemas.microsoft.com/office/drawing/2014/main" val="3647471679"/>
                    </a:ext>
                  </a:extLst>
                </a:gridCol>
                <a:gridCol w="1111885">
                  <a:extLst>
                    <a:ext uri="{9D8B030D-6E8A-4147-A177-3AD203B41FA5}">
                      <a16:colId xmlns:a16="http://schemas.microsoft.com/office/drawing/2014/main" val="2944332304"/>
                    </a:ext>
                  </a:extLst>
                </a:gridCol>
                <a:gridCol w="1111885">
                  <a:extLst>
                    <a:ext uri="{9D8B030D-6E8A-4147-A177-3AD203B41FA5}">
                      <a16:colId xmlns:a16="http://schemas.microsoft.com/office/drawing/2014/main" val="3088922212"/>
                    </a:ext>
                  </a:extLst>
                </a:gridCol>
                <a:gridCol w="1111885">
                  <a:extLst>
                    <a:ext uri="{9D8B030D-6E8A-4147-A177-3AD203B41FA5}">
                      <a16:colId xmlns:a16="http://schemas.microsoft.com/office/drawing/2014/main" val="290943853"/>
                    </a:ext>
                  </a:extLst>
                </a:gridCol>
                <a:gridCol w="1111885">
                  <a:extLst>
                    <a:ext uri="{9D8B030D-6E8A-4147-A177-3AD203B41FA5}">
                      <a16:colId xmlns:a16="http://schemas.microsoft.com/office/drawing/2014/main" val="2004064199"/>
                    </a:ext>
                  </a:extLst>
                </a:gridCol>
                <a:gridCol w="1111885">
                  <a:extLst>
                    <a:ext uri="{9D8B030D-6E8A-4147-A177-3AD203B41FA5}">
                      <a16:colId xmlns:a16="http://schemas.microsoft.com/office/drawing/2014/main" val="2783533403"/>
                    </a:ext>
                  </a:extLst>
                </a:gridCol>
                <a:gridCol w="1111885">
                  <a:extLst>
                    <a:ext uri="{9D8B030D-6E8A-4147-A177-3AD203B41FA5}">
                      <a16:colId xmlns:a16="http://schemas.microsoft.com/office/drawing/2014/main" val="3105065200"/>
                    </a:ext>
                  </a:extLst>
                </a:gridCol>
                <a:gridCol w="1111885">
                  <a:extLst>
                    <a:ext uri="{9D8B030D-6E8A-4147-A177-3AD203B41FA5}">
                      <a16:colId xmlns:a16="http://schemas.microsoft.com/office/drawing/2014/main" val="1033115028"/>
                    </a:ext>
                  </a:extLst>
                </a:gridCol>
              </a:tblGrid>
              <a:tr h="6233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Precision (Bear)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Recall (Bear)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F1 (Bear)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AUC (Bear)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Precision (Bull)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Recall (Bull)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F1 (Bull)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AUC (Bull)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23867420"/>
                  </a:ext>
                </a:extLst>
              </a:tr>
              <a:tr h="6233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Lasso Logistic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70934259"/>
                  </a:ext>
                </a:extLst>
              </a:tr>
              <a:tr h="8905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Logistic Regression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65642092"/>
                  </a:ext>
                </a:extLst>
              </a:tr>
              <a:tr h="8905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XGBoost</a:t>
                      </a: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</a:t>
                      </a:r>
                      <a:r>
                        <a:rPr lang="en-US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SMOTETomek</a:t>
                      </a: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0.63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0.63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1774940"/>
                  </a:ext>
                </a:extLst>
              </a:tr>
              <a:tr h="8905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Decision Tree (SMT)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82965517"/>
                  </a:ext>
                </a:extLst>
              </a:tr>
              <a:tr h="6680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Random Forest (SMT)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233136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670663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9C6A8-322C-6868-3F2A-F822E9604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2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ROC - AUC for selected models</a:t>
            </a:r>
            <a:endParaRPr lang="en-US" sz="4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00EB29A-4533-5A08-3D4E-B6007E37D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6747C-29EE-4598-BFCE-FD7B92B70DD7}" type="slidenum">
              <a:rPr lang="en-US" smtClean="0"/>
              <a:t>17</a:t>
            </a:fld>
            <a:endParaRPr lang="en-US"/>
          </a:p>
        </p:txBody>
      </p:sp>
      <p:pic>
        <p:nvPicPr>
          <p:cNvPr id="5" name="Picture 4" descr="A graph of a positive curve&#10;&#10;Description automatically generated">
            <a:extLst>
              <a:ext uri="{FF2B5EF4-FFF2-40B4-BE49-F238E27FC236}">
                <a16:creationId xmlns:a16="http://schemas.microsoft.com/office/drawing/2014/main" id="{F0814239-6D6F-DDF2-3123-5515FBDE8C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5899" y="1703628"/>
            <a:ext cx="5508869" cy="4913072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553243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C42C98-9363-E535-A4AC-4A50FDD7D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Prediction on test set using Random Forest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A0FC0D4-875D-C811-849A-FC6A5C7D7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6747C-29EE-4598-BFCE-FD7B92B70DD7}" type="slidenum">
              <a:rPr lang="en-US" smtClean="0"/>
              <a:t>18</a:t>
            </a:fld>
            <a:endParaRPr lang="en-US"/>
          </a:p>
        </p:txBody>
      </p:sp>
      <p:pic>
        <p:nvPicPr>
          <p:cNvPr id="5" name="Picture 4" descr="A graph with red and white lines&#10;&#10;Description automatically generated">
            <a:extLst>
              <a:ext uri="{FF2B5EF4-FFF2-40B4-BE49-F238E27FC236}">
                <a16:creationId xmlns:a16="http://schemas.microsoft.com/office/drawing/2014/main" id="{6985C68E-74E2-CC51-7CEE-4C23295612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023" y="1883064"/>
            <a:ext cx="9105500" cy="4637336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014655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9F4DE031-EE0A-7D2D-2DFC-FA46F09BE8C2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b="1" kern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Findings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0F1D182-E0A8-633C-0A8E-A36EDDC3F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8E36747C-29EE-4598-BFCE-FD7B92B70DD7}" type="slidenum">
              <a:rPr lang="en-US" smtClean="0"/>
              <a:pPr>
                <a:spcAft>
                  <a:spcPts val="600"/>
                </a:spcAft>
              </a:pPr>
              <a:t>19</a:t>
            </a:fld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2A5000F-206E-871C-3282-A2EDB22563B1}"/>
              </a:ext>
            </a:extLst>
          </p:cNvPr>
          <p:cNvSpPr txBox="1">
            <a:spLocks/>
          </p:cNvSpPr>
          <p:nvPr/>
        </p:nvSpPr>
        <p:spPr>
          <a:xfrm>
            <a:off x="838200" y="603665"/>
            <a:ext cx="10515600" cy="87726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6C7DAC0A-6745-C6AF-617B-15292266624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89580216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886902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endParaRPr lang="en-US" b="1" dirty="0">
              <a:latin typeface="Times New Roman" panose="02020603050405020304" pitchFamily="18" charset="0"/>
              <a:ea typeface="Calibri Light"/>
              <a:cs typeface="Times New Roman" panose="02020603050405020304" pitchFamily="18" charset="0"/>
            </a:endParaRPr>
          </a:p>
        </p:txBody>
      </p: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A70EBC82-318E-A113-20DE-6C8B87915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8E36747C-29EE-4598-BFCE-FD7B92B70DD7}" type="slidenum">
              <a:rPr lang="en-US" smtClean="0"/>
              <a:pPr>
                <a:spcAft>
                  <a:spcPts val="600"/>
                </a:spcAft>
              </a:pPr>
              <a:t>20</a:t>
            </a:fld>
            <a:endParaRPr lang="en-US"/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1412A754-9258-874B-9529-A06110A4A8E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79737904"/>
              </p:ext>
            </p:extLst>
          </p:nvPr>
        </p:nvGraphicFramePr>
        <p:xfrm>
          <a:off x="838200" y="1887409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94460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1" kern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Discussion</a:t>
            </a: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6BC1195D-7804-3601-7F84-CDAB65A6A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8E36747C-29EE-4598-BFCE-FD7B92B70DD7}" type="slidenum">
              <a:rPr lang="en-US" smtClean="0"/>
              <a:pPr>
                <a:spcAft>
                  <a:spcPts val="600"/>
                </a:spcAft>
              </a:pPr>
              <a:t>21</a:t>
            </a:fld>
            <a:endParaRPr lang="en-US"/>
          </a:p>
        </p:txBody>
      </p:sp>
      <p:graphicFrame>
        <p:nvGraphicFramePr>
          <p:cNvPr id="142" name="TextBox 139">
            <a:extLst>
              <a:ext uri="{FF2B5EF4-FFF2-40B4-BE49-F238E27FC236}">
                <a16:creationId xmlns:a16="http://schemas.microsoft.com/office/drawing/2014/main" id="{0AE7DD36-399D-FAF5-08C9-D0838EBD431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09953714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847484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6DA62D92-1307-574A-7F56-0B0DC5D0B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8E36747C-29EE-4598-BFCE-FD7B92B70DD7}" type="slidenum">
              <a:rPr lang="en-US" smtClean="0"/>
              <a:pPr>
                <a:spcAft>
                  <a:spcPts val="600"/>
                </a:spcAft>
              </a:pPr>
              <a:t>22</a:t>
            </a:fld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DD870E9-B30F-00AF-6BC6-B3C4A8B45BB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64400657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740566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Wiley-template">
  <a:themeElements>
    <a:clrScheme name="5-00332 CSO Summit 2008">
      <a:dk1>
        <a:srgbClr val="000000"/>
      </a:dk1>
      <a:lt1>
        <a:srgbClr val="FFFFFF"/>
      </a:lt1>
      <a:dk2>
        <a:srgbClr val="050595"/>
      </a:dk2>
      <a:lt2>
        <a:srgbClr val="FFFF99"/>
      </a:lt2>
      <a:accent1>
        <a:srgbClr val="ECDFA7"/>
      </a:accent1>
      <a:accent2>
        <a:srgbClr val="4F6E9B"/>
      </a:accent2>
      <a:accent3>
        <a:srgbClr val="936553"/>
      </a:accent3>
      <a:accent4>
        <a:srgbClr val="88A17B"/>
      </a:accent4>
      <a:accent5>
        <a:srgbClr val="B8977E"/>
      </a:accent5>
      <a:accent6>
        <a:srgbClr val="99B5D3"/>
      </a:accent6>
      <a:hlink>
        <a:srgbClr val="050595"/>
      </a:hlink>
      <a:folHlink>
        <a:srgbClr val="7DDDF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ln>
          <a:headEnd type="none" w="med" len="med"/>
          <a:tailEnd type="none" w="med" len="med"/>
        </a:ln>
      </a:spPr>
      <a:bodyPr vert="horz" wrap="square" lIns="91436" tIns="45718" rIns="91436" bIns="45718" numCol="1" rtlCol="0" anchor="ctr" anchorCtr="0" compatLnSpc="1">
        <a:prstTxWarp prst="textNoShape">
          <a:avLst/>
        </a:prstTxWarp>
      </a:bodyPr>
      <a:lstStyle>
        <a:defPPr algn="ctr" defTabSz="914099" fontAlgn="base">
          <a:spcBef>
            <a:spcPct val="0"/>
          </a:spcBef>
          <a:spcAft>
            <a:spcPct val="0"/>
          </a:spcAft>
          <a:defRPr sz="2400" dirty="0" smtClean="0">
            <a:solidFill>
              <a:srgbClr val="FFFFFF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Segoe" pitchFamily="34" charset="0"/>
          </a:defRPr>
        </a:defPPr>
      </a:lstStyle>
      <a:style>
        <a:lnRef idx="0">
          <a:schemeClr val="accent2"/>
        </a:lnRef>
        <a:fillRef idx="3">
          <a:schemeClr val="accent2"/>
        </a:fillRef>
        <a:effectRef idx="3">
          <a:schemeClr val="accent2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defRPr dirty="0" err="1" smtClean="0">
            <a:solidFill>
              <a:schemeClr val="bg1"/>
            </a:solidFill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B2C078E1EA2524A84CA404E3D461A20" ma:contentTypeVersion="10" ma:contentTypeDescription="Create a new document." ma:contentTypeScope="" ma:versionID="f3c1fb683aaa6d20c235eef27aa05e20">
  <xsd:schema xmlns:xsd="http://www.w3.org/2001/XMLSchema" xmlns:xs="http://www.w3.org/2001/XMLSchema" xmlns:p="http://schemas.microsoft.com/office/2006/metadata/properties" xmlns:ns3="d5187b4a-7e37-42f3-a23b-6c6ad910b16d" targetNamespace="http://schemas.microsoft.com/office/2006/metadata/properties" ma:root="true" ma:fieldsID="2650575738427461918e6e282f0de242" ns3:_="">
    <xsd:import namespace="d5187b4a-7e37-42f3-a23b-6c6ad910b16d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5187b4a-7e37-42f3-a23b-6c6ad910b16d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d5187b4a-7e37-42f3-a23b-6c6ad910b16d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4B258FA-BB0C-4713-9F96-6CFB0C92DE09}">
  <ds:schemaRefs>
    <ds:schemaRef ds:uri="d5187b4a-7e37-42f3-a23b-6c6ad910b16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95D4F993-6051-49D0-A923-B7D5251D88AA}">
  <ds:schemaRefs>
    <ds:schemaRef ds:uri="d5187b4a-7e37-42f3-a23b-6c6ad910b16d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90B06D24-FB38-4300-AE19-AB6F61D74CB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</TotalTime>
  <Words>903</Words>
  <Application>Microsoft Macintosh PowerPoint</Application>
  <PresentationFormat>Widescreen</PresentationFormat>
  <Paragraphs>199</Paragraphs>
  <Slides>22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22</vt:i4>
      </vt:variant>
    </vt:vector>
  </HeadingPairs>
  <TitlesOfParts>
    <vt:vector size="31" baseType="lpstr">
      <vt:lpstr>Arial</vt:lpstr>
      <vt:lpstr>Calibri</vt:lpstr>
      <vt:lpstr>Calibri Light</vt:lpstr>
      <vt:lpstr>Century</vt:lpstr>
      <vt:lpstr>Open Sans</vt:lpstr>
      <vt:lpstr>Times New Roman</vt:lpstr>
      <vt:lpstr>Wingdings</vt:lpstr>
      <vt:lpstr>Office Theme</vt:lpstr>
      <vt:lpstr>Wiley-template</vt:lpstr>
      <vt:lpstr>Market Regime Detection using Supervised  Professor: Yue Gao  Date: 12/01/2025  Pragathi Somashekaraiah Mohammad Faishal Khan Narayan Rijal Devashree Dhole  </vt:lpstr>
      <vt:lpstr>Introduction</vt:lpstr>
      <vt:lpstr>Market Regime Detection</vt:lpstr>
      <vt:lpstr>Problem Statement</vt:lpstr>
      <vt:lpstr>Data Description</vt:lpstr>
      <vt:lpstr>Descriptive Statistics</vt:lpstr>
      <vt:lpstr>Histogram</vt:lpstr>
      <vt:lpstr>Heatmap Correlation</vt:lpstr>
      <vt:lpstr>Methods</vt:lpstr>
      <vt:lpstr>Logistic Regression with SMOTE-Tomek </vt:lpstr>
      <vt:lpstr>Lasso Logistic Regression with SMOTE-Tomek </vt:lpstr>
      <vt:lpstr>Decision Tree Model with SMOTE-Tomek</vt:lpstr>
      <vt:lpstr>Decision Tree with SMOTE-Tomek</vt:lpstr>
      <vt:lpstr>Random Forest Model with SMOTE-Tomek</vt:lpstr>
      <vt:lpstr>XGBoost with SMOTE-Tomek</vt:lpstr>
      <vt:lpstr>Model Performance Summary Table</vt:lpstr>
      <vt:lpstr>ROC - AUC for selected models</vt:lpstr>
      <vt:lpstr>Prediction on test set using Random Forest</vt:lpstr>
      <vt:lpstr>PowerPoint Presentation</vt:lpstr>
      <vt:lpstr>Results</vt:lpstr>
      <vt:lpstr>Discussion</vt:lpstr>
      <vt:lpstr>Conclusion</vt:lpstr>
    </vt:vector>
  </TitlesOfParts>
  <Company>Clark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Big Data Stat I</dc:title>
  <dc:creator>Yue Gao</dc:creator>
  <cp:lastModifiedBy>Panakanahalli Somashekaraiah, Pragathi</cp:lastModifiedBy>
  <cp:revision>37</cp:revision>
  <dcterms:created xsi:type="dcterms:W3CDTF">2017-08-29T05:29:12Z</dcterms:created>
  <dcterms:modified xsi:type="dcterms:W3CDTF">2025-12-02T16:45:26Z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0x010100FB2C078E1EA2524A84CA404E3D461A20</vt:lpwstr>
  </property>
</Properties>
</file>